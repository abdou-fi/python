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5" r:id="rId2"/>
    <p:sldMasterId id="2147483692" r:id="rId3"/>
  </p:sldMasterIdLst>
  <p:notesMasterIdLst>
    <p:notesMasterId r:id="rId65"/>
  </p:notesMasterIdLst>
  <p:sldIdLst>
    <p:sldId id="304" r:id="rId4"/>
    <p:sldId id="319" r:id="rId5"/>
    <p:sldId id="367" r:id="rId6"/>
    <p:sldId id="302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51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69" r:id="rId26"/>
    <p:sldId id="368" r:id="rId27"/>
    <p:sldId id="366" r:id="rId28"/>
    <p:sldId id="333" r:id="rId29"/>
    <p:sldId id="257" r:id="rId30"/>
    <p:sldId id="305" r:id="rId31"/>
    <p:sldId id="310" r:id="rId32"/>
    <p:sldId id="313" r:id="rId33"/>
    <p:sldId id="311" r:id="rId34"/>
    <p:sldId id="306" r:id="rId35"/>
    <p:sldId id="312" r:id="rId36"/>
    <p:sldId id="316" r:id="rId37"/>
    <p:sldId id="314" r:id="rId38"/>
    <p:sldId id="317" r:id="rId39"/>
    <p:sldId id="315" r:id="rId40"/>
    <p:sldId id="321" r:id="rId41"/>
    <p:sldId id="322" r:id="rId42"/>
    <p:sldId id="323" r:id="rId43"/>
    <p:sldId id="268" r:id="rId44"/>
    <p:sldId id="318" r:id="rId45"/>
    <p:sldId id="358" r:id="rId46"/>
    <p:sldId id="359" r:id="rId47"/>
    <p:sldId id="360" r:id="rId48"/>
    <p:sldId id="362" r:id="rId49"/>
    <p:sldId id="361" r:id="rId50"/>
    <p:sldId id="363" r:id="rId51"/>
    <p:sldId id="364" r:id="rId52"/>
    <p:sldId id="325" r:id="rId53"/>
    <p:sldId id="326" r:id="rId54"/>
    <p:sldId id="327" r:id="rId55"/>
    <p:sldId id="328" r:id="rId56"/>
    <p:sldId id="329" r:id="rId57"/>
    <p:sldId id="330" r:id="rId58"/>
    <p:sldId id="352" r:id="rId59"/>
    <p:sldId id="354" r:id="rId60"/>
    <p:sldId id="355" r:id="rId61"/>
    <p:sldId id="356" r:id="rId62"/>
    <p:sldId id="357" r:id="rId63"/>
    <p:sldId id="353" r:id="rId64"/>
  </p:sldIdLst>
  <p:sldSz cx="9144000" cy="5143500" type="screen16x9"/>
  <p:notesSz cx="6858000" cy="9144000"/>
  <p:embeddedFontLst>
    <p:embeddedFont>
      <p:font typeface="Amiri" panose="00000500000000000000" pitchFamily="2" charset="-78"/>
      <p:regular r:id="rId66"/>
      <p:bold r:id="rId67"/>
      <p:italic r:id="rId68"/>
      <p:boldItalic r:id="rId69"/>
    </p:embeddedFont>
    <p:embeddedFont>
      <p:font typeface="Century Schoolbook" panose="02040604050505020304" pitchFamily="18" charset="0"/>
      <p:regular r:id="rId70"/>
      <p:bold r:id="rId71"/>
      <p:italic r:id="rId72"/>
      <p:boldItalic r:id="rId73"/>
    </p:embeddedFont>
    <p:embeddedFont>
      <p:font typeface="Consolas" panose="020B0609020204030204" pitchFamily="49" charset="0"/>
      <p:regular r:id="rId74"/>
      <p:bold r:id="rId75"/>
      <p:italic r:id="rId76"/>
      <p:boldItalic r:id="rId77"/>
    </p:embeddedFont>
    <p:embeddedFont>
      <p:font typeface="Corbel" panose="020B0503020204020204" pitchFamily="34" charset="0"/>
      <p:regular r:id="rId78"/>
      <p:bold r:id="rId79"/>
      <p:italic r:id="rId80"/>
      <p:boldItalic r:id="rId81"/>
    </p:embeddedFont>
    <p:embeddedFont>
      <p:font typeface="Fira Code" panose="020B0809050000020004" pitchFamily="49" charset="0"/>
      <p:regular r:id="rId82"/>
      <p:bold r:id="rId83"/>
    </p:embeddedFont>
    <p:embeddedFont>
      <p:font typeface="Montserrat" panose="00000500000000000000" pitchFamily="2" charset="0"/>
      <p:regular r:id="rId84"/>
      <p:bold r:id="rId85"/>
      <p:italic r:id="rId86"/>
      <p:boldItalic r:id="rId87"/>
    </p:embeddedFont>
    <p:embeddedFont>
      <p:font typeface="Open Sauce Light" panose="020B0604020202020204" charset="0"/>
      <p:regular r:id="rId88"/>
    </p:embeddedFont>
    <p:embeddedFont>
      <p:font typeface="Verdana" panose="020B0604030504040204" pitchFamily="34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D8BD58-9CB3-4A9F-AF80-38FE7DF55D26}">
  <a:tblStyle styleId="{49D8BD58-9CB3-4A9F-AF80-38FE7DF55D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6" autoAdjust="0"/>
    <p:restoredTop sz="84932" autoAdjust="0"/>
  </p:normalViewPr>
  <p:slideViewPr>
    <p:cSldViewPr snapToGrid="0">
      <p:cViewPr varScale="1">
        <p:scale>
          <a:sx n="169" d="100"/>
          <a:sy n="169" d="100"/>
        </p:scale>
        <p:origin x="13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font" Target="fonts/font3.fntdata"/><Relationship Id="rId76" Type="http://schemas.openxmlformats.org/officeDocument/2006/relationships/font" Target="fonts/font11.fntdata"/><Relationship Id="rId84" Type="http://schemas.openxmlformats.org/officeDocument/2006/relationships/font" Target="fonts/font19.fntdata"/><Relationship Id="rId89" Type="http://schemas.openxmlformats.org/officeDocument/2006/relationships/font" Target="fonts/font24.fntdata"/><Relationship Id="rId7" Type="http://schemas.openxmlformats.org/officeDocument/2006/relationships/slide" Target="slides/slide4.xml"/><Relationship Id="rId71" Type="http://schemas.openxmlformats.org/officeDocument/2006/relationships/font" Target="fonts/font6.fntdata"/><Relationship Id="rId92" Type="http://schemas.openxmlformats.org/officeDocument/2006/relationships/font" Target="fonts/font2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font" Target="fonts/font1.fntdata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87" Type="http://schemas.openxmlformats.org/officeDocument/2006/relationships/font" Target="fonts/font22.fntdata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font" Target="fonts/font17.fntdata"/><Relationship Id="rId90" Type="http://schemas.openxmlformats.org/officeDocument/2006/relationships/font" Target="fonts/font25.fntdata"/><Relationship Id="rId95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font" Target="fonts/font20.fntdata"/><Relationship Id="rId9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font" Target="fonts/font18.fntdata"/><Relationship Id="rId88" Type="http://schemas.openxmlformats.org/officeDocument/2006/relationships/font" Target="fonts/font23.fntdata"/><Relationship Id="rId91" Type="http://schemas.openxmlformats.org/officeDocument/2006/relationships/font" Target="fonts/font26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font" Target="fonts/font21.fntdata"/><Relationship Id="rId9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E8990-6423-8BCC-CD07-4B23078D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1FBA3-C746-9C45-7CB7-D29125DB0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B0539-1DC7-5B27-A240-87D99AC3E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CCDF-88F8-4206-CFB0-099A6D9E9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342CB9-5B0E-46E9-98B8-C728C6EBDB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684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78AB79E9-213F-B428-1C0F-96242DAB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65F0BBE6-5A40-44F2-C5C2-49F33BA30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963FCB51-55A9-6D6F-41FC-F2048A43E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62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1E37D1BD-3C98-226A-14C5-5D25269D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7EA0F31C-FE84-CBAE-EF42-816FD9581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389D0C2B-BA34-E8E6-9693-1A9C1ACE4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029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4914E6A1-5FB7-0312-3DFB-34533F19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BACBA20-597A-94E9-2B29-7735C076D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506D8728-2560-20CD-7C14-887D26AF5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231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ED19ACBE-86B5-29F3-9E21-CA018213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C31B9D60-ED0B-8D71-38E6-E96AC245F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A3942AFD-DB26-99CD-F7A5-D228EA566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07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2FC29DA7-B695-5AE4-C3D2-B79D900A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BC49BF4F-FB6F-7377-AC16-44957EF66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133DF1C6-C207-DE41-D33C-815D72DA3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922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75707EDD-9CA0-0B1C-6165-BA2CB5F8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73D88CAD-047E-B369-4E19-AAE271D8E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EED3B759-8245-FCAB-0183-E8AE0AD02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3281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C70A1DBE-1EC4-6856-7E76-385A8A71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97495DCE-23BE-6B85-A90D-70A3ECC58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E14121F2-72ED-6755-2332-F0BA8E732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9519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1C2BEF73-872B-5A4B-CCB7-62B64177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67195A8-1E8F-0009-7F6A-EEA32B339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C1A50D1B-C716-7077-260E-6E06A5383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770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38272CC-3B30-A147-83B7-66102051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CA69083F-DD8C-0FBE-8100-50F72FB93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FB080DD5-8EFF-6EAC-33D8-4FFBB1C89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6671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EFD7714B-D58F-382B-9AC9-4A22EFFC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268085D0-5C0A-4846-1DA4-3B3556CFD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869BC3F2-3C47-DC44-2DCE-0E7171D7B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8369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04FFA421-94BD-2D10-3DB7-B38036D3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328D6586-163D-726E-4133-F5E3B4CDB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6FAAAAE6-4A33-0DB3-D555-B474FE3EE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5243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D20551E-5078-CBB0-5505-30F495C9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275FFD30-4008-C833-950D-33B3F8084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81C94286-B765-D20C-7AAC-B68099344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312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D222BA89-EB58-CE1D-537B-3D8E1EBD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D1389A98-D5CB-CCC2-5267-B1AA2E3E7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F728387D-13E7-5354-868C-F32FD1A2D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96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283E8709-F63F-21F6-5DA2-0664C436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57957017-0A70-EAB7-9374-1B6401B2E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26A04020-D423-C5E0-AB33-61ADD4124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7081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37B0C46E-CDEC-EF60-8E9F-EA0DB187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FFAAE55F-ACE2-E5FD-4964-55C1BF2560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82125BE4-00D8-959D-7280-E751BEA26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9307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72D58E2-BBD7-328A-536C-16BE3E4D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6086D7E8-589F-74D0-81B2-FE41FFE15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A666AC38-018E-A556-5500-077C1F3D6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458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877B135E-C45D-85B6-D6C5-26E9903C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F3138606-8030-5522-ABB1-573BFC1A8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2963BF57-0469-E18C-541C-3476DA2D4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7216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B8CA5AE-B42A-2F27-2FF0-D0733517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6A55867-A738-A6D1-7BAE-39770DAA3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6DCB0DBC-2040-33D8-5BFE-B7668050C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8308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A532165A-690C-75AD-BC82-91535362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FC2487C-5ED4-1A63-DAEA-821256483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FB19AD05-6878-2B0D-9478-EA010C65E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570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0438D510-1523-B8BF-7607-16011919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64C5B773-AEFB-0F53-38F8-9ED439040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071952CE-5EA6-9F2B-6C2E-CE1248381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2579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89D1BF2B-61DD-7D3C-60AE-7D18C878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D46DC7D1-DC9C-35AF-7F43-4ED040162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D8B9C104-41B6-B051-21F2-B426F86E5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842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F9F9184D-75FA-673F-44B9-8281B8AD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33C08D57-79EB-4732-A6AB-06EC36A23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081322FB-D080-2408-8810-EF4F89D9F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9134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2F55F133-224C-1276-B65B-83097063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1DB46553-CF4A-B474-F0A0-EBC0A9115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DA45D17D-10F6-0A34-2DA1-1B38279AB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0833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FC9A1A35-6B16-3B79-4223-2B2245F5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9918E9CE-CBB1-C82E-2880-F35621D4C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2A3C434D-9E5B-6A37-E58C-98D815FDB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3096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2F68C6E5-928C-E287-E27C-E950725E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44BCD6BC-4B8E-0428-7D81-8BCEE8211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23F09AE6-8125-C909-CBDF-7B47FC28F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8918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FAD4720F-936D-6F35-F49F-0CFBEB4A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2E4D0048-A2DF-B882-A599-BBC7DB9DE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6D297F79-A3B0-F3DA-1BFC-6455F500B6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845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CDF92593-0D6F-582D-3ED5-0232B1CF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E70B45EE-BB1D-9A19-0D71-196BA3795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6AF8581B-9951-B461-C3F5-24001BE25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010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E2AE62B1-4369-7469-5590-C6F8CAAA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F7B49256-2074-756D-921E-A21B01864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3470F9AF-E3F1-0321-B69E-C72731007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56188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CFD1626-29FE-7B8D-4C75-A342F3E1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65C919B0-1536-79BB-2546-95792E648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B826B2FF-4858-D499-6266-C9E32EBC6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2567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7E5F89E0-67E8-E142-D7E6-17C0BC25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5B2832A3-BF09-7D8F-F0D7-EF78FD590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D93FF352-C743-FF8C-EB1C-094F6860A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2660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EC0BA8F-F090-074D-D21C-22357F01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2180509B-78E1-C42E-08B4-5BF6D319B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AC826CEC-C1E9-F585-2FF8-B60A3CA44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3253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DF4D8B7C-C0A7-0B98-129A-0A913AC6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2F905A2-DD87-1730-5CA9-E6E776A50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089B8F7E-1390-DDBC-417A-CA2955C2AB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96245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CAEE19B7-2376-827F-BB9E-5B4DBB31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3F93D96C-4BFB-E980-5D67-07690A69F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D33AF7C5-EA4A-884E-B498-99B22F75E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6196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324BED83-7643-2969-B506-D5C3F306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E7B7A8D0-47BE-0EB5-AEB9-544F7FC82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2A5BE8CB-C599-620B-75F0-7923A2690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29982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E6D84962-B5D6-E873-EC6C-1E266D05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346DF4EB-62F8-1EC1-E190-993C0E85A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1165AFC3-F2D7-E533-24BE-0EA9DEA71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8305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E699E3F9-1A92-7F1E-8CF2-0514FC4C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7ED53D67-88F6-2C3B-4B85-9D070F5FE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8D3460CD-9BCF-CA58-3D0E-E5FB43BBC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01218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EE0A4488-A924-AD1C-1C42-8FA400B1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51B5FE69-A65C-6C29-DF68-6411FC4FB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F81ABF12-ED98-2342-6F39-DF5C38308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993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DE467255-01D2-CC5C-CAB6-BDF68D4F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F2E3CD93-830D-18E1-609F-847421E14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B287DE2E-4727-F23A-C715-DA68950E7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8662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29F0-D9D3-F0C1-289C-4D62C30F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54B05-3132-2F6B-FDB1-A804A95B8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4E6F7-22BB-CE70-6637-31D54C39A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1743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ADFAFB22-4A80-7528-9D7A-551FC3A9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88BF491F-5D72-FCB5-6CB8-0A7F4AC81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63385BFF-CD31-B68E-3B13-7DE641DB9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65167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9D54AB64-F825-2D59-7802-9DE911C4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C34D047-7E7A-62DB-AFBD-B6BC5A296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F11060A7-A115-D0C2-41A7-B1CF089EB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885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20D6813-51FF-834F-581D-95FC158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5FFBECDC-1E69-199D-F061-4FFF1BE06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4E6B4D2A-C0A9-7257-A39A-AF9B14250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81177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97568670-95DB-6BD3-2BC0-70FE6C98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DB9EB9A4-E8ED-5BFA-5540-E54BA52EF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9FB731B8-2A19-3400-30A5-A94978C57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05945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8DA9A747-F2FC-25B2-08C6-9DBF7986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AFEE5076-F05A-F68A-FD7C-6DE3664F4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78EF7A35-6724-8B4F-456C-9488F4823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5004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E3BA1B3-36A7-C239-2AD6-21A674BE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288463F5-9A15-4CA5-1842-09C48EA10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8E77E5D4-1008-12E4-B12A-8FBAA5DBC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92982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455D3762-3328-9435-A2E5-43E87440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94DE47AB-905E-A5DF-CAC4-010EEE76E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91381078-3BF7-690A-E7D2-41AE91AAA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86371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557B14C2-69DF-3E59-3D89-F873A5CA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552A1801-989E-6762-D498-629D0BF0D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0EFBB5DD-584A-2E9C-2F89-E2480A3DB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60291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039C36B-729A-FD89-AE2B-2FC4E829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6AC949D-BF15-4A0B-8C3D-7E627506D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88181C49-044E-D216-8562-46BD511E5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35859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28BF06BB-55A9-A096-1D46-73EBB84D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5A795946-D9EA-E109-27B6-AE210C0F3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10E9F58F-A401-5DA1-0152-5F3FD246A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76214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DDD80CF8-F7F9-687D-EF5D-9B5AEB6F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9C5B8D2-E544-4585-4BD9-0B91104F8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6B21F162-E555-E64D-FBD0-BA7F551DF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88372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20B40B1-FBC4-DB17-A8EE-CDD23D92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08C840B1-856A-04AB-9260-E7BB12356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8D1113FA-8CAA-5B24-3547-A6DA09C8C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90972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D5BED0E6-207B-4961-4B28-E81A478F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16906A3B-5B8D-B775-204D-652BEBD99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76BC6C50-32A2-5013-BF56-E3CEE7FBC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7827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avec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6" title="Forme numéro de page"/>
          <p:cNvSpPr/>
          <p:nvPr/>
        </p:nvSpPr>
        <p:spPr bwMode="auto">
          <a:xfrm>
            <a:off x="8838008" y="-1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310743" y="948148"/>
            <a:ext cx="4252865" cy="3201724"/>
          </a:xfrm>
        </p:spPr>
        <p:txBody>
          <a:bodyPr rtlCol="0" anchor="ctr">
            <a:normAutofit/>
          </a:bodyPr>
          <a:lstStyle>
            <a:lvl1pPr algn="l">
              <a:lnSpc>
                <a:spcPct val="85000"/>
              </a:lnSpc>
              <a:defRPr sz="4500" cap="none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00749" y="3113314"/>
            <a:ext cx="3475355" cy="1193386"/>
          </a:xfrm>
        </p:spPr>
        <p:txBody>
          <a:bodyPr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25" b="0" i="1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/>
          </a:p>
        </p:txBody>
      </p:sp>
      <p:cxnSp>
        <p:nvCxnSpPr>
          <p:cNvPr id="9" name="Connecteur droit 8" title="Ligne pleine verticale"/>
          <p:cNvCxnSpPr>
            <a:cxnSpLocks/>
          </p:cNvCxnSpPr>
          <p:nvPr userDrawn="1"/>
        </p:nvCxnSpPr>
        <p:spPr>
          <a:xfrm>
            <a:off x="4143422" y="836800"/>
            <a:ext cx="0" cy="3469901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57712" y="1025626"/>
            <a:ext cx="1798346" cy="1798346"/>
          </a:xfrm>
          <a:prstGeom prst="ellipse">
            <a:avLst/>
          </a:prstGeom>
          <a:solidFill>
            <a:schemeClr val="bg1"/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fr-FR" noProof="0"/>
              <a:t>Insérez une photo de portrait</a:t>
            </a:r>
          </a:p>
        </p:txBody>
      </p:sp>
    </p:spTree>
    <p:extLst>
      <p:ext uri="{BB962C8B-B14F-4D97-AF65-F5344CB8AC3E}">
        <p14:creationId xmlns:p14="http://schemas.microsoft.com/office/powerpoint/2010/main" val="2269688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2565D1-06D8-4141-9B5F-95C29313C16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10" name="Espace réservé du texte 19">
            <a:extLst>
              <a:ext uri="{FF2B5EF4-FFF2-40B4-BE49-F238E27FC236}">
                <a16:creationId xmlns:a16="http://schemas.microsoft.com/office/drawing/2014/main" id="{04FBD4F5-432F-4C2D-A734-6CC48615F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67883D-1ABB-455F-BBFA-E21CC340E543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837580B-9009-4524-B820-7ACB27BC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cxnSp>
        <p:nvCxnSpPr>
          <p:cNvPr id="12" name="Connecteur droit 11" title="Ligne pleine horizontale">
            <a:extLst>
              <a:ext uri="{FF2B5EF4-FFF2-40B4-BE49-F238E27FC236}">
                <a16:creationId xmlns:a16="http://schemas.microsoft.com/office/drawing/2014/main" id="{54F1A406-73A8-450C-B21C-AA9616F476C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86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/ Puces d’icônes légè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3E5573-26F3-4B94-B267-776D6D7795C6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71913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686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460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3" name="Espace réservé du texte 6">
            <a:extLst>
              <a:ext uri="{FF2B5EF4-FFF2-40B4-BE49-F238E27FC236}">
                <a16:creationId xmlns:a16="http://schemas.microsoft.com/office/drawing/2014/main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913" y="2571750"/>
            <a:ext cx="1458000" cy="2025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4" name="Espace réservé du texte 15">
            <a:extLst>
              <a:ext uri="{FF2B5EF4-FFF2-40B4-BE49-F238E27FC236}">
                <a16:creationId xmlns:a16="http://schemas.microsoft.com/office/drawing/2014/main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71517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1122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6" name="Espace réservé d’image 22">
            <a:extLst>
              <a:ext uri="{FF2B5EF4-FFF2-40B4-BE49-F238E27FC236}">
                <a16:creationId xmlns:a16="http://schemas.microsoft.com/office/drawing/2014/main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36413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7" name="Espace réservé d’image 24">
            <a:extLst>
              <a:ext uri="{FF2B5EF4-FFF2-40B4-BE49-F238E27FC236}">
                <a16:creationId xmlns:a16="http://schemas.microsoft.com/office/drawing/2014/main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36186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8" name="Espace réservé d’image 26">
            <a:extLst>
              <a:ext uri="{FF2B5EF4-FFF2-40B4-BE49-F238E27FC236}">
                <a16:creationId xmlns:a16="http://schemas.microsoft.com/office/drawing/2014/main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35960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9" name="Espace réservé d’image 30">
            <a:extLst>
              <a:ext uri="{FF2B5EF4-FFF2-40B4-BE49-F238E27FC236}">
                <a16:creationId xmlns:a16="http://schemas.microsoft.com/office/drawing/2014/main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6413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0" name="Espace réservé d’image 32">
            <a:extLst>
              <a:ext uri="{FF2B5EF4-FFF2-40B4-BE49-F238E27FC236}">
                <a16:creationId xmlns:a16="http://schemas.microsoft.com/office/drawing/2014/main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836186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1" name="Espace réservé d’image 34">
            <a:extLst>
              <a:ext uri="{FF2B5EF4-FFF2-40B4-BE49-F238E27FC236}">
                <a16:creationId xmlns:a16="http://schemas.microsoft.com/office/drawing/2014/main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435960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</p:spTree>
    <p:extLst>
      <p:ext uri="{BB962C8B-B14F-4D97-AF65-F5344CB8AC3E}">
        <p14:creationId xmlns:p14="http://schemas.microsoft.com/office/powerpoint/2010/main" val="1482325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ces numérotées dans une lig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71913" y="1514475"/>
            <a:ext cx="1458000" cy="2025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 rtl="0"/>
            <a:r>
              <a:rPr lang="fr-FR" noProof="0"/>
              <a:t>Description de l’événement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7FBCE-F70D-478C-B29F-BA05F87A4C5A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855" y="1514475"/>
            <a:ext cx="1457325" cy="2025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 rtl="0"/>
            <a:r>
              <a:rPr lang="fr-FR" noProof="0"/>
              <a:t>Description de l’événement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122" y="1514475"/>
            <a:ext cx="1457325" cy="2025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 rtl="0"/>
            <a:r>
              <a:rPr lang="fr-FR" noProof="0"/>
              <a:t>Description de l’événement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0413" y="1743075"/>
            <a:ext cx="621000" cy="621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0017" y="1743075"/>
            <a:ext cx="621000" cy="621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2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89285" y="1743075"/>
            <a:ext cx="621000" cy="621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3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582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9981E6E-14D8-452A-9608-EB5DA1A62280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59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Image/ Puces d’icôn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e libre 6" title="Forme numéro de page">
            <a:extLst>
              <a:ext uri="{FF2B5EF4-FFF2-40B4-BE49-F238E27FC236}">
                <a16:creationId xmlns:a16="http://schemas.microsoft.com/office/drawing/2014/main" id="{4C028BF1-8F7F-4E8E-9D47-05D46323E336}"/>
              </a:ext>
            </a:extLst>
          </p:cNvPr>
          <p:cNvSpPr/>
          <p:nvPr userDrawn="1"/>
        </p:nvSpPr>
        <p:spPr bwMode="auto">
          <a:xfrm>
            <a:off x="8838008" y="4035435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31C8993-E55D-45D0-97FB-CA7331114627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71913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686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460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913" y="2571750"/>
            <a:ext cx="1458000" cy="2025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71517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1122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3" name="Espace réservé d’image 22">
            <a:extLst>
              <a:ext uri="{FF2B5EF4-FFF2-40B4-BE49-F238E27FC236}">
                <a16:creationId xmlns:a16="http://schemas.microsoft.com/office/drawing/2014/main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36413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36186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7" name="Espace réservé d’image 26">
            <a:extLst>
              <a:ext uri="{FF2B5EF4-FFF2-40B4-BE49-F238E27FC236}">
                <a16:creationId xmlns:a16="http://schemas.microsoft.com/office/drawing/2014/main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35960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6413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836186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5" name="Espace réservé d’image 34">
            <a:extLst>
              <a:ext uri="{FF2B5EF4-FFF2-40B4-BE49-F238E27FC236}">
                <a16:creationId xmlns:a16="http://schemas.microsoft.com/office/drawing/2014/main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435960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</p:spTree>
    <p:extLst>
      <p:ext uri="{BB962C8B-B14F-4D97-AF65-F5344CB8AC3E}">
        <p14:creationId xmlns:p14="http://schemas.microsoft.com/office/powerpoint/2010/main" val="323162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hotos moyennes avec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71500" y="2123949"/>
            <a:ext cx="2875430" cy="1171979"/>
          </a:xfrm>
        </p:spPr>
        <p:txBody>
          <a:bodyPr rtlCol="0" anchor="b"/>
          <a:lstStyle>
            <a:lvl1pPr>
              <a:defRPr/>
            </a:lvl1pPr>
          </a:lstStyle>
          <a:p>
            <a:pPr rtl="0"/>
            <a:r>
              <a:rPr lang="fr-FR" noProof="0"/>
              <a:t>Cliquez pour modifier votre 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B8029B-3C47-4C5E-9E98-A54F035A03E6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3429838"/>
            <a:ext cx="2881913" cy="883797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’image 10">
            <a:extLst>
              <a:ext uri="{FF2B5EF4-FFF2-40B4-BE49-F238E27FC236}">
                <a16:creationId xmlns:a16="http://schemas.microsoft.com/office/drawing/2014/main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18552" y="362143"/>
            <a:ext cx="1634861" cy="1634861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fr-FR" noProof="0"/>
              <a:t>Insérez une photo de portrait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71913" y="419759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686" y="419759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460" y="419759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1913" y="2571750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/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5" name="Espace réservé du texte 15">
            <a:extLst>
              <a:ext uri="{FF2B5EF4-FFF2-40B4-BE49-F238E27FC236}">
                <a16:creationId xmlns:a16="http://schemas.microsoft.com/office/drawing/2014/main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71517" y="2571750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6" name="Espace réservé du texte 18">
            <a:extLst>
              <a:ext uri="{FF2B5EF4-FFF2-40B4-BE49-F238E27FC236}">
                <a16:creationId xmlns:a16="http://schemas.microsoft.com/office/drawing/2014/main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1122" y="2571750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7" name="Espace réservé d’image 22">
            <a:extLst>
              <a:ext uri="{FF2B5EF4-FFF2-40B4-BE49-F238E27FC236}">
                <a16:creationId xmlns:a16="http://schemas.microsoft.com/office/drawing/2014/main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25913" y="485541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8" name="Espace réservé d’image 24">
            <a:extLst>
              <a:ext uri="{FF2B5EF4-FFF2-40B4-BE49-F238E27FC236}">
                <a16:creationId xmlns:a16="http://schemas.microsoft.com/office/drawing/2014/main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525686" y="485541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9" name="Espace réservé d’image 26">
            <a:extLst>
              <a:ext uri="{FF2B5EF4-FFF2-40B4-BE49-F238E27FC236}">
                <a16:creationId xmlns:a16="http://schemas.microsoft.com/office/drawing/2014/main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25460" y="485541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0" name="Espace réservé d’image 30">
            <a:extLst>
              <a:ext uri="{FF2B5EF4-FFF2-40B4-BE49-F238E27FC236}">
                <a16:creationId xmlns:a16="http://schemas.microsoft.com/office/drawing/2014/main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925913" y="2637533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1" name="Espace réservé d’image 32">
            <a:extLst>
              <a:ext uri="{FF2B5EF4-FFF2-40B4-BE49-F238E27FC236}">
                <a16:creationId xmlns:a16="http://schemas.microsoft.com/office/drawing/2014/main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25686" y="2637533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2" name="Espace réservé d’image 34">
            <a:extLst>
              <a:ext uri="{FF2B5EF4-FFF2-40B4-BE49-F238E27FC236}">
                <a16:creationId xmlns:a16="http://schemas.microsoft.com/office/drawing/2014/main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125122" y="2637533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</p:spTree>
    <p:extLst>
      <p:ext uri="{BB962C8B-B14F-4D97-AF65-F5344CB8AC3E}">
        <p14:creationId xmlns:p14="http://schemas.microsoft.com/office/powerpoint/2010/main" val="1229295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6" title="Forme numéro de page"/>
          <p:cNvSpPr/>
          <p:nvPr/>
        </p:nvSpPr>
        <p:spPr bwMode="auto">
          <a:xfrm>
            <a:off x="8838008" y="-1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310743" y="948148"/>
            <a:ext cx="4252865" cy="3201724"/>
          </a:xfrm>
        </p:spPr>
        <p:txBody>
          <a:bodyPr rtlCol="0" anchor="ctr">
            <a:normAutofit/>
          </a:bodyPr>
          <a:lstStyle>
            <a:lvl1pPr algn="l">
              <a:lnSpc>
                <a:spcPct val="85000"/>
              </a:lnSpc>
              <a:defRPr sz="4500" cap="none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00749" y="3113314"/>
            <a:ext cx="3475355" cy="1193386"/>
          </a:xfrm>
        </p:spPr>
        <p:txBody>
          <a:bodyPr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25" b="0" i="1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00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 title="Forme numéro de page"/>
          <p:cNvSpPr/>
          <p:nvPr/>
        </p:nvSpPr>
        <p:spPr bwMode="auto">
          <a:xfrm>
            <a:off x="8838008" y="1045311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60755" y="1928792"/>
            <a:ext cx="6222491" cy="2464615"/>
          </a:xfrm>
        </p:spPr>
        <p:txBody>
          <a:bodyPr rtlCol="0" anchor="t">
            <a:normAutofit/>
          </a:bodyPr>
          <a:lstStyle>
            <a:lvl1pPr>
              <a:lnSpc>
                <a:spcPct val="85000"/>
              </a:lnSpc>
              <a:defRPr sz="5775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60755" y="1045311"/>
            <a:ext cx="6301072" cy="614363"/>
          </a:xfrm>
        </p:spPr>
        <p:txBody>
          <a:bodyPr rtlCol="0"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15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7216" y="4735830"/>
            <a:ext cx="1197467" cy="273844"/>
          </a:xfrm>
        </p:spPr>
        <p:txBody>
          <a:bodyPr rtlCol="0"/>
          <a:lstStyle>
            <a:lvl1pPr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BC666D6-9390-462B-A3EB-8A8F7595253A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460755" y="4735830"/>
            <a:ext cx="4860170" cy="273844"/>
          </a:xfrm>
        </p:spPr>
        <p:txBody>
          <a:bodyPr rtlCol="0"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838008" y="1215570"/>
            <a:ext cx="305991" cy="273844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cxnSp>
        <p:nvCxnSpPr>
          <p:cNvPr id="10" name="Connecteur droit 9" title="Ligne pleine horizontale"/>
          <p:cNvCxnSpPr/>
          <p:nvPr/>
        </p:nvCxnSpPr>
        <p:spPr>
          <a:xfrm flipH="1">
            <a:off x="1" y="4633625"/>
            <a:ext cx="7683245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33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EC8F00B-64F5-41A4-9F32-C6846037C9F4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BC751F3-ABD6-4995-8494-4932D12ACE1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994548" y="419759"/>
            <a:ext cx="4577953" cy="389387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61222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EDD785F-A000-4EA6-A505-B0892444CBA0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1466EC8C-C8BE-4149-A684-18CFF4574C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73116" y="419759"/>
            <a:ext cx="4599384" cy="3893876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92480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3956192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9F4BCC2F-B73D-454C-BEE7-ED2D4E7CF6F3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4889D34E-DF9E-41B7-A5EC-B9D63999B3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86200" y="419759"/>
            <a:ext cx="4629150" cy="421296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33792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3886200" y="405471"/>
            <a:ext cx="4686300" cy="186671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886200" y="2784350"/>
            <a:ext cx="4686300" cy="186167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7CC64C-D37D-42AF-B455-375C1B3A1765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5349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8338"/>
            <a:ext cx="2873502" cy="3717036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3886200" y="418549"/>
            <a:ext cx="4684014" cy="685800"/>
          </a:xfrm>
        </p:spPr>
        <p:txBody>
          <a:bodyPr rtlCol="0"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18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886200" y="1145003"/>
            <a:ext cx="4684014" cy="131673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6200" y="2775620"/>
            <a:ext cx="4686300" cy="68580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3886200" y="3502074"/>
            <a:ext cx="4684014" cy="131673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061FC8-FDB6-4ADE-89D4-B17BA7861512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66446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026785-CC37-4AA4-A459-78687F036BAC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90370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128580-F69D-4A18-8BEE-F2786E078A0E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29312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95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21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79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16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20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49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746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997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042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395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62" r:id="rId5"/>
    <p:sldLayoutId id="2147483665" r:id="rId6"/>
    <p:sldLayoutId id="2147483669" r:id="rId7"/>
    <p:sldLayoutId id="214748367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e libre 6" title="Forme numéro de page"/>
          <p:cNvSpPr/>
          <p:nvPr/>
        </p:nvSpPr>
        <p:spPr bwMode="auto">
          <a:xfrm>
            <a:off x="8838008" y="4529505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71500" y="419759"/>
            <a:ext cx="2875430" cy="37143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86200" y="426800"/>
            <a:ext cx="4686299" cy="4241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71501" y="4447545"/>
            <a:ext cx="2861142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fld id="{86DB18A2-A9E7-4D8A-A3A6-82D5D0964B58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71501" y="4735830"/>
            <a:ext cx="2861142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838008" y="4699764"/>
            <a:ext cx="30599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cxnSp>
        <p:nvCxnSpPr>
          <p:cNvPr id="10" name="Connecteur droit 9" title="Ligne pleine horizontale"/>
          <p:cNvCxnSpPr/>
          <p:nvPr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79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750" b="0" i="1" u="none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12598" indent="-212598" algn="l" defTabSz="685800" rtl="0" eaLnBrk="1" latinLnBrk="0" hangingPunct="1">
        <a:lnSpc>
          <a:spcPct val="112000"/>
        </a:lnSpc>
        <a:spcBef>
          <a:spcPts val="675"/>
        </a:spcBef>
        <a:buFont typeface="Arial" panose="020B0604020202020204" pitchFamily="34" charset="0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14350" indent="-212598" algn="l" defTabSz="685800" rtl="0" eaLnBrk="1" latinLnBrk="0" hangingPunct="1">
        <a:lnSpc>
          <a:spcPct val="112000"/>
        </a:lnSpc>
        <a:spcBef>
          <a:spcPts val="675"/>
        </a:spcBef>
        <a:buFont typeface="Corbel" panose="020B0503020204020204" pitchFamily="34" charset="0"/>
        <a:buChar char="–"/>
        <a:defRPr sz="135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57250" indent="-212598" algn="l" defTabSz="685800" rtl="0" eaLnBrk="1" latinLnBrk="0" hangingPunct="1">
        <a:lnSpc>
          <a:spcPct val="112000"/>
        </a:lnSpc>
        <a:spcBef>
          <a:spcPts val="675"/>
        </a:spcBef>
        <a:buFont typeface="Arial" panose="020B0604020202020204" pitchFamily="34" charset="0"/>
        <a:buChar char="•"/>
        <a:defRPr sz="12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200150" indent="-212598" algn="l" defTabSz="685800" rtl="0" eaLnBrk="1" latinLnBrk="0" hangingPunct="1">
        <a:lnSpc>
          <a:spcPct val="112000"/>
        </a:lnSpc>
        <a:spcBef>
          <a:spcPts val="675"/>
        </a:spcBef>
        <a:buFont typeface="Corbel" panose="020B0503020204020204" pitchFamily="34" charset="0"/>
        <a:buChar char="–"/>
        <a:defRPr sz="105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543050" indent="-212598" algn="l" defTabSz="685800" rtl="0" eaLnBrk="1" latinLnBrk="0" hangingPunct="1">
        <a:lnSpc>
          <a:spcPct val="112000"/>
        </a:lnSpc>
        <a:spcBef>
          <a:spcPts val="675"/>
        </a:spcBef>
        <a:buFont typeface="Arial" panose="020B0604020202020204" pitchFamily="34" charset="0"/>
        <a:buChar char="•"/>
        <a:defRPr sz="105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885950" indent="-212598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228850" indent="-212598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05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571750" indent="-212598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914650" indent="-212598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05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0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hyperlink" Target="Course_02_1_3_dictionnaries.ipyn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Course_02_1_3_sets.ipynb" TargetMode="External"/><Relationship Id="rId5" Type="http://schemas.openxmlformats.org/officeDocument/2006/relationships/hyperlink" Target="Course_02_1_2_tuples.ipynb" TargetMode="External"/><Relationship Id="rId4" Type="http://schemas.openxmlformats.org/officeDocument/2006/relationships/hyperlink" Target="Course_02_lists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6DEC9-05E4-D9BA-F24E-9A58D3F4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556FE8C-0C8B-1B91-9A0D-2D1DFCE3918C}"/>
              </a:ext>
            </a:extLst>
          </p:cNvPr>
          <p:cNvGrpSpPr/>
          <p:nvPr/>
        </p:nvGrpSpPr>
        <p:grpSpPr>
          <a:xfrm>
            <a:off x="1620666" y="-7116"/>
            <a:ext cx="7523335" cy="1704532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267B530-6FAD-C8B2-B49B-50FDFD673B7A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3"/>
              <a:stretch>
                <a:fillRect t="-98298" b="-98298"/>
              </a:stretch>
            </a:blipFill>
          </p:spPr>
          <p:txBody>
            <a:bodyPr/>
            <a:lstStyle/>
            <a:p>
              <a:pPr defTabSz="457200">
                <a:buClrTx/>
              </a:pPr>
              <a:endParaRPr lang="en-US" sz="9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1AC4A1D-C0F7-ACA2-2A59-B751CAE7DC00}"/>
              </a:ext>
            </a:extLst>
          </p:cNvPr>
          <p:cNvSpPr/>
          <p:nvPr/>
        </p:nvSpPr>
        <p:spPr>
          <a:xfrm>
            <a:off x="8878455" y="4974794"/>
            <a:ext cx="203836" cy="116743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>
              <a:buClrTx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89DBA76-1C5B-C6B0-3BBE-BBDE0590C837}"/>
              </a:ext>
            </a:extLst>
          </p:cNvPr>
          <p:cNvSpPr/>
          <p:nvPr/>
        </p:nvSpPr>
        <p:spPr>
          <a:xfrm>
            <a:off x="0" y="0"/>
            <a:ext cx="2161589" cy="1697416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8F69945-B26F-E2EE-569C-9D68F71CF86E}"/>
              </a:ext>
            </a:extLst>
          </p:cNvPr>
          <p:cNvSpPr txBox="1"/>
          <p:nvPr/>
        </p:nvSpPr>
        <p:spPr>
          <a:xfrm>
            <a:off x="68623" y="2071134"/>
            <a:ext cx="4897913" cy="1243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5055"/>
              </a:lnSpc>
              <a:buClrTx/>
            </a:pPr>
            <a:r>
              <a:rPr lang="en-US" sz="3300" b="1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tserrat Bold"/>
              </a:rPr>
              <a:t>Python for beginners </a:t>
            </a:r>
          </a:p>
          <a:p>
            <a:pPr defTabSz="457200">
              <a:lnSpc>
                <a:spcPts val="5055"/>
              </a:lnSpc>
              <a:buClrTx/>
            </a:pPr>
            <a:r>
              <a:rPr lang="en-US" sz="3300" b="1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tserrat Bold"/>
              </a:rPr>
              <a:t>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657B81A-D528-3E24-B0B8-05179A08A2A9}"/>
              </a:ext>
            </a:extLst>
          </p:cNvPr>
          <p:cNvSpPr txBox="1"/>
          <p:nvPr/>
        </p:nvSpPr>
        <p:spPr>
          <a:xfrm>
            <a:off x="4628444" y="1887852"/>
            <a:ext cx="4499579" cy="1826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457200">
              <a:lnSpc>
                <a:spcPts val="1815"/>
              </a:lnSpc>
              <a:buClrTx/>
            </a:pPr>
            <a:r>
              <a:rPr lang="en-US" sz="1297" b="1" i="1" u="sng" kern="1200" spc="43" dirty="0">
                <a:solidFill>
                  <a:srgbClr val="FFC000"/>
                </a:solidFill>
                <a:latin typeface="Times New Roman" panose="02020603050405020304" pitchFamily="18" charset="0"/>
                <a:ea typeface="Open Sauce Bold Italics"/>
                <a:cs typeface="Times New Roman" panose="02020603050405020304" pitchFamily="18" charset="0"/>
                <a:sym typeface="Open Sauce Bold Italics"/>
              </a:rPr>
              <a:t>Lesson 03:</a:t>
            </a:r>
          </a:p>
          <a:p>
            <a:pPr algn="just" defTabSz="457200">
              <a:lnSpc>
                <a:spcPts val="1815"/>
              </a:lnSpc>
              <a:buClrTx/>
            </a:pPr>
            <a:endParaRPr lang="en-US" sz="1297" b="1" i="1" u="sng" kern="1200" spc="43" dirty="0">
              <a:solidFill>
                <a:srgbClr val="FFFFFF"/>
              </a:solidFill>
              <a:latin typeface="Times New Roman" panose="02020603050405020304" pitchFamily="18" charset="0"/>
              <a:ea typeface="Open Sauce Bold Italics"/>
              <a:cs typeface="Times New Roman" panose="02020603050405020304" pitchFamily="18" charset="0"/>
              <a:sym typeface="Open Sauce Bold Italics"/>
            </a:endParaRP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Data structures (lists, dictionary, tuple, set, range, generator)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Functions &amp; modules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Mutable &amp; immutable data types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Exceptions and error handling</a:t>
            </a:r>
          </a:p>
          <a:p>
            <a:pPr algn="just" defTabSz="457200">
              <a:lnSpc>
                <a:spcPts val="1815"/>
              </a:lnSpc>
              <a:buClrTx/>
            </a:pPr>
            <a:endParaRPr lang="en-US" sz="1297" kern="1200" spc="43" dirty="0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10A6F2-82D2-016C-5735-0A1373FF5A6C}"/>
              </a:ext>
            </a:extLst>
          </p:cNvPr>
          <p:cNvSpPr txBox="1"/>
          <p:nvPr/>
        </p:nvSpPr>
        <p:spPr>
          <a:xfrm>
            <a:off x="68623" y="3807412"/>
            <a:ext cx="4367517" cy="67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457200">
              <a:lnSpc>
                <a:spcPts val="1820"/>
              </a:lnSpc>
              <a:buClrTx/>
            </a:pPr>
            <a:r>
              <a:rPr lang="en-US" sz="1301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</a:t>
            </a:r>
          </a:p>
          <a:p>
            <a:pPr algn="just" defTabSz="457200">
              <a:lnSpc>
                <a:spcPts val="1820"/>
              </a:lnSpc>
              <a:buClrTx/>
            </a:pPr>
            <a:r>
              <a:rPr lang="en-US" sz="1301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DBEAF3-280C-DBDA-13D2-D01650421DC6}"/>
              </a:ext>
            </a:extLst>
          </p:cNvPr>
          <p:cNvSpPr txBox="1"/>
          <p:nvPr/>
        </p:nvSpPr>
        <p:spPr>
          <a:xfrm>
            <a:off x="642486" y="4818799"/>
            <a:ext cx="7734660" cy="18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567"/>
              </a:lnSpc>
              <a:buClrTx/>
            </a:pPr>
            <a:r>
              <a:rPr lang="en-US" sz="1119" i="1" kern="1200" spc="37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Filali </a:t>
            </a:r>
            <a:r>
              <a:rPr lang="en-US" sz="1119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Open Sauce Light Italics"/>
              </a:rPr>
              <a:t>2025-12-03  19h00 </a:t>
            </a:r>
            <a:r>
              <a:rPr lang="en-US" sz="1119" i="1" kern="1200" spc="37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95B04F-1D36-53F6-0AAC-5C490175DC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7171" y="137635"/>
            <a:ext cx="1355121" cy="148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8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966B8E80-1391-E712-FFE7-DE04ED8F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B8E4100E-42A7-633F-0C66-06C64C3EB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25767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1. Data strucyures</a:t>
            </a:r>
            <a:br>
              <a:rPr lang="en" dirty="0"/>
            </a:br>
            <a:r>
              <a:rPr lang="en" dirty="0"/>
              <a:t>	</a:t>
            </a:r>
            <a:r>
              <a:rPr lang="en" sz="2000" dirty="0"/>
              <a:t>1.1. </a:t>
            </a:r>
            <a:r>
              <a:rPr lang="en" sz="2000" dirty="0">
                <a:hlinkClick r:id="rId4" action="ppaction://hlinkfile"/>
              </a:rPr>
              <a:t>Lists</a:t>
            </a:r>
            <a:br>
              <a:rPr lang="en" sz="2000" dirty="0"/>
            </a:br>
            <a:r>
              <a:rPr lang="en" sz="2000" dirty="0"/>
              <a:t>	1.2. </a:t>
            </a:r>
            <a:r>
              <a:rPr lang="en" sz="2000" dirty="0">
                <a:hlinkClick r:id="rId5" action="ppaction://hlinkfile"/>
              </a:rPr>
              <a:t>Tuples</a:t>
            </a:r>
            <a:br>
              <a:rPr lang="en" sz="2000" dirty="0"/>
            </a:br>
            <a:r>
              <a:rPr lang="en" sz="2000" dirty="0"/>
              <a:t>	1.3. </a:t>
            </a:r>
            <a:r>
              <a:rPr lang="en" sz="2000" dirty="0">
                <a:hlinkClick r:id="rId6" action="ppaction://hlinkfile"/>
              </a:rPr>
              <a:t>Sets</a:t>
            </a:r>
            <a:br>
              <a:rPr lang="en" sz="2000" dirty="0"/>
            </a:br>
            <a:r>
              <a:rPr lang="en" sz="2000" dirty="0"/>
              <a:t>	1.4. </a:t>
            </a:r>
            <a:r>
              <a:rPr lang="en" sz="2000" dirty="0">
                <a:hlinkClick r:id="rId7" action="ppaction://hlinkfile"/>
              </a:rPr>
              <a:t>Dictionnaries</a:t>
            </a:r>
            <a:br>
              <a:rPr lang="en" sz="2000" dirty="0"/>
            </a:br>
            <a:r>
              <a:rPr lang="en" sz="2000" dirty="0"/>
              <a:t>	1.5. ranges</a:t>
            </a:r>
            <a:br>
              <a:rPr lang="en" sz="2000" dirty="0"/>
            </a:br>
            <a:r>
              <a:rPr lang="en" sz="2000" dirty="0"/>
              <a:t>	1.6. Generators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005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A768DF2B-6D53-6928-331A-8935685A6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9DA7D3B3-B7CB-FF53-FA52-E6A6FCFCA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25767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Creating and using functions	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65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A12EE51C-2DAD-7A8B-4AD8-D9A4511D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1E172CED-80F7-6C39-83D8-357E0448E4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8" y="797140"/>
            <a:ext cx="8048821" cy="37685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function is a block of code that performs a specific task when it is called, and functions are reusable, which means you can write a function once and use it as many times as you want.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has several built-in functions that you may be familiar with, including: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- print() prints an object to the terminal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- int()   converts a string or number data type to an integer data type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- </a:t>
            </a:r>
            <a:r>
              <a:rPr lang="en-US" dirty="0" err="1"/>
              <a:t>len</a:t>
            </a:r>
            <a:r>
              <a:rPr lang="en-US" dirty="0"/>
              <a:t>()   returns the length of an object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Function names include parentheses and may include parameter (arguments).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we’ll go over how to define your own functions to use in your coding projects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2F3473A-9180-F0EC-4FD3-BBA37CBA0D9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E995B8A3-7DE0-5CF4-4A36-971F101C673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Overview</a:t>
            </a:r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349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C411F4FE-A579-70D1-5EE4-B332AE00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6845D67C-FF69-AAA5-1008-C0390CA417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97140"/>
            <a:ext cx="7760996" cy="9935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function is defined by using the </a:t>
            </a:r>
            <a:r>
              <a:rPr lang="en-US" dirty="0">
                <a:solidFill>
                  <a:schemeClr val="accent2"/>
                </a:solidFill>
              </a:rPr>
              <a:t>def</a:t>
            </a:r>
            <a:r>
              <a:rPr lang="en-US" dirty="0"/>
              <a:t> keyword, followed by a name of your choosing, followed by a set of parentheses which hold any parameters the function will take (they can be empty), and ending with a colon.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1E90C960-8800-E73E-7835-50C73859328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A6234C64-A68B-40E4-DE11-27B2437036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Defining a function</a:t>
            </a:r>
            <a:endParaRPr lang="fr-FR" dirty="0">
              <a:solidFill>
                <a:schemeClr val="accent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A4AF17-2F73-9732-FB0A-E03C598D0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91" y="1733550"/>
            <a:ext cx="3900959" cy="705957"/>
          </a:xfrm>
          <a:prstGeom prst="rect">
            <a:avLst/>
          </a:prstGeom>
        </p:spPr>
      </p:pic>
      <p:sp>
        <p:nvSpPr>
          <p:cNvPr id="3" name="Google Shape;853;p42">
            <a:extLst>
              <a:ext uri="{FF2B5EF4-FFF2-40B4-BE49-F238E27FC236}">
                <a16:creationId xmlns:a16="http://schemas.microsoft.com/office/drawing/2014/main" id="{914624C4-3AB6-C0C2-FF80-EC37797E161F}"/>
              </a:ext>
            </a:extLst>
          </p:cNvPr>
          <p:cNvSpPr txBox="1">
            <a:spLocks/>
          </p:cNvSpPr>
          <p:nvPr/>
        </p:nvSpPr>
        <p:spPr>
          <a:xfrm>
            <a:off x="1031679" y="2571750"/>
            <a:ext cx="7760996" cy="705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dirty="0"/>
              <a:t>Our function is now fully defined, but if we run the program at this point, nothing will happen since we didn’t call the function.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AEED3-705A-C5A8-F62F-10AFBE805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091" y="3220557"/>
            <a:ext cx="3697759" cy="107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7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1AD967BF-B90B-6CB1-9B83-EDA546A2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00AFAA3A-7C16-7B7F-20CA-A1DC44A504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97140"/>
            <a:ext cx="7760996" cy="9935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1 : basic function without any parameter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D886A39-E190-6A58-BA03-71C20F50ECA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4485E128-ED9F-4590-4B28-54176E148A6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4897B8-C895-3144-F05D-F6C7C362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79" y="1657128"/>
            <a:ext cx="7640116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0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D963A606-ABAD-3061-3702-F88B2D26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7294E988-C2A1-3709-7F7C-67C79C3E98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2 : function with parameters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33C2890-AF1C-F580-F463-5B80FB9B583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A40F22CE-D8E3-CDC4-D4C3-2147FC0A904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34BCA-BC56-1A9F-9706-25A21B7D2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81"/>
          <a:stretch/>
        </p:blipFill>
        <p:spPr>
          <a:xfrm>
            <a:off x="1031679" y="1158147"/>
            <a:ext cx="7520491" cy="166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0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E1D38BB8-A36A-1553-B0AF-4E115194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E52CC901-5833-741A-889F-9FEFDA0DACA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3 : return one or more values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9FFB64E-F671-FB57-4F61-69DE27C9967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5DA3F6CD-6613-9A92-8A09-F38B8A7DC7B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85356-F2A2-4829-D469-62494BE84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269" y="1131807"/>
            <a:ext cx="6354062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7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D23D59BE-CE5D-5AE8-5847-66D83AE1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0775D57A-3621-79AA-0705-45F87F9880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4 : default parameter values, parameter order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7E916F61-20D1-D403-9221-BD94A588399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F966EAD8-3872-E220-CD83-2FB37EC8F2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CC167-177E-1AB6-82D7-5A60693CC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90" r="9194"/>
          <a:stretch/>
        </p:blipFill>
        <p:spPr>
          <a:xfrm>
            <a:off x="955478" y="1319669"/>
            <a:ext cx="8085549" cy="213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9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BD5074C7-162F-F892-C18E-82F4D814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E44F5735-D0AC-B241-ECF5-AB48381459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5 : docstring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499D178-CB1D-FEA6-7563-431892E5AA2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02A102FE-84EE-5D5E-20DE-3F02976843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</a:t>
            </a:r>
            <a:r>
              <a:rPr lang="ar-DZ" dirty="0">
                <a:solidFill>
                  <a:schemeClr val="accent2"/>
                </a:solidFill>
              </a:rPr>
              <a:t>5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FE631-CE0C-BE33-60EC-4F057F526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462" y="1004679"/>
            <a:ext cx="520137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0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A8B5DCF3-9B8A-4EC0-8E13-6CA1F409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4DA2B189-0413-90AB-6276-11654CA868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6 : variable 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B214625-F31D-929F-C677-A79DB799D2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07C9E05B-6AE5-4CA8-73D1-B5928C0FD5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010E2F-99FC-7F3F-0388-216A440E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12" y="1062897"/>
            <a:ext cx="429637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3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F5742045-F284-BD12-9849-6535067B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B113C5EE-B205-48E6-CCE7-578480404E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7 : recursion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E2E64AB0-0C38-CD86-7CD8-88DEDC0CEED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1EAFDCA8-C69B-C636-290E-22A26E9D37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7BEF8-C1A4-F41B-74EE-DFC60A58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675" y="988875"/>
            <a:ext cx="482984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87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1A90FF4C-6541-67E6-A541-4960AAFB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D9E074CD-A7D6-C45C-E863-C30BCDD8D5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8 : Lambda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D9CD9380-987D-5F84-CD7E-9D6139DB741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3E6D66F4-1A77-2579-EC10-5D9A15A655A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2D3C1-F888-339D-12DA-675B5BEF6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01" y="1062897"/>
            <a:ext cx="571579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1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9D549809-5796-19EF-9171-FB52CEE4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33758409-14BE-319A-BBEE-54887D0B53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9 : functional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8C25846-A028-42EF-1F21-719622F0D10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673E02D5-9637-299E-823E-1B545C4DFC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32A43-66F0-8031-6A44-B1547F6FC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33" y="1142832"/>
            <a:ext cx="471553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20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C3DC2511-3314-4152-65C5-786BFA8C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C2412D7B-DD1E-A835-C119-ED3DF29553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9 : Arbitrary positional parameters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8E9FD60-7DDB-3E50-6FBB-D0B28EA862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C1AB3200-DDE7-32BE-6CC3-40DFE0EDE2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E936A7-ACB5-C00A-A6AF-09AFFF945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112" y="1062897"/>
            <a:ext cx="4839375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56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0BD04805-0CA4-461C-6280-039357C6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BFD81A22-A094-FBA2-E9CB-263345FDE3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10 : functional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71B60915-E3F0-9EE3-51D7-5C08DD15B57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2D778D15-001E-6A57-CBAB-11D9C2BB61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AE171-E6C4-1CCA-909A-CBCEB2C03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33" y="1142832"/>
            <a:ext cx="471553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7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A69C75F6-9CED-A2AE-AAEA-34C79E29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A8A077A5-BB8C-EB3E-D75D-021B403B10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Python Program to Count the Number of Vowels in a String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5E020D4-0BC7-3F25-9D2B-4A9C604455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D07DEADA-794D-59E9-85EC-ECEA754DDF8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FA002-A8EE-AE7D-1E2C-AAC5A628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48"/>
          <a:stretch/>
        </p:blipFill>
        <p:spPr>
          <a:xfrm>
            <a:off x="1120579" y="1001487"/>
            <a:ext cx="741382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31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E50E2E5C-7420-D96C-2383-6AAA5E4B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87085E3F-7FA0-D7F8-78D0-FCD7D1F328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Python Program to Find the GCD of Two Numbers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D3EE1472-36D8-B53C-98DE-5150400E260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F3648C8A-4DED-4370-D08E-756AC0CE3C7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03E6B6-2AF9-48A8-7200-20B5E609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64" y="1062897"/>
            <a:ext cx="6068272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23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731A3245-A10E-C62E-F213-456BD732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B884103F-7E7B-200D-0281-C417340724F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Logical of a number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A01A6FA-8865-E7F7-2889-2544C28750E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33E1DE92-F6A4-FB51-E752-41102EDCB41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56ACB-D615-B311-5276-E18A40CF2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49" y="1192061"/>
            <a:ext cx="4848902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82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3E4300B2-05E5-3B9E-EF73-BBB258B8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5AEFC059-7DCF-AABA-0B3F-C7A7352173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1B143D94-305F-9444-DBB8-214D6C4AF47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B0988E03-01D8-7870-0C0F-6C93F098E93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7D84D-B4C2-2FC0-A189-CEABD266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382" y="1062897"/>
            <a:ext cx="3543795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3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E7EE8A85-6BAC-D9E2-9EEC-F05FBA7F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17DAC318-9E4F-4CCA-CD0E-E1D4CA0D8C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C119A9C-8E81-5BDC-A84F-83C699968D6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D5598EAF-E44F-8620-35B8-6497810885A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81413B-5CEB-B093-3741-8B6725061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08" y="789847"/>
            <a:ext cx="2743583" cy="1667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4A2E3D-9743-E516-8FE0-47D9594D9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208" y="2571750"/>
            <a:ext cx="378195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1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F9BA318A-03AF-4EEC-EDFE-D6FACE572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A5B2735A-6777-ED49-DA9E-498D04B594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F67E3C1D-CB5B-F441-C226-8888D499F6A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8102D740-868B-4A19-2281-4A34711FA6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138F8-8AE9-C58D-E46F-DB35E12C6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08" y="789847"/>
            <a:ext cx="2743583" cy="1667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3E839C-C396-0512-483C-3240B211D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208" y="2571750"/>
            <a:ext cx="378195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46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98B6A2D4-C473-DEEC-1B16-2527CEBE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67A2D39C-4D42-3464-E54D-357A00044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13747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</a:t>
            </a:r>
            <a:r>
              <a:rPr lang="fr-FR" dirty="0"/>
              <a:t>Mutable &amp; immutable data types</a:t>
            </a:r>
            <a:br>
              <a:rPr lang="en" dirty="0"/>
            </a:br>
            <a:r>
              <a:rPr lang="en" dirty="0"/>
              <a:t>	</a:t>
            </a:r>
            <a:r>
              <a:rPr lang="en" sz="2000" dirty="0"/>
              <a:t>1.1. mutable</a:t>
            </a:r>
            <a:br>
              <a:rPr lang="en" sz="2000" dirty="0"/>
            </a:br>
            <a:r>
              <a:rPr lang="en" sz="2000" dirty="0"/>
              <a:t>	1.2. immutables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693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17E1F440-D042-8ECF-51C8-4A389E58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BFAC9AAA-6367-45DC-9670-E950CDE70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25767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4. </a:t>
            </a:r>
            <a:r>
              <a:rPr lang="en-US" dirty="0"/>
              <a:t>Exception &amp; Error handling </a:t>
            </a:r>
            <a:br>
              <a:rPr lang="en-US" dirty="0"/>
            </a:br>
            <a:r>
              <a:rPr lang="en" dirty="0"/>
              <a:t>	</a:t>
            </a:r>
            <a:r>
              <a:rPr lang="en" sz="2000" dirty="0"/>
              <a:t>1.1. Lists</a:t>
            </a:r>
            <a:br>
              <a:rPr lang="en" sz="2000" dirty="0"/>
            </a:br>
            <a:r>
              <a:rPr lang="en" sz="2000" dirty="0"/>
              <a:t>	1.2. Tuples</a:t>
            </a:r>
            <a:br>
              <a:rPr lang="en" sz="2000" dirty="0"/>
            </a:br>
            <a:r>
              <a:rPr lang="en" sz="2000" dirty="0"/>
              <a:t>	1.3. Dictionnaries</a:t>
            </a:r>
            <a:br>
              <a:rPr lang="en" sz="2000" dirty="0"/>
            </a:br>
            <a:r>
              <a:rPr lang="en" sz="2000" dirty="0"/>
              <a:t>	1.4. Sets</a:t>
            </a:r>
            <a:br>
              <a:rPr lang="en" sz="2000" dirty="0"/>
            </a:br>
            <a:r>
              <a:rPr lang="en" sz="2000" dirty="0"/>
              <a:t>	1.5. Generators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6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15BFF6D6-2573-1178-FA2F-55D098E6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C357705F-2DDB-E35B-E793-6AA8E3B1E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5127597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</a:t>
            </a:r>
            <a:br>
              <a:rPr lang="en" dirty="0"/>
            </a:br>
            <a:br>
              <a:rPr lang="en" dirty="0"/>
            </a:br>
            <a:r>
              <a:rPr lang="en" dirty="0"/>
              <a:t>File handling in Python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12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3247F6A7-F820-2748-D6FF-149C1D11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C3CE0783-2BB7-E7C6-B8EF-84A35E47B7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97140"/>
            <a:ext cx="4069710" cy="15225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File handling is an important part of any application.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has several functions for creating, reading, updating, and deleting files.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AE3D88C-6A36-8A1D-6C63-704A24AA3D3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74116862-A089-0904-3AD4-9D979F350DB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Overview</a:t>
            </a:r>
            <a:r>
              <a:rPr lang="fr-FR" dirty="0">
                <a:solidFill>
                  <a:schemeClr val="accent2"/>
                </a:solidFill>
              </a:rPr>
              <a:t> 1/2</a:t>
            </a:r>
          </a:p>
        </p:txBody>
      </p:sp>
      <p:pic>
        <p:nvPicPr>
          <p:cNvPr id="1026" name="Picture 2" descr="File Handling in Python. File handling is an important part of… | by  Damilare Daramola | Medium">
            <a:extLst>
              <a:ext uri="{FF2B5EF4-FFF2-40B4-BE49-F238E27FC236}">
                <a16:creationId xmlns:a16="http://schemas.microsoft.com/office/drawing/2014/main" id="{A754DF75-3792-DBF9-F551-4FA3C9ADE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38" y="709262"/>
            <a:ext cx="3898230" cy="389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460;p27">
            <a:extLst>
              <a:ext uri="{FF2B5EF4-FFF2-40B4-BE49-F238E27FC236}">
                <a16:creationId xmlns:a16="http://schemas.microsoft.com/office/drawing/2014/main" id="{6A4BF5B4-B99A-7ED2-78BA-31D41D78B425}"/>
              </a:ext>
            </a:extLst>
          </p:cNvPr>
          <p:cNvSpPr txBox="1">
            <a:spLocks/>
          </p:cNvSpPr>
          <p:nvPr/>
        </p:nvSpPr>
        <p:spPr>
          <a:xfrm>
            <a:off x="710124" y="4694725"/>
            <a:ext cx="808255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dk2"/>
              </a:buClr>
              <a:buSzPts val="1400"/>
            </a:pPr>
            <a:r>
              <a:rPr lang="en-DZ" dirty="0">
                <a:solidFill>
                  <a:schemeClr val="accent2"/>
                </a:solidFill>
              </a:rPr>
              <a:t>https://www.w3schools.com/python/python_file_handling.asp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EFC27-8FCC-F462-5F84-4D91A76308F3}"/>
              </a:ext>
            </a:extLst>
          </p:cNvPr>
          <p:cNvSpPr txBox="1"/>
          <p:nvPr/>
        </p:nvSpPr>
        <p:spPr>
          <a:xfrm>
            <a:off x="1109216" y="2692067"/>
            <a:ext cx="3725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تعد معالجة الملفات جزءًا مهمًا من أي تطبيق.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D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لدى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Python</a:t>
            </a: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</a:t>
            </a: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العديد من الدوال لإنشاء الملفات وقراءتها وتحديثها وحذفها.</a:t>
            </a:r>
          </a:p>
        </p:txBody>
      </p:sp>
    </p:spTree>
    <p:extLst>
      <p:ext uri="{BB962C8B-B14F-4D97-AF65-F5344CB8AC3E}">
        <p14:creationId xmlns:p14="http://schemas.microsoft.com/office/powerpoint/2010/main" val="2492383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001027" y="741516"/>
            <a:ext cx="8022657" cy="885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 key function for working with files in Python is the </a:t>
            </a:r>
            <a:r>
              <a:rPr lang="en-US" sz="1400" dirty="0">
                <a:solidFill>
                  <a:schemeClr val="accent2"/>
                </a:solidFill>
              </a:rPr>
              <a:t>open() 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function.</a:t>
            </a:r>
            <a:br>
              <a:rPr lang="en-US" sz="1400" dirty="0"/>
            </a:b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2"/>
                </a:solidFill>
              </a:rPr>
              <a:t>open() 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function takes two parameters; </a:t>
            </a:r>
            <a:r>
              <a:rPr lang="en-US" sz="1400" dirty="0">
                <a:solidFill>
                  <a:schemeClr val="accent2"/>
                </a:solidFill>
              </a:rPr>
              <a:t>filename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and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2"/>
                </a:solidFill>
              </a:rPr>
              <a:t>mode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</a:t>
            </a:r>
            <a:br>
              <a:rPr lang="en-US" sz="1400" dirty="0"/>
            </a:b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There are four different methods (modes) for opening a file: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001027" y="2085074"/>
            <a:ext cx="7921591" cy="199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"r"</a:t>
            </a:r>
            <a:r>
              <a:rPr lang="en-US" sz="1200" dirty="0">
                <a:solidFill>
                  <a:schemeClr val="accent3"/>
                </a:solidFill>
              </a:rPr>
              <a:t> - Read - Default value. Opens a file for reading, error if the file does not   	exist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"a"</a:t>
            </a:r>
            <a:r>
              <a:rPr lang="en-US" sz="1200" dirty="0">
                <a:solidFill>
                  <a:schemeClr val="accent3"/>
                </a:solidFill>
              </a:rPr>
              <a:t> - Append - Opens a file for appending, creates the file if it does not exist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"w"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Write - Opens a file for writing, creates the file if it does not exist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"x"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Create - Creates the specified file, returns an error if the file exists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In addition, you can specify if the file should be handled as binary or text mode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"t"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Text - Default value. Text mode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"b"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Binary - Binary mode (e.g. images)</a:t>
            </a: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accent3"/>
                </a:solidFill>
              </a:rPr>
              <a:t>Abdesselam Filali 2024-04-17</a:t>
            </a: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Overview 2/2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" name="Google Shape;855;p42">
            <a:extLst>
              <a:ext uri="{FF2B5EF4-FFF2-40B4-BE49-F238E27FC236}">
                <a16:creationId xmlns:a16="http://schemas.microsoft.com/office/drawing/2014/main" id="{A38D35D1-DA3F-C306-DB1B-FC7D76E463EB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AAC865C8-5289-3261-5178-DA28F740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B086F2F7-997F-4474-5366-1CF92B4A176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40094" y="1201104"/>
            <a:ext cx="1594059" cy="3986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36B9D25C-2AE0-C7C6-7CAA-0BCC847D49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99880" y="1198730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203E67F1-15B1-46AF-C762-4B2E7F3F486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61050" y="834095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B6AFA4A2-0669-0EFC-B2B1-6DAFAAE51E3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699880" y="834095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C7775214-E125-B09B-6D6F-E23FCB9B31E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510137" y="1198730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ead()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E864C630-F9E7-BD79-EDB7-7E3E27D407BF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426275" y="86033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957A345E-D8B7-EE3E-2236-B968EF2D4B48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240094" y="1849815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FB154E6A-DC96-0B37-8015-32337D3BBAF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Open and read a file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A2EE15-7274-6833-EB38-22C7EE4CD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681" y="1922400"/>
            <a:ext cx="6314173" cy="1230833"/>
          </a:xfrm>
          <a:prstGeom prst="rect">
            <a:avLst/>
          </a:prstGeom>
        </p:spPr>
      </p:pic>
      <p:sp>
        <p:nvSpPr>
          <p:cNvPr id="23" name="Google Shape;712;p36">
            <a:extLst>
              <a:ext uri="{FF2B5EF4-FFF2-40B4-BE49-F238E27FC236}">
                <a16:creationId xmlns:a16="http://schemas.microsoft.com/office/drawing/2014/main" id="{93E325C4-39FE-57D3-3592-62AAC017C697}"/>
              </a:ext>
            </a:extLst>
          </p:cNvPr>
          <p:cNvSpPr txBox="1">
            <a:spLocks/>
          </p:cNvSpPr>
          <p:nvPr/>
        </p:nvSpPr>
        <p:spPr>
          <a:xfrm>
            <a:off x="1240094" y="3389861"/>
            <a:ext cx="7326390" cy="39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noProof="0" dirty="0"/>
              <a:t>Because </a:t>
            </a:r>
            <a:r>
              <a:rPr lang="en-US" noProof="0" dirty="0">
                <a:solidFill>
                  <a:srgbClr val="FF0000"/>
                </a:solidFill>
              </a:rPr>
              <a:t>"r"</a:t>
            </a:r>
            <a:r>
              <a:rPr lang="en-US" noProof="0" dirty="0"/>
              <a:t> for read and </a:t>
            </a:r>
            <a:r>
              <a:rPr lang="en-US" noProof="0" dirty="0">
                <a:solidFill>
                  <a:srgbClr val="FF0000"/>
                </a:solidFill>
              </a:rPr>
              <a:t>"t"</a:t>
            </a:r>
            <a:r>
              <a:rPr lang="en-US" noProof="0" dirty="0"/>
              <a:t> for text are the default values, you don’t need to specify them.</a:t>
            </a:r>
          </a:p>
        </p:txBody>
      </p:sp>
      <p:sp>
        <p:nvSpPr>
          <p:cNvPr id="24" name="Google Shape;855;p42">
            <a:extLst>
              <a:ext uri="{FF2B5EF4-FFF2-40B4-BE49-F238E27FC236}">
                <a16:creationId xmlns:a16="http://schemas.microsoft.com/office/drawing/2014/main" id="{B47A10E4-EF51-D60B-C5ED-F2F91042AF7B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333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DA7E7CEA-C14C-9225-D60B-6944281C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7">
            <a:extLst>
              <a:ext uri="{FF2B5EF4-FFF2-40B4-BE49-F238E27FC236}">
                <a16:creationId xmlns:a16="http://schemas.microsoft.com/office/drawing/2014/main" id="{65504924-6FE5-82D8-E9BF-3BEBA9BC885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195748" y="764781"/>
            <a:ext cx="5922000" cy="18069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 a file: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indent="-285750">
              <a:buFontTx/>
              <a:buChar char="-"/>
            </a:pPr>
            <a:r>
              <a:rPr lang="en-US" dirty="0"/>
              <a:t>The file is in the same directory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The file is in a different directory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The file doesn’t exist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Read and print it on screen</a:t>
            </a:r>
          </a:p>
        </p:txBody>
      </p:sp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597F3A1D-6C6B-E886-1E33-0BEF3090A63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3" name="Google Shape;777;p36">
            <a:extLst>
              <a:ext uri="{FF2B5EF4-FFF2-40B4-BE49-F238E27FC236}">
                <a16:creationId xmlns:a16="http://schemas.microsoft.com/office/drawing/2014/main" id="{5AC8B45A-C00A-EF48-D508-25A7DED34677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 file</a:t>
            </a:r>
          </a:p>
        </p:txBody>
      </p:sp>
      <p:sp>
        <p:nvSpPr>
          <p:cNvPr id="16" name="Google Shape;855;p42">
            <a:extLst>
              <a:ext uri="{FF2B5EF4-FFF2-40B4-BE49-F238E27FC236}">
                <a16:creationId xmlns:a16="http://schemas.microsoft.com/office/drawing/2014/main" id="{C6EAE475-0258-0158-F245-3AD19CA4334B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174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6F0ECBCA-A417-BE47-DE6D-AEFB39B7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09FEF448-DEE2-8E99-813A-4DB05812E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Complete path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18" name="Google Shape;719;p36">
            <a:extLst>
              <a:ext uri="{FF2B5EF4-FFF2-40B4-BE49-F238E27FC236}">
                <a16:creationId xmlns:a16="http://schemas.microsoft.com/office/drawing/2014/main" id="{C7BA4589-94B8-3C1F-3F72-3CD8F8DFAF13}"/>
              </a:ext>
            </a:extLst>
          </p:cNvPr>
          <p:cNvSpPr txBox="1">
            <a:spLocks/>
          </p:cNvSpPr>
          <p:nvPr/>
        </p:nvSpPr>
        <p:spPr>
          <a:xfrm>
            <a:off x="1143250" y="1123900"/>
            <a:ext cx="2330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dirty="0"/>
              <a:t>Code: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2C1FA9-CB71-A0D2-0D8C-47DCE348A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099" y="1462300"/>
            <a:ext cx="6639852" cy="905001"/>
          </a:xfrm>
          <a:prstGeom prst="rect">
            <a:avLst/>
          </a:prstGeom>
        </p:spPr>
      </p:pic>
      <p:sp>
        <p:nvSpPr>
          <p:cNvPr id="24" name="Google Shape;777;p36">
            <a:extLst>
              <a:ext uri="{FF2B5EF4-FFF2-40B4-BE49-F238E27FC236}">
                <a16:creationId xmlns:a16="http://schemas.microsoft.com/office/drawing/2014/main" id="{4B3D51BE-AB87-9C18-5254-D9020CF9F3D6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 file</a:t>
            </a:r>
          </a:p>
        </p:txBody>
      </p:sp>
      <p:sp>
        <p:nvSpPr>
          <p:cNvPr id="25" name="Google Shape;720;p36">
            <a:extLst>
              <a:ext uri="{FF2B5EF4-FFF2-40B4-BE49-F238E27FC236}">
                <a16:creationId xmlns:a16="http://schemas.microsoft.com/office/drawing/2014/main" id="{69351AD6-EC13-44DE-4609-A1E5D423A6B3}"/>
              </a:ext>
            </a:extLst>
          </p:cNvPr>
          <p:cNvSpPr txBox="1">
            <a:spLocks/>
          </p:cNvSpPr>
          <p:nvPr/>
        </p:nvSpPr>
        <p:spPr>
          <a:xfrm>
            <a:off x="1143250" y="2656944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800" noProof="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Slash instead of back slash</a:t>
            </a:r>
            <a:endParaRPr lang="en-US" sz="1800" noProof="0" dirty="0">
              <a:solidFill>
                <a:schemeClr val="accent6"/>
              </a:solidFill>
            </a:endParaRPr>
          </a:p>
        </p:txBody>
      </p:sp>
      <p:sp>
        <p:nvSpPr>
          <p:cNvPr id="26" name="Google Shape;855;p42">
            <a:extLst>
              <a:ext uri="{FF2B5EF4-FFF2-40B4-BE49-F238E27FC236}">
                <a16:creationId xmlns:a16="http://schemas.microsoft.com/office/drawing/2014/main" id="{32F09477-E99B-20CF-0F4C-E29F23EDDD23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864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22E516A1-88BC-1981-0206-22D0A978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7EFC6D03-1929-8BEB-32A6-946953DD309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17097" y="1683522"/>
            <a:ext cx="1594059" cy="475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B6A36A71-1786-4253-F2FF-775E9F17C2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29821" y="1760463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5F19B09E-B958-C3F8-872C-6DDA9A8DF79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9551" y="139050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4506BEF7-778C-87D4-6BBC-48F71C9903E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29821" y="1359319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5DB7134B-2561-F7A0-1F0A-CD39509C7BA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79847" y="1697719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ead(n)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3B31C417-35BD-ED55-A2FC-3486F9BB03A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782410" y="133537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9D9181FB-D204-5056-4BB8-349AA6A0C806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435435" y="2278377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125EF375-890C-A4A0-F324-0A34067D3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Read part of a file</a:t>
            </a:r>
            <a:endParaRPr dirty="0">
              <a:solidFill>
                <a:schemeClr val="accent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E3726-5EFC-DD6B-A796-4F502B95E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161" y="2634733"/>
            <a:ext cx="5668166" cy="1105054"/>
          </a:xfrm>
          <a:prstGeom prst="rect">
            <a:avLst/>
          </a:prstGeom>
        </p:spPr>
      </p:pic>
      <p:sp>
        <p:nvSpPr>
          <p:cNvPr id="6" name="Google Shape;777;p36">
            <a:extLst>
              <a:ext uri="{FF2B5EF4-FFF2-40B4-BE49-F238E27FC236}">
                <a16:creationId xmlns:a16="http://schemas.microsoft.com/office/drawing/2014/main" id="{B62AFCF7-8C2D-4622-5AAF-910E1125F568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 file</a:t>
            </a:r>
          </a:p>
        </p:txBody>
      </p:sp>
      <p:sp>
        <p:nvSpPr>
          <p:cNvPr id="7" name="Google Shape;855;p42">
            <a:extLst>
              <a:ext uri="{FF2B5EF4-FFF2-40B4-BE49-F238E27FC236}">
                <a16:creationId xmlns:a16="http://schemas.microsoft.com/office/drawing/2014/main" id="{81BAD7F1-9D51-FF41-C7A4-9CDB555B79E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719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4210C07B-16F1-9977-32A5-FE2C80B4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7">
            <a:extLst>
              <a:ext uri="{FF2B5EF4-FFF2-40B4-BE49-F238E27FC236}">
                <a16:creationId xmlns:a16="http://schemas.microsoft.com/office/drawing/2014/main" id="{9F12450D-8E5B-EA0B-8629-4ED61801111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48687" y="1123899"/>
            <a:ext cx="5922000" cy="22016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 an image file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Al-Aqsa.jpg    (i</a:t>
            </a:r>
            <a:r>
              <a:rPr lang="en" dirty="0"/>
              <a:t>n the same directory)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Binary file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Read and print it on screen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Show the image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Remove the background (library)</a:t>
            </a: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" dirty="0"/>
          </a:p>
        </p:txBody>
      </p:sp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1F378081-826A-CADD-DEF1-924A3ABABEE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2609FFE6-1503-1434-2603-5449FB56FAB8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an image file</a:t>
            </a:r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DE4611E5-5C3A-C46B-AE8F-55724745FC21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434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289E6814-4883-09EE-B3F6-328169E92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B8251EBF-CBBB-3D49-8A54-3A2039E0A37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17097" y="1683522"/>
            <a:ext cx="1594059" cy="475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DF2D3E45-4C56-A4AE-ACE7-D69F0A03D9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29821" y="1760463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2BDD6160-E55A-91DA-7E9F-0F188BE8A13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9551" y="139050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C2E93E9A-5520-4974-EC80-0C1CF15BB1C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29821" y="1359319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DC9E3655-59BB-5CEB-1426-A35C78F8EE3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79847" y="1697719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eadline(n)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C9115072-1CA5-092F-6676-FC3C5FC1BA0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782410" y="133537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C5609109-CC6C-28FD-65DC-7114A04E2244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317097" y="20848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600A9CED-F8C3-4386-A312-E73B2C0D1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Read part of a file (lines)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361E2E26-07F9-0A2D-F2F9-312B7A3ADCD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Example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9F55D-454B-BA8B-C41A-E4F65AE2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26" y="2159150"/>
            <a:ext cx="5506218" cy="2181529"/>
          </a:xfrm>
          <a:prstGeom prst="rect">
            <a:avLst/>
          </a:prstGeom>
        </p:spPr>
      </p:pic>
      <p:sp>
        <p:nvSpPr>
          <p:cNvPr id="5" name="Google Shape;855;p42">
            <a:extLst>
              <a:ext uri="{FF2B5EF4-FFF2-40B4-BE49-F238E27FC236}">
                <a16:creationId xmlns:a16="http://schemas.microsoft.com/office/drawing/2014/main" id="{DB2D5F29-864C-742B-6356-CDAEDAA5EBF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EDB28FF4-601F-EA92-00D2-D647841E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02465FEF-CC4A-674E-6C28-CDDFCC2634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08" y="665036"/>
            <a:ext cx="7817870" cy="996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To write to an existing file, you must add a parameter to the </a:t>
            </a:r>
            <a:r>
              <a:rPr lang="en-US" sz="1400" dirty="0">
                <a:solidFill>
                  <a:schemeClr val="accent2"/>
                </a:solidFill>
              </a:rPr>
              <a:t>open() </a:t>
            </a:r>
            <a:r>
              <a:rPr lang="en-US" sz="1400" dirty="0">
                <a:solidFill>
                  <a:schemeClr val="accent3"/>
                </a:solidFill>
              </a:rPr>
              <a:t>function: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"a"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Append - will append to the end of the file</a:t>
            </a:r>
            <a:br>
              <a:rPr lang="en-US" sz="1400" dirty="0">
                <a:latin typeface="Verdana" panose="020B0604030504040204" pitchFamily="34" charset="0"/>
              </a:rPr>
            </a:br>
            <a:r>
              <a:rPr lang="en-US" sz="1400" dirty="0">
                <a:solidFill>
                  <a:schemeClr val="accent2"/>
                </a:solidFill>
              </a:rPr>
              <a:t>"w"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Write - will overwrite any existing content</a:t>
            </a:r>
            <a:br>
              <a:rPr lang="en-US" sz="1400" dirty="0">
                <a:latin typeface="Verdana" panose="020B0604030504040204" pitchFamily="34" charset="0"/>
              </a:rPr>
            </a:b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3E6B0179-034C-5788-69C7-FA0B18619D1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2"/>
                </a:solidFill>
              </a:rPr>
              <a:t>C</a:t>
            </a:r>
            <a:r>
              <a:rPr lang="en" dirty="0">
                <a:solidFill>
                  <a:schemeClr val="accent2"/>
                </a:solidFill>
              </a:rPr>
              <a:t>reate a file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2BC809AF-4F44-CD97-7C3D-069574ECE7E3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9ECABEF5-BE29-1F22-59C4-920EC36C9531}"/>
              </a:ext>
            </a:extLst>
          </p:cNvPr>
          <p:cNvSpPr txBox="1">
            <a:spLocks/>
          </p:cNvSpPr>
          <p:nvPr/>
        </p:nvSpPr>
        <p:spPr>
          <a:xfrm>
            <a:off x="974808" y="1617562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5DB5FE-8295-9ECF-D60D-5D8BBF2F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047" y="1661395"/>
            <a:ext cx="4331370" cy="293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84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43BF13DB-E49B-F632-1530-8F5E7146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D7626DFD-5A54-8FE7-480F-6F9E3512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08" y="665036"/>
            <a:ext cx="7817870" cy="996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To create a file, you must add a parameter to the </a:t>
            </a:r>
            <a:r>
              <a:rPr lang="en-US" sz="1400" dirty="0">
                <a:solidFill>
                  <a:schemeClr val="accent2"/>
                </a:solidFill>
              </a:rPr>
              <a:t>open() </a:t>
            </a:r>
            <a:r>
              <a:rPr lang="en-US" sz="1400" dirty="0">
                <a:solidFill>
                  <a:schemeClr val="accent3"/>
                </a:solidFill>
              </a:rPr>
              <a:t>function: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"x"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Create a new file</a:t>
            </a:r>
            <a:br>
              <a:rPr lang="en-US" sz="1400" dirty="0">
                <a:latin typeface="Verdana" panose="020B0604030504040204" pitchFamily="34" charset="0"/>
              </a:rPr>
            </a:br>
            <a:r>
              <a:rPr lang="en-US" sz="1400" dirty="0">
                <a:solidFill>
                  <a:schemeClr val="accent2"/>
                </a:solidFill>
              </a:rPr>
              <a:t>"w"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Create a new file id it doesn’t exist</a:t>
            </a: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F681C146-9C23-1D3E-3799-DA87376E25C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Create a file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802966C3-F2E7-2DE8-C7C4-B3C9EB9ACC5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8D597FF8-3004-E75E-5103-B7C1EA09A551}"/>
              </a:ext>
            </a:extLst>
          </p:cNvPr>
          <p:cNvSpPr txBox="1">
            <a:spLocks/>
          </p:cNvSpPr>
          <p:nvPr/>
        </p:nvSpPr>
        <p:spPr>
          <a:xfrm>
            <a:off x="921869" y="2334644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B2DA1F-F4C0-8EE4-0EC9-972ABD8F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203" y="2397356"/>
            <a:ext cx="6434519" cy="78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47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FDCCC69C-6AC4-AF8A-111D-90B9BFE5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8E22FE8D-34A4-61FB-711D-4AECFB1D8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08" y="665036"/>
            <a:ext cx="7817870" cy="996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To delete a file, you must use the </a:t>
            </a:r>
            <a:r>
              <a:rPr lang="en-US" sz="1400" dirty="0" err="1">
                <a:solidFill>
                  <a:schemeClr val="accent2"/>
                </a:solidFill>
              </a:rPr>
              <a:t>os</a:t>
            </a:r>
            <a:r>
              <a:rPr lang="en-US" sz="1400" dirty="0">
                <a:solidFill>
                  <a:schemeClr val="accent3"/>
                </a:solidFill>
              </a:rPr>
              <a:t> library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 err="1">
                <a:solidFill>
                  <a:schemeClr val="accent2"/>
                </a:solidFill>
              </a:rPr>
              <a:t>os.remove</a:t>
            </a:r>
            <a:r>
              <a:rPr lang="en-US" sz="1400" dirty="0">
                <a:solidFill>
                  <a:schemeClr val="accent2"/>
                </a:solidFill>
              </a:rPr>
              <a:t>(file.txt)</a:t>
            </a:r>
            <a:r>
              <a:rPr lang="en-US" sz="1400" dirty="0">
                <a:latin typeface="Verdana" panose="020B0604030504040204" pitchFamily="34" charset="0"/>
              </a:rPr>
              <a:t> </a:t>
            </a:r>
            <a:r>
              <a:rPr lang="en-US" sz="1400" dirty="0">
                <a:solidFill>
                  <a:schemeClr val="accent3"/>
                </a:solidFill>
              </a:rPr>
              <a:t>- Remove a file </a:t>
            </a:r>
            <a:br>
              <a:rPr lang="en-US" sz="1400" dirty="0">
                <a:latin typeface="Verdana" panose="020B0604030504040204" pitchFamily="34" charset="0"/>
              </a:rPr>
            </a:br>
            <a:r>
              <a:rPr lang="en-US" sz="1400" dirty="0" err="1">
                <a:solidFill>
                  <a:schemeClr val="accent2"/>
                </a:solidFill>
              </a:rPr>
              <a:t>os.rmdir</a:t>
            </a:r>
            <a:r>
              <a:rPr lang="en-US" sz="1400" dirty="0">
                <a:solidFill>
                  <a:schemeClr val="accent2"/>
                </a:solidFill>
              </a:rPr>
              <a:t>(folder1)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Remove a directory, you can only delete an empty one</a:t>
            </a: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DF6A496B-64DD-F24B-40C0-1078856F7F9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2"/>
                </a:solidFill>
              </a:rPr>
              <a:t>D</a:t>
            </a:r>
            <a:r>
              <a:rPr lang="en" dirty="0">
                <a:solidFill>
                  <a:schemeClr val="accent2"/>
                </a:solidFill>
              </a:rPr>
              <a:t>elete a file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D71000BA-5DD5-06ED-FD5C-20E38A2C62A7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985FC7D1-3E3F-E213-123F-70BBDBBCA103}"/>
              </a:ext>
            </a:extLst>
          </p:cNvPr>
          <p:cNvSpPr txBox="1">
            <a:spLocks/>
          </p:cNvSpPr>
          <p:nvPr/>
        </p:nvSpPr>
        <p:spPr>
          <a:xfrm>
            <a:off x="1027747" y="1761941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7945B-E458-34EB-B853-828552978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50" y="1827346"/>
            <a:ext cx="5887272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80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51FAF1F7-82C4-979E-B3E9-10117941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AA4650DD-197B-78F4-56E6-C2BA61944A6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17097" y="1683522"/>
            <a:ext cx="1594059" cy="475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17E52857-2012-00BF-80B2-6C7948574C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29821" y="1760463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ACEEB541-A485-F7D1-9628-D8797BEC4A8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9551" y="139050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D75AF7F5-2575-C482-998E-164FFDCF823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29821" y="1359319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65B12FD6-4D6C-888E-84F9-247C33CC464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79847" y="1697719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ead()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D4B3B9D3-1B12-C8B0-2BB2-5B802BDB42C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782410" y="133537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B06A5080-BD17-8EF0-AEE2-610230611258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435435" y="2278377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29F67890-844C-8920-2A87-7C4486E9D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Writing to a file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881F9BE3-1F98-D298-994B-80A93CAD0E9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Example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3DB30F87-A267-E1E4-63E9-4CDAB64A406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File handling in Python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A882FA-7029-C389-AC9C-CF1CE2EFE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04" y="2571750"/>
            <a:ext cx="6314173" cy="1230833"/>
          </a:xfrm>
          <a:prstGeom prst="rect">
            <a:avLst/>
          </a:prstGeom>
        </p:spPr>
      </p:pic>
      <p:sp>
        <p:nvSpPr>
          <p:cNvPr id="2" name="Google Shape;855;p42">
            <a:extLst>
              <a:ext uri="{FF2B5EF4-FFF2-40B4-BE49-F238E27FC236}">
                <a16:creationId xmlns:a16="http://schemas.microsoft.com/office/drawing/2014/main" id="{0B9321B7-BD53-4008-A249-F384F32E43FC}"/>
              </a:ext>
            </a:extLst>
          </p:cNvPr>
          <p:cNvSpPr txBox="1">
            <a:spLocks/>
          </p:cNvSpPr>
          <p:nvPr/>
        </p:nvSpPr>
        <p:spPr>
          <a:xfrm>
            <a:off x="146425" y="2439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953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BC8E8F86-3211-5F1E-32C8-6A57C406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1DBF645D-BAA5-93BA-DE64-8562BCA7370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38BA7985-5020-A223-E831-62547ACA03E4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Tips reading a file</a:t>
            </a:r>
            <a:endParaRPr lang="en" sz="1200" dirty="0"/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10BF12CA-84A0-42D9-D343-F253D720F0D0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D29DD-B257-8472-9830-16DBEC259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53" y="795331"/>
            <a:ext cx="7806204" cy="204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1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047A3F4F-6157-9E15-1F75-E2EA7595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40B8B0DC-501D-37F5-84A7-C2B787426F2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E0E6E58C-3A5B-67C5-AADA-F552021E65CF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Tips reading a file</a:t>
            </a:r>
            <a:endParaRPr lang="en" sz="1200" dirty="0"/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91253D0B-F9C9-4E10-5B53-24CDF6940DB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55AC1-0B91-34FA-0FA8-71A523825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" y="846771"/>
            <a:ext cx="7804599" cy="221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75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E30F2617-A558-05C2-765E-3A3B416E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FC54C476-D3DD-2614-313B-3B47794A2B9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9095E6EA-470B-19E4-4F06-DB0A03014387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Tips reading a file</a:t>
            </a:r>
            <a:endParaRPr lang="en" sz="1200" dirty="0"/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93FF0936-D6A5-D853-6A36-504839853B3E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43D49-E7EB-9AB7-2115-3CB5F4590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797938"/>
            <a:ext cx="7367587" cy="200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750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5127597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</a:t>
            </a:r>
            <a:br>
              <a:rPr lang="en" dirty="0"/>
            </a:br>
            <a:br>
              <a:rPr lang="en" dirty="0"/>
            </a:br>
            <a:r>
              <a:rPr lang="en" dirty="0"/>
              <a:t>NumPy Library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D9F2FC-4362-83C8-8EB5-4FFA617B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4;p39">
            <a:extLst>
              <a:ext uri="{FF2B5EF4-FFF2-40B4-BE49-F238E27FC236}">
                <a16:creationId xmlns:a16="http://schemas.microsoft.com/office/drawing/2014/main" id="{26F07EF0-F544-EE1F-2C1F-85AE65570A9D}"/>
              </a:ext>
            </a:extLst>
          </p:cNvPr>
          <p:cNvSpPr txBox="1">
            <a:spLocks/>
          </p:cNvSpPr>
          <p:nvPr/>
        </p:nvSpPr>
        <p:spPr>
          <a:xfrm>
            <a:off x="5659655" y="409073"/>
            <a:ext cx="2799767" cy="7507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1.</a:t>
            </a:r>
          </a:p>
        </p:txBody>
      </p:sp>
      <p:pic>
        <p:nvPicPr>
          <p:cNvPr id="5" name="Picture 4" descr="A person holding a sign&#10;&#10;AI-generated content may be incorrect.">
            <a:extLst>
              <a:ext uri="{FF2B5EF4-FFF2-40B4-BE49-F238E27FC236}">
                <a16:creationId xmlns:a16="http://schemas.microsoft.com/office/drawing/2014/main" id="{7A983869-2536-E0FA-0106-E0D75A42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422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620D6006-EBC4-0A8B-3912-E9D9036D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00AB63B8-F8BF-EF4F-5A9A-FA5D38261AF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23EF7BF0-C2A5-D72B-ED4C-D6860FD3A125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B3D93C24-484E-C848-644A-7AF548B76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3550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What is NumPy?</a:t>
            </a:r>
            <a:br>
              <a:rPr lang="en-US" sz="9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NumPy (Numerical Python) is a fundamental powerful library for mathematical and numerical operations. 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It provides support for large, multi-dimensional arrays and matrices, along with a wide range of mathematical functions to operate on these arrays efficiently.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Why use NumPy?</a:t>
            </a:r>
            <a:br>
              <a:rPr lang="en-US" sz="1400" b="1" dirty="0">
                <a:solidFill>
                  <a:schemeClr val="accent2"/>
                </a:solidFill>
              </a:rPr>
            </a:br>
            <a:r>
              <a:rPr lang="en-US" sz="12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dirty="0">
                <a:solidFill>
                  <a:schemeClr val="accent3"/>
                </a:solidFill>
              </a:rPr>
              <a:t>Much faster than Python lists for numerical tasks</a:t>
            </a: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>
                <a:solidFill>
                  <a:schemeClr val="accent3"/>
                </a:solidFill>
              </a:rPr>
              <a:t>- Used as the foundation for libraries like Pandas, TensorFlow, and  Scikit-learn </a:t>
            </a: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>
                <a:solidFill>
                  <a:schemeClr val="accent3"/>
                </a:solidFill>
              </a:rPr>
              <a:t>- Makes matrix operations, statistics, and data transformations easy and efficient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installation</a:t>
            </a:r>
            <a:br>
              <a:rPr lang="en-US" sz="1400" b="1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pip install </a:t>
            </a:r>
            <a:r>
              <a:rPr lang="en-US" sz="1400" dirty="0" err="1">
                <a:solidFill>
                  <a:schemeClr val="accent3"/>
                </a:solidFill>
              </a:rPr>
              <a:t>numpy</a:t>
            </a:r>
            <a:br>
              <a:rPr lang="en-US" sz="900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B7EF3626-6A87-4179-FF71-E9D1CE73648C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EEA0D9D-FADF-0337-D91E-5FA5A3069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708" y="3442056"/>
            <a:ext cx="1832584" cy="82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572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3C0CE495-85B5-F6AF-87A8-D6AA269B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AE546D7E-9CA0-2A29-06B6-E9C540E7052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BCD13848-D4DC-E2BE-FFFB-33005D107470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8AFF1967-7DC7-C431-92BF-C79BF969B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3550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What is NumPy Array?</a:t>
            </a:r>
            <a:br>
              <a:rPr lang="en-US" sz="9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A NumPy array is a powerful data structure that stores elements of the same data type in a grid-like format. 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It’s much faster and more efficient than Python lists for numerical operations..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Creating Arrays: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100C20E2-4CED-09F5-CDCD-EDF49F4F39D7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8322AF2-5E28-72F4-DD19-650BF48E04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16A63B-8ADC-1AC7-C6D0-AAA4BE54D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57" y="2165718"/>
            <a:ext cx="4926735" cy="17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13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844ACA33-6093-5868-F1C9-E8D757B1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A964C95F-F222-E144-C9A7-0E0A3940424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1501E0C1-5D50-6CE3-ABE5-1C974B66918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DEAACA12-31D4-E86C-8153-1CC3ED821E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3550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Creating Array: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Code: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94463BFE-DD8B-1784-0162-9F323FEB0C2A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3D42681-3DD4-C241-2E93-E1D92117E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B82D3C-9C51-FC10-E188-134278387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05" y="1331868"/>
            <a:ext cx="6906589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13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40CA6D35-6130-DBA0-11B6-D0F1EB0E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B5425FF8-63CF-B4C9-5606-64314E5CCC0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911663C3-132A-13C0-45B8-2807832CFD09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ECA2FC5D-0E58-6CBB-DE28-EC0135011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178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Basic Array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Indexing and slicing: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Array Shape &amp; Dimensions: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Reshaping Arrays: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Reshaping Arrays:</a:t>
            </a: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4DE4F02A-A777-9802-25AF-EA685FBFE79B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10DB455-AF12-FA43-6586-F8903CB197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288C78-C63F-8B5C-C4F0-3EBAD90FA2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014"/>
          <a:stretch/>
        </p:blipFill>
        <p:spPr>
          <a:xfrm>
            <a:off x="3381888" y="1293794"/>
            <a:ext cx="3263547" cy="693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159E8-3CDF-BDE7-0D18-C8846BDB2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888" y="2331170"/>
            <a:ext cx="4869967" cy="8116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CB8FA4-52ED-B51D-AEE7-F2FD05120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888" y="3289774"/>
            <a:ext cx="3926730" cy="481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F5729D-9D2D-AC0F-579D-36036FBA8F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888" y="4066391"/>
            <a:ext cx="4512023" cy="2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75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B8895BCA-4B98-2A82-6203-95DCE159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449819F5-B31A-E263-67A4-7707EA7E214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F92D89F4-F814-E9AF-BA50-724CA343649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6CF3405E-7834-3DD5-396C-483E1FB885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093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Mathematical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Element-Wise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Aggregate functions: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100" b="1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Reshaping Arrays: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EFDADF80-D677-AE23-F18B-B8B8E2BBB586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53C819B-D42C-5F28-B142-BFBD4649D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214B6D-30C7-23B1-836B-D00409D6F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045" y="1077109"/>
            <a:ext cx="1898689" cy="1055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6CEFF4-4E11-B6E7-F364-FAEA57DC2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045" y="2217534"/>
            <a:ext cx="3569379" cy="127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260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68D67F25-C515-C54D-B764-1507A21E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75BC53E2-B218-86A9-3AE0-10BEC103AE6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AEF1AA61-E477-25CF-AE69-051DD6D53118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208FAB9D-6610-A7C1-F27F-0B3044DA7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093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Mathematical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Element-Wise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Aggregate functions: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1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NumPy makes math easy — no need for loops! Just write it once and it works on the entire array.</a:t>
            </a: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2E75C537-5893-674C-C29A-F32EAAF596FA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A657DFC-7207-417D-626C-D3D5BD76B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CE447-3569-AAC6-903F-1B652D421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045" y="1077109"/>
            <a:ext cx="1898689" cy="1055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C41C33-FAA9-0B2C-5187-93286A38D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045" y="2217534"/>
            <a:ext cx="3569379" cy="127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487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B71D18E0-595D-4BD7-C5D6-408F78A1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1FB21370-1A6C-75C0-93E4-D3EB38C7C90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Example using NumPy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42ED4E64-4D2E-8017-DE52-02411F8B4447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23F58210-D7D5-7566-782E-AE5EF73B3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093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Let’s use NumPy in a real-world scenario: analyzing temperature data! Example: Calculate Average Weekly Temperature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C8282901-4143-92ED-BEC9-3C3EA3D5EC53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199D4A2-87AC-284E-D074-13BF6F8BFF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194A4F-302C-EE50-2B9F-621053362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209" y="1102049"/>
            <a:ext cx="6698117" cy="359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049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6985AC-B775-6BD4-94CD-8B3E8D8D2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1682B83-9AC3-4D0D-2C4F-D03CD22B1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A22872-01F0-0860-D448-923732D38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128" y="142591"/>
            <a:ext cx="6057511" cy="465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12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4FAD62-77AD-A6FB-9F84-7A9F475B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997444-2BA3-EF02-39DF-2C772A41B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EAECC4-FAC3-2A63-1BC3-91548C39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350" y="0"/>
            <a:ext cx="51093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21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E8D69A-938D-DE70-35DF-D610B3120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D4AEE6-EFBC-CA31-1F6E-CA0E2AB7A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BEC92F-E078-ECFE-2A3F-294118F5A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642" y="0"/>
            <a:ext cx="46687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61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A93FF4-2EE4-B695-05BB-165B935CF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3E050FD-9132-59D6-95D5-D36595EA6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248CA8-1F8A-17FF-1632-4323E0A43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657" y="0"/>
            <a:ext cx="51366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129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989D3A-451D-D9E4-DCFC-8EA70F39F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D787EE-9D6E-BB30-C8DA-7EB37AE5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23FAFD-7379-B4F7-910C-E3CE5009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464" y="0"/>
            <a:ext cx="46310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80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6EBD02-23ED-294A-358E-AB95305D1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254F1A5-FBDB-2E39-C667-7A41CC9C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74CAC7-728B-D6C8-0F26-28A3549E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89" y="740490"/>
            <a:ext cx="5557630" cy="22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04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0DA05298-9BF6-7ABD-8B34-690BA499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1A0F550C-59C5-A33E-06E0-83193295420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1/4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83EFC119-E78A-D8E5-0428-9F1C68957DB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7157C26C-BF01-CE8A-9FD6-AB6031AC0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ZeroDivisionError</a:t>
            </a:r>
            <a:r>
              <a:rPr lang="en-US" sz="1400" dirty="0">
                <a:solidFill>
                  <a:schemeClr val="accent3"/>
                </a:solidFill>
              </a:rPr>
              <a:t> is raised when a program attempts to perform a division operation where the denominator is zero.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Syntax:</a:t>
            </a:r>
            <a:r>
              <a:rPr lang="en-US" sz="1400" dirty="0">
                <a:latin typeface="Verdana" panose="020B0604030504040204" pitchFamily="34" charset="0"/>
              </a:rPr>
              <a:t> 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ZeroDivisionError</a:t>
            </a:r>
            <a:r>
              <a:rPr lang="en-US" sz="1400" dirty="0">
                <a:solidFill>
                  <a:schemeClr val="accent2"/>
                </a:solidFill>
              </a:rPr>
              <a:t>: division by zero</a:t>
            </a:r>
            <a:br>
              <a:rPr lang="en-US" sz="1400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Why : </a:t>
            </a: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	</a:t>
            </a:r>
            <a:r>
              <a:rPr lang="en-US" sz="1400" b="1" dirty="0">
                <a:solidFill>
                  <a:schemeClr val="accent3"/>
                </a:solidFill>
              </a:rPr>
              <a:t>Direct Division by Zero</a:t>
            </a:r>
            <a:br>
              <a:rPr lang="en-US" sz="1400" dirty="0">
                <a:solidFill>
                  <a:schemeClr val="accent3"/>
                </a:solidFill>
              </a:rPr>
            </a:b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" name="Google Shape;719;p36">
            <a:extLst>
              <a:ext uri="{FF2B5EF4-FFF2-40B4-BE49-F238E27FC236}">
                <a16:creationId xmlns:a16="http://schemas.microsoft.com/office/drawing/2014/main" id="{17CDBF8E-E9D0-EA41-1A45-26D11E470EF7}"/>
              </a:ext>
            </a:extLst>
          </p:cNvPr>
          <p:cNvSpPr txBox="1">
            <a:spLocks/>
          </p:cNvSpPr>
          <p:nvPr/>
        </p:nvSpPr>
        <p:spPr>
          <a:xfrm>
            <a:off x="1027747" y="2286208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BAA4C3-DDD4-D527-E95F-965243631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350" y="2286208"/>
            <a:ext cx="4467849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062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1A71C042-69E9-3F81-B6CA-E2F90EC6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C2F45E41-DF53-F600-5F03-A7C482B497C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2/4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9769811F-7EA7-B201-CBF9-907E270801EA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834986D3-209B-BCAA-E2BD-2479DA68B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Why : </a:t>
            </a:r>
            <a:r>
              <a:rPr lang="en-US" sz="1400" b="1" dirty="0">
                <a:solidFill>
                  <a:schemeClr val="accent3"/>
                </a:solidFill>
              </a:rPr>
              <a:t>Variable Initialization Issue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3"/>
                </a:solidFill>
              </a:rPr>
              <a:t>	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Why : </a:t>
            </a:r>
            <a:r>
              <a:rPr lang="en-US" sz="1400" b="1" dirty="0">
                <a:solidFill>
                  <a:schemeClr val="accent3"/>
                </a:solidFill>
              </a:rPr>
              <a:t>	Conditional Statements Issue</a:t>
            </a:r>
            <a:br>
              <a:rPr lang="en-US" sz="1400" b="1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" name="Google Shape;719;p36">
            <a:extLst>
              <a:ext uri="{FF2B5EF4-FFF2-40B4-BE49-F238E27FC236}">
                <a16:creationId xmlns:a16="http://schemas.microsoft.com/office/drawing/2014/main" id="{F977B8B5-0758-21D9-C7C0-19AA04506FF6}"/>
              </a:ext>
            </a:extLst>
          </p:cNvPr>
          <p:cNvSpPr txBox="1">
            <a:spLocks/>
          </p:cNvSpPr>
          <p:nvPr/>
        </p:nvSpPr>
        <p:spPr>
          <a:xfrm>
            <a:off x="949160" y="982233"/>
            <a:ext cx="921369" cy="430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3ABD9-D959-DEA5-4CE0-8CC2E1941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879" y="982233"/>
            <a:ext cx="4277322" cy="981212"/>
          </a:xfrm>
          <a:prstGeom prst="rect">
            <a:avLst/>
          </a:prstGeom>
        </p:spPr>
      </p:pic>
      <p:sp>
        <p:nvSpPr>
          <p:cNvPr id="6" name="Google Shape;719;p36">
            <a:extLst>
              <a:ext uri="{FF2B5EF4-FFF2-40B4-BE49-F238E27FC236}">
                <a16:creationId xmlns:a16="http://schemas.microsoft.com/office/drawing/2014/main" id="{D46268CF-7FE3-982F-01E6-F9470D4447E4}"/>
              </a:ext>
            </a:extLst>
          </p:cNvPr>
          <p:cNvSpPr txBox="1">
            <a:spLocks/>
          </p:cNvSpPr>
          <p:nvPr/>
        </p:nvSpPr>
        <p:spPr>
          <a:xfrm>
            <a:off x="1082510" y="2644083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80E117-B1A4-0C86-D304-4754F63D5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466" y="2644083"/>
            <a:ext cx="4620270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799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ED84CE79-7A2F-020A-9F9A-AC99B3E0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316BB10F-FFFF-B98E-C6A4-EF6CB7814E1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3/4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3704B024-3AD4-B5FE-9091-D625053331F7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7CAD6B4E-2B97-E52A-E1ED-7E0AF6D7B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Approach/Reason to Solve </a:t>
            </a:r>
            <a:r>
              <a:rPr lang="en-US" sz="1400" dirty="0" err="1">
                <a:solidFill>
                  <a:schemeClr val="accent3"/>
                </a:solidFill>
              </a:rPr>
              <a:t>Zerodivisionerror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Use if-else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3"/>
                </a:solidFill>
              </a:rPr>
              <a:t>	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6" name="Google Shape;719;p36">
            <a:extLst>
              <a:ext uri="{FF2B5EF4-FFF2-40B4-BE49-F238E27FC236}">
                <a16:creationId xmlns:a16="http://schemas.microsoft.com/office/drawing/2014/main" id="{EDAED987-2154-E4DA-3C04-68EE7DCF3B83}"/>
              </a:ext>
            </a:extLst>
          </p:cNvPr>
          <p:cNvSpPr txBox="1">
            <a:spLocks/>
          </p:cNvSpPr>
          <p:nvPr/>
        </p:nvSpPr>
        <p:spPr>
          <a:xfrm>
            <a:off x="1027747" y="1477360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976CC-F952-2432-2219-5B3B8D159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980" y="1486885"/>
            <a:ext cx="565864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681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132E6144-531D-2B99-5079-A85D8D409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C98975EF-3D94-B426-01C2-54D016AFBA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4/4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DDB63316-A862-40BA-4D8E-8C4061574E49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01D4AE1A-6EDA-F26C-780E-39CA7A0CE3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Using Conditional Expression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3"/>
                </a:solidFill>
              </a:rPr>
              <a:t>	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Catching the Exception (Using Try-Except Block)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 </a:t>
            </a: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6C382-EBA8-7968-BA3A-AB1EFF4C3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38" y="848127"/>
            <a:ext cx="7957287" cy="12417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EA5D72-D4E3-9FDA-4DF5-D87ED54D2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037" y="2571749"/>
            <a:ext cx="5621513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37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2C6156A7-C28D-1547-AD8E-CFC1C8D2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2B4321BB-6A32-2F24-98A3-91782A241C1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2"/>
                </a:solidFill>
              </a:rPr>
              <a:t>P</a:t>
            </a:r>
            <a:r>
              <a:rPr lang="en" dirty="0">
                <a:solidFill>
                  <a:schemeClr val="accent2"/>
                </a:solidFill>
              </a:rPr>
              <a:t>ractical example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063FF8E9-BDF2-4C0D-81DE-F36A247CFA1A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FE4ADCE9-D4E3-3778-BF89-7C8538F17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68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Input a valid number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9D267-E35A-06B2-0D05-5B115295F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47" y="942975"/>
            <a:ext cx="763059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053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885D23BF-A76B-8755-2E27-31BD2AD0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62C2E153-3C24-1DA9-69EF-0CEE444B44E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Error handling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8D66B0A6-BD9F-08EB-5CB4-C347225C6D08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1587E747-4F1B-431D-21CD-F2CEA2662F85}"/>
              </a:ext>
            </a:extLst>
          </p:cNvPr>
          <p:cNvSpPr txBox="1">
            <a:spLocks/>
          </p:cNvSpPr>
          <p:nvPr/>
        </p:nvSpPr>
        <p:spPr>
          <a:xfrm>
            <a:off x="921869" y="2334644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8B5E3-D6FD-3C10-85BF-CB7F6F8C3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9" b="709"/>
          <a:stretch/>
        </p:blipFill>
        <p:spPr>
          <a:xfrm>
            <a:off x="1843238" y="590550"/>
            <a:ext cx="505574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93712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r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694_TF45175639_Win32" id="{D77B1837-5AF3-4EC5-B413-94F4F26E8BA8}" vid="{D82ED25A-05CE-4C23-BFD4-9EA37D69405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1891</Words>
  <Application>Microsoft Office PowerPoint</Application>
  <PresentationFormat>On-screen Show (16:9)</PresentationFormat>
  <Paragraphs>244</Paragraphs>
  <Slides>61</Slides>
  <Notes>55</Notes>
  <HiddenSlides>21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76" baseType="lpstr">
      <vt:lpstr>Fira Code</vt:lpstr>
      <vt:lpstr>Century Schoolbook</vt:lpstr>
      <vt:lpstr>Times New Roman</vt:lpstr>
      <vt:lpstr>Verdana</vt:lpstr>
      <vt:lpstr>Arial</vt:lpstr>
      <vt:lpstr>Amiri</vt:lpstr>
      <vt:lpstr>Consolas</vt:lpstr>
      <vt:lpstr>Aptos</vt:lpstr>
      <vt:lpstr>Open Sauce Light</vt:lpstr>
      <vt:lpstr>Corbel</vt:lpstr>
      <vt:lpstr>Montserrat</vt:lpstr>
      <vt:lpstr>Calibri</vt:lpstr>
      <vt:lpstr>Programming Language Workshop for Beginners by Slidesgo</vt:lpstr>
      <vt:lpstr>Titres</vt:lpstr>
      <vt:lpstr>Office Theme</vt:lpstr>
      <vt:lpstr>PowerPoint Presentation</vt:lpstr>
      <vt:lpstr>1. Data strucyures  1.1. Lists  1.2. Tuples  1.3. Sets  1.4. Dictionnaries  1.5. ranges  1.6. Generators</vt:lpstr>
      <vt:lpstr>2. Creating and using 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Mutable &amp; immutable data types  1.1. mutable  1.2. immutables</vt:lpstr>
      <vt:lpstr>4. Exception &amp; Error handling   1.1. Lists  1.2. Tuples  1.3. Dictionnaries  1.4. Sets  1.5. Generators</vt:lpstr>
      <vt:lpstr>2.  File handling in Python</vt:lpstr>
      <vt:lpstr>PowerPoint Presentation</vt:lpstr>
      <vt:lpstr>The key function for working with files in Python is the open() function. The open() function takes two parameters; filename, and mode. There are four different methods (modes) for opening a file:   </vt:lpstr>
      <vt:lpstr>PowerPoint Presentation</vt:lpstr>
      <vt:lpstr>PowerPoint Presentation</vt:lpstr>
      <vt:lpstr>Complete path</vt:lpstr>
      <vt:lpstr>Read part of a file</vt:lpstr>
      <vt:lpstr>PowerPoint Presentation</vt:lpstr>
      <vt:lpstr>Read part of a file (lines)</vt:lpstr>
      <vt:lpstr>To write to an existing file, you must add a parameter to the open() function: "a" - Append - will append to the end of the file "w" - Write - will overwrite any existing content </vt:lpstr>
      <vt:lpstr>To create a file, you must add a parameter to the open() function: "x" - Create a new file "w" - Create a new file id it doesn’t exist</vt:lpstr>
      <vt:lpstr>To delete a file, you must use the os library  os.remove(file.txt) - Remove a file  os.rmdir(folder1) - Remove a directory, you can only delete an empty one</vt:lpstr>
      <vt:lpstr>Writing to a file</vt:lpstr>
      <vt:lpstr>PowerPoint Presentation</vt:lpstr>
      <vt:lpstr>PowerPoint Presentation</vt:lpstr>
      <vt:lpstr>PowerPoint Presentation</vt:lpstr>
      <vt:lpstr>4.  NumPy Library</vt:lpstr>
      <vt:lpstr>PowerPoint Presentation</vt:lpstr>
      <vt:lpstr>What is NumPy? NumPy (Numerical Python) is a fundamental powerful library for mathematical and numerical operations.  It provides support for large, multi-dimensional arrays and matrices, along with a wide range of mathematical functions to operate on these arrays efficiently.  Why use NumPy? - Much faster than Python lists for numerical tasks - Used as the foundation for libraries like Pandas, TensorFlow, and  Scikit-learn  - Makes matrix operations, statistics, and data transformations easy and efficient  installation pip install numpy    </vt:lpstr>
      <vt:lpstr>What is NumPy Array? A NumPy array is a powerful data structure that stores elements of the same data type in a grid-like format.  It’s much faster and more efficient than Python lists for numerical operations..  Creating Arrays:     </vt:lpstr>
      <vt:lpstr>Creating Array:  Code:     </vt:lpstr>
      <vt:lpstr>Basic Array Operations:  Indexing and slicing:     Array Shape &amp; Dimensions:     Reshaping Arrays:   Reshaping Arrays:</vt:lpstr>
      <vt:lpstr>Mathematical Operations:  Element-Wise operations:     Aggregate functions:      Reshaping Arrays:  </vt:lpstr>
      <vt:lpstr>Mathematical Operations:  Element-Wise operations:     Aggregate functions:       NumPy makes math easy — no need for loops! Just write it once and it works on the entire array.</vt:lpstr>
      <vt:lpstr>Let’s use NumPy in a real-world scenario: analyzing temperature data! Example: Calculate Average Weekly Temperature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ZeroDivisionError is raised when a program attempts to perform a division operation where the denominator is zero.  Syntax:  ZeroDivisionError: division by zero  Why :   Direct Division by Zero </vt:lpstr>
      <vt:lpstr>Why : Variable Initialization Issue         Why :  Conditional Statements Issue </vt:lpstr>
      <vt:lpstr>Approach/Reason to Solve Zerodivisionerror  Use if-else         </vt:lpstr>
      <vt:lpstr>Using Conditional Expression         Catching the Exception (Using Try-Except Block)   </vt:lpstr>
      <vt:lpstr>Input a valid number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Abdesselam FILALI</cp:lastModifiedBy>
  <cp:revision>21</cp:revision>
  <dcterms:modified xsi:type="dcterms:W3CDTF">2025-12-03T16:17:40Z</dcterms:modified>
</cp:coreProperties>
</file>