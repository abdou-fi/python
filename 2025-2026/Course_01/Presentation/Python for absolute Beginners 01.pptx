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4"/>
  </p:notesMasterIdLst>
  <p:sldIdLst>
    <p:sldId id="256" r:id="rId2"/>
    <p:sldId id="257" r:id="rId3"/>
    <p:sldId id="268" r:id="rId4"/>
    <p:sldId id="267" r:id="rId5"/>
    <p:sldId id="269" r:id="rId6"/>
    <p:sldId id="271" r:id="rId7"/>
    <p:sldId id="272" r:id="rId8"/>
    <p:sldId id="274" r:id="rId9"/>
    <p:sldId id="283" r:id="rId10"/>
    <p:sldId id="270" r:id="rId11"/>
    <p:sldId id="258" r:id="rId12"/>
    <p:sldId id="273" r:id="rId13"/>
    <p:sldId id="275" r:id="rId14"/>
    <p:sldId id="278" r:id="rId15"/>
    <p:sldId id="276" r:id="rId16"/>
    <p:sldId id="277" r:id="rId17"/>
    <p:sldId id="279" r:id="rId18"/>
    <p:sldId id="259" r:id="rId19"/>
    <p:sldId id="282" r:id="rId20"/>
    <p:sldId id="280" r:id="rId21"/>
    <p:sldId id="281" r:id="rId22"/>
    <p:sldId id="284" r:id="rId23"/>
    <p:sldId id="285" r:id="rId24"/>
    <p:sldId id="286" r:id="rId25"/>
    <p:sldId id="305" r:id="rId26"/>
    <p:sldId id="295" r:id="rId27"/>
    <p:sldId id="297" r:id="rId28"/>
    <p:sldId id="293" r:id="rId29"/>
    <p:sldId id="287" r:id="rId30"/>
    <p:sldId id="288" r:id="rId31"/>
    <p:sldId id="292" r:id="rId32"/>
    <p:sldId id="296" r:id="rId33"/>
    <p:sldId id="289" r:id="rId34"/>
    <p:sldId id="291" r:id="rId35"/>
    <p:sldId id="298" r:id="rId36"/>
    <p:sldId id="294" r:id="rId37"/>
    <p:sldId id="304" r:id="rId38"/>
    <p:sldId id="299" r:id="rId39"/>
    <p:sldId id="300" r:id="rId40"/>
    <p:sldId id="301" r:id="rId41"/>
    <p:sldId id="302" r:id="rId42"/>
    <p:sldId id="303" r:id="rId43"/>
  </p:sldIdLst>
  <p:sldSz cx="18288000" cy="10287000"/>
  <p:notesSz cx="6858000" cy="9144000"/>
  <p:embeddedFontLst>
    <p:embeddedFont>
      <p:font typeface="Corbel" panose="020B0503020204020204" pitchFamily="34" charset="0"/>
      <p:regular r:id="rId45"/>
      <p:bold r:id="rId46"/>
      <p:italic r:id="rId47"/>
      <p:boldItalic r:id="rId48"/>
    </p:embeddedFont>
    <p:embeddedFont>
      <p:font typeface="Montserrat Bold" panose="00000800000000000000" pitchFamily="2" charset="0"/>
      <p:bold r:id="rId49"/>
    </p:embeddedFont>
    <p:embeddedFont>
      <p:font typeface="Open Sauce" panose="020B0604020202020204" charset="0"/>
      <p:regular r:id="rId50"/>
    </p:embeddedFont>
    <p:embeddedFont>
      <p:font typeface="Open Sauce Light" panose="020B0604020202020204" charset="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96" d="100"/>
          <a:sy n="96" d="100"/>
        </p:scale>
        <p:origin x="81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BB400E-A695-491E-855F-C615024AA450}"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42CB9-5B0E-46E9-98B8-C728C6EBDBB2}" type="slidenum">
              <a:rPr lang="en-US" smtClean="0"/>
              <a:t>‹#›</a:t>
            </a:fld>
            <a:endParaRPr lang="en-US"/>
          </a:p>
        </p:txBody>
      </p:sp>
    </p:spTree>
    <p:extLst>
      <p:ext uri="{BB962C8B-B14F-4D97-AF65-F5344CB8AC3E}">
        <p14:creationId xmlns:p14="http://schemas.microsoft.com/office/powerpoint/2010/main" val="1000202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342CB9-5B0E-46E9-98B8-C728C6EBDBB2}" type="slidenum">
              <a:rPr lang="en-US" smtClean="0"/>
              <a:t>1</a:t>
            </a:fld>
            <a:endParaRPr lang="en-US"/>
          </a:p>
        </p:txBody>
      </p:sp>
    </p:spTree>
    <p:extLst>
      <p:ext uri="{BB962C8B-B14F-4D97-AF65-F5344CB8AC3E}">
        <p14:creationId xmlns:p14="http://schemas.microsoft.com/office/powerpoint/2010/main" val="2678313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342CB9-5B0E-46E9-98B8-C728C6EBDBB2}" type="slidenum">
              <a:rPr lang="en-US" smtClean="0"/>
              <a:t>5</a:t>
            </a:fld>
            <a:endParaRPr lang="en-US"/>
          </a:p>
        </p:txBody>
      </p:sp>
    </p:spTree>
    <p:extLst>
      <p:ext uri="{BB962C8B-B14F-4D97-AF65-F5344CB8AC3E}">
        <p14:creationId xmlns:p14="http://schemas.microsoft.com/office/powerpoint/2010/main" val="3277248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326F9-FF3D-6CD0-E40F-8361A7F80D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83EC4-33D1-877F-8418-EA1CD6104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77BE2B-C665-BD4F-4FA4-96187E5338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8D22CD-2848-35A8-47F3-CC3AF6D4AB8E}"/>
              </a:ext>
            </a:extLst>
          </p:cNvPr>
          <p:cNvSpPr>
            <a:spLocks noGrp="1"/>
          </p:cNvSpPr>
          <p:nvPr>
            <p:ph type="sldNum" sz="quarter" idx="5"/>
          </p:nvPr>
        </p:nvSpPr>
        <p:spPr/>
        <p:txBody>
          <a:bodyPr/>
          <a:lstStyle/>
          <a:p>
            <a:fld id="{7B342CB9-5B0E-46E9-98B8-C728C6EBDBB2}" type="slidenum">
              <a:rPr lang="en-US" smtClean="0"/>
              <a:t>6</a:t>
            </a:fld>
            <a:endParaRPr lang="en-US"/>
          </a:p>
        </p:txBody>
      </p:sp>
    </p:spTree>
    <p:extLst>
      <p:ext uri="{BB962C8B-B14F-4D97-AF65-F5344CB8AC3E}">
        <p14:creationId xmlns:p14="http://schemas.microsoft.com/office/powerpoint/2010/main" val="3618696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57E10-0F02-CDBE-1E10-33E5AC58D2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D325A-4CC7-4158-5A94-50737237EB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834F02-A338-2716-E359-9896B883FF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2CDA07-2D68-611B-C071-61516BD2F44C}"/>
              </a:ext>
            </a:extLst>
          </p:cNvPr>
          <p:cNvSpPr>
            <a:spLocks noGrp="1"/>
          </p:cNvSpPr>
          <p:nvPr>
            <p:ph type="sldNum" sz="quarter" idx="5"/>
          </p:nvPr>
        </p:nvSpPr>
        <p:spPr/>
        <p:txBody>
          <a:bodyPr/>
          <a:lstStyle/>
          <a:p>
            <a:fld id="{7B342CB9-5B0E-46E9-98B8-C728C6EBDBB2}" type="slidenum">
              <a:rPr lang="en-US" smtClean="0"/>
              <a:t>7</a:t>
            </a:fld>
            <a:endParaRPr lang="en-US"/>
          </a:p>
        </p:txBody>
      </p:sp>
    </p:spTree>
    <p:extLst>
      <p:ext uri="{BB962C8B-B14F-4D97-AF65-F5344CB8AC3E}">
        <p14:creationId xmlns:p14="http://schemas.microsoft.com/office/powerpoint/2010/main" val="4099107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B2FD3-0F57-453D-2600-3DFB74E7F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B5D41-3E93-3388-B549-BD5905185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2BC8F1-3361-8B7D-675B-36203F269F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81FB47-74CF-22DC-7D17-21461047BE4A}"/>
              </a:ext>
            </a:extLst>
          </p:cNvPr>
          <p:cNvSpPr>
            <a:spLocks noGrp="1"/>
          </p:cNvSpPr>
          <p:nvPr>
            <p:ph type="sldNum" sz="quarter" idx="5"/>
          </p:nvPr>
        </p:nvSpPr>
        <p:spPr/>
        <p:txBody>
          <a:bodyPr/>
          <a:lstStyle/>
          <a:p>
            <a:fld id="{7B342CB9-5B0E-46E9-98B8-C728C6EBDBB2}" type="slidenum">
              <a:rPr lang="en-US" smtClean="0"/>
              <a:t>8</a:t>
            </a:fld>
            <a:endParaRPr lang="en-US"/>
          </a:p>
        </p:txBody>
      </p:sp>
    </p:spTree>
    <p:extLst>
      <p:ext uri="{BB962C8B-B14F-4D97-AF65-F5344CB8AC3E}">
        <p14:creationId xmlns:p14="http://schemas.microsoft.com/office/powerpoint/2010/main" val="3572357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7C862-0F23-9F10-5090-8EA750990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51C1E-AFD8-FCAD-B66E-4306FA339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64112-C7CE-4979-9EA9-B1B344D963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5BA092-51F1-6E35-B6EF-DC353007358E}"/>
              </a:ext>
            </a:extLst>
          </p:cNvPr>
          <p:cNvSpPr>
            <a:spLocks noGrp="1"/>
          </p:cNvSpPr>
          <p:nvPr>
            <p:ph type="sldNum" sz="quarter" idx="5"/>
          </p:nvPr>
        </p:nvSpPr>
        <p:spPr/>
        <p:txBody>
          <a:bodyPr/>
          <a:lstStyle/>
          <a:p>
            <a:fld id="{7B342CB9-5B0E-46E9-98B8-C728C6EBDBB2}" type="slidenum">
              <a:rPr lang="en-US" smtClean="0"/>
              <a:t>9</a:t>
            </a:fld>
            <a:endParaRPr lang="en-US"/>
          </a:p>
        </p:txBody>
      </p:sp>
    </p:spTree>
    <p:extLst>
      <p:ext uri="{BB962C8B-B14F-4D97-AF65-F5344CB8AC3E}">
        <p14:creationId xmlns:p14="http://schemas.microsoft.com/office/powerpoint/2010/main" val="2919307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0AB9F-DBDA-88E3-FA4C-B23F00359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B1C01-6E18-FF3D-8383-8F4BDCB8E2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83A65-E2D8-B343-48AF-FA718FDFA2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5B1185-F1A1-10E8-828A-1A3AF9D5D8A2}"/>
              </a:ext>
            </a:extLst>
          </p:cNvPr>
          <p:cNvSpPr>
            <a:spLocks noGrp="1"/>
          </p:cNvSpPr>
          <p:nvPr>
            <p:ph type="sldNum" sz="quarter" idx="5"/>
          </p:nvPr>
        </p:nvSpPr>
        <p:spPr/>
        <p:txBody>
          <a:bodyPr/>
          <a:lstStyle/>
          <a:p>
            <a:fld id="{7B342CB9-5B0E-46E9-98B8-C728C6EBDBB2}" type="slidenum">
              <a:rPr lang="en-US" smtClean="0"/>
              <a:t>19</a:t>
            </a:fld>
            <a:endParaRPr lang="en-US"/>
          </a:p>
        </p:txBody>
      </p:sp>
    </p:spTree>
    <p:extLst>
      <p:ext uri="{BB962C8B-B14F-4D97-AF65-F5344CB8AC3E}">
        <p14:creationId xmlns:p14="http://schemas.microsoft.com/office/powerpoint/2010/main" val="83215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342CB9-5B0E-46E9-98B8-C728C6EBDBB2}" type="slidenum">
              <a:rPr lang="en-US" smtClean="0"/>
              <a:t>20</a:t>
            </a:fld>
            <a:endParaRPr lang="en-US"/>
          </a:p>
        </p:txBody>
      </p:sp>
    </p:spTree>
    <p:extLst>
      <p:ext uri="{BB962C8B-B14F-4D97-AF65-F5344CB8AC3E}">
        <p14:creationId xmlns:p14="http://schemas.microsoft.com/office/powerpoint/2010/main" val="2788529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214CB-4D93-B991-26A6-0F5FBFA30B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AEB38-2F66-A768-04B8-8AB5F72EAF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E4AE9-8E05-6E4F-D915-37F26CB55B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B750F9-1122-ADB1-5D46-2D55AC79C563}"/>
              </a:ext>
            </a:extLst>
          </p:cNvPr>
          <p:cNvSpPr>
            <a:spLocks noGrp="1"/>
          </p:cNvSpPr>
          <p:nvPr>
            <p:ph type="sldNum" sz="quarter" idx="5"/>
          </p:nvPr>
        </p:nvSpPr>
        <p:spPr/>
        <p:txBody>
          <a:bodyPr/>
          <a:lstStyle/>
          <a:p>
            <a:fld id="{7B342CB9-5B0E-46E9-98B8-C728C6EBDBB2}" type="slidenum">
              <a:rPr lang="en-US" smtClean="0"/>
              <a:t>21</a:t>
            </a:fld>
            <a:endParaRPr lang="en-US"/>
          </a:p>
        </p:txBody>
      </p:sp>
    </p:spTree>
    <p:extLst>
      <p:ext uri="{BB962C8B-B14F-4D97-AF65-F5344CB8AC3E}">
        <p14:creationId xmlns:p14="http://schemas.microsoft.com/office/powerpoint/2010/main" val="3809017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7128C-7A43-4C8B-2A4A-50AA4566D4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F258E-D5C5-5A8A-3757-0FFA210CA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70AB2-8096-1F2A-DD4E-828B8255DD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DA7DB6-8F8A-9C11-E4EA-4AFFA10FAE0C}"/>
              </a:ext>
            </a:extLst>
          </p:cNvPr>
          <p:cNvSpPr>
            <a:spLocks noGrp="1"/>
          </p:cNvSpPr>
          <p:nvPr>
            <p:ph type="sldNum" sz="quarter" idx="5"/>
          </p:nvPr>
        </p:nvSpPr>
        <p:spPr/>
        <p:txBody>
          <a:bodyPr/>
          <a:lstStyle/>
          <a:p>
            <a:fld id="{7B342CB9-5B0E-46E9-98B8-C728C6EBDBB2}" type="slidenum">
              <a:rPr lang="en-US" smtClean="0"/>
              <a:t>22</a:t>
            </a:fld>
            <a:endParaRPr lang="en-US"/>
          </a:p>
        </p:txBody>
      </p:sp>
    </p:spTree>
    <p:extLst>
      <p:ext uri="{BB962C8B-B14F-4D97-AF65-F5344CB8AC3E}">
        <p14:creationId xmlns:p14="http://schemas.microsoft.com/office/powerpoint/2010/main" val="3204734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87324-CCC2-094B-2714-35BA78DA04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5AA298-AC37-9BCB-A001-998259E8A1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6A33C-945D-45B0-C158-39C4BB6D1E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23B90D-3BD7-29D0-00B9-3DE89157AAD2}"/>
              </a:ext>
            </a:extLst>
          </p:cNvPr>
          <p:cNvSpPr>
            <a:spLocks noGrp="1"/>
          </p:cNvSpPr>
          <p:nvPr>
            <p:ph type="sldNum" sz="quarter" idx="5"/>
          </p:nvPr>
        </p:nvSpPr>
        <p:spPr/>
        <p:txBody>
          <a:bodyPr/>
          <a:lstStyle/>
          <a:p>
            <a:fld id="{7B342CB9-5B0E-46E9-98B8-C728C6EBDBB2}" type="slidenum">
              <a:rPr lang="en-US" smtClean="0"/>
              <a:t>23</a:t>
            </a:fld>
            <a:endParaRPr lang="en-US"/>
          </a:p>
        </p:txBody>
      </p:sp>
    </p:spTree>
    <p:extLst>
      <p:ext uri="{BB962C8B-B14F-4D97-AF65-F5344CB8AC3E}">
        <p14:creationId xmlns:p14="http://schemas.microsoft.com/office/powerpoint/2010/main" val="3222010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319A6-BAE6-84BB-13D0-1D81D8209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FFD52C-1567-A12F-A7D7-2C13EF0D8B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E75C7-A66D-1C9C-4F5F-68A237A146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87F498-4612-8FBD-20B9-2699097A1B1C}"/>
              </a:ext>
            </a:extLst>
          </p:cNvPr>
          <p:cNvSpPr>
            <a:spLocks noGrp="1"/>
          </p:cNvSpPr>
          <p:nvPr>
            <p:ph type="sldNum" sz="quarter" idx="5"/>
          </p:nvPr>
        </p:nvSpPr>
        <p:spPr/>
        <p:txBody>
          <a:bodyPr/>
          <a:lstStyle/>
          <a:p>
            <a:fld id="{7B342CB9-5B0E-46E9-98B8-C728C6EBDBB2}" type="slidenum">
              <a:rPr lang="en-US" smtClean="0"/>
              <a:t>24</a:t>
            </a:fld>
            <a:endParaRPr lang="en-US"/>
          </a:p>
        </p:txBody>
      </p:sp>
    </p:spTree>
    <p:extLst>
      <p:ext uri="{BB962C8B-B14F-4D97-AF65-F5344CB8AC3E}">
        <p14:creationId xmlns:p14="http://schemas.microsoft.com/office/powerpoint/2010/main" val="2695004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E4251-77A1-B829-5657-829842ED0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06179-FE58-03D5-2178-035D620FC7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70DABB-4195-2587-C2F3-D3E1BBF152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4AEC32-5359-EEE5-68CC-2E7881D618D2}"/>
              </a:ext>
            </a:extLst>
          </p:cNvPr>
          <p:cNvSpPr>
            <a:spLocks noGrp="1"/>
          </p:cNvSpPr>
          <p:nvPr>
            <p:ph type="sldNum" sz="quarter" idx="5"/>
          </p:nvPr>
        </p:nvSpPr>
        <p:spPr/>
        <p:txBody>
          <a:bodyPr/>
          <a:lstStyle/>
          <a:p>
            <a:fld id="{7B342CB9-5B0E-46E9-98B8-C728C6EBDBB2}" type="slidenum">
              <a:rPr lang="en-US" smtClean="0"/>
              <a:t>25</a:t>
            </a:fld>
            <a:endParaRPr lang="en-US"/>
          </a:p>
        </p:txBody>
      </p:sp>
    </p:spTree>
    <p:extLst>
      <p:ext uri="{BB962C8B-B14F-4D97-AF65-F5344CB8AC3E}">
        <p14:creationId xmlns:p14="http://schemas.microsoft.com/office/powerpoint/2010/main" val="1350780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91AD9-D1F3-2DA5-B146-F31DD8A74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9716E-3AF7-AAF8-65AD-7B621F8DDF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857BC-1DE3-0ACD-8FE2-07FFA5A035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75385E-7518-AF54-AC5B-9D35280E276B}"/>
              </a:ext>
            </a:extLst>
          </p:cNvPr>
          <p:cNvSpPr>
            <a:spLocks noGrp="1"/>
          </p:cNvSpPr>
          <p:nvPr>
            <p:ph type="sldNum" sz="quarter" idx="5"/>
          </p:nvPr>
        </p:nvSpPr>
        <p:spPr/>
        <p:txBody>
          <a:bodyPr/>
          <a:lstStyle/>
          <a:p>
            <a:fld id="{7B342CB9-5B0E-46E9-98B8-C728C6EBDBB2}" type="slidenum">
              <a:rPr lang="en-US" smtClean="0"/>
              <a:t>26</a:t>
            </a:fld>
            <a:endParaRPr lang="en-US"/>
          </a:p>
        </p:txBody>
      </p:sp>
    </p:spTree>
    <p:extLst>
      <p:ext uri="{BB962C8B-B14F-4D97-AF65-F5344CB8AC3E}">
        <p14:creationId xmlns:p14="http://schemas.microsoft.com/office/powerpoint/2010/main" val="2242923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A59C-2012-105A-CEF8-4B3F3E967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0C333E-EB40-BB4C-56C3-36F9EC13C7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1DEF76-381A-ED62-8BB5-FB650BD874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719D48-9CDE-3176-36B7-B9B1B1D88AD5}"/>
              </a:ext>
            </a:extLst>
          </p:cNvPr>
          <p:cNvSpPr>
            <a:spLocks noGrp="1"/>
          </p:cNvSpPr>
          <p:nvPr>
            <p:ph type="sldNum" sz="quarter" idx="5"/>
          </p:nvPr>
        </p:nvSpPr>
        <p:spPr/>
        <p:txBody>
          <a:bodyPr/>
          <a:lstStyle/>
          <a:p>
            <a:fld id="{7B342CB9-5B0E-46E9-98B8-C728C6EBDBB2}" type="slidenum">
              <a:rPr lang="en-US" smtClean="0"/>
              <a:t>27</a:t>
            </a:fld>
            <a:endParaRPr lang="en-US"/>
          </a:p>
        </p:txBody>
      </p:sp>
    </p:spTree>
    <p:extLst>
      <p:ext uri="{BB962C8B-B14F-4D97-AF65-F5344CB8AC3E}">
        <p14:creationId xmlns:p14="http://schemas.microsoft.com/office/powerpoint/2010/main" val="1122646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6AE44-657A-DD3B-FF75-D8F1168B3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2667F-4EAF-FE3C-E8FE-E892B5D52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777835-F24C-73CD-0ECF-41398B32BA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CCB758-2102-B45A-039B-41072FFC59B6}"/>
              </a:ext>
            </a:extLst>
          </p:cNvPr>
          <p:cNvSpPr>
            <a:spLocks noGrp="1"/>
          </p:cNvSpPr>
          <p:nvPr>
            <p:ph type="sldNum" sz="quarter" idx="5"/>
          </p:nvPr>
        </p:nvSpPr>
        <p:spPr/>
        <p:txBody>
          <a:bodyPr/>
          <a:lstStyle/>
          <a:p>
            <a:fld id="{7B342CB9-5B0E-46E9-98B8-C728C6EBDBB2}" type="slidenum">
              <a:rPr lang="en-US" smtClean="0"/>
              <a:t>28</a:t>
            </a:fld>
            <a:endParaRPr lang="en-US"/>
          </a:p>
        </p:txBody>
      </p:sp>
    </p:spTree>
    <p:extLst>
      <p:ext uri="{BB962C8B-B14F-4D97-AF65-F5344CB8AC3E}">
        <p14:creationId xmlns:p14="http://schemas.microsoft.com/office/powerpoint/2010/main" val="17497620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12E4B-9AFC-6259-255A-65BCB0202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C3E81A-4452-BA66-AD91-E22644540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86D56-2ECD-D1E8-8291-DCA5D03CA0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182E4A-F11D-BCF6-0462-35F1370056CB}"/>
              </a:ext>
            </a:extLst>
          </p:cNvPr>
          <p:cNvSpPr>
            <a:spLocks noGrp="1"/>
          </p:cNvSpPr>
          <p:nvPr>
            <p:ph type="sldNum" sz="quarter" idx="5"/>
          </p:nvPr>
        </p:nvSpPr>
        <p:spPr/>
        <p:txBody>
          <a:bodyPr/>
          <a:lstStyle/>
          <a:p>
            <a:fld id="{7B342CB9-5B0E-46E9-98B8-C728C6EBDBB2}" type="slidenum">
              <a:rPr lang="en-US" smtClean="0"/>
              <a:t>29</a:t>
            </a:fld>
            <a:endParaRPr lang="en-US"/>
          </a:p>
        </p:txBody>
      </p:sp>
    </p:spTree>
    <p:extLst>
      <p:ext uri="{BB962C8B-B14F-4D97-AF65-F5344CB8AC3E}">
        <p14:creationId xmlns:p14="http://schemas.microsoft.com/office/powerpoint/2010/main" val="24085980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C9ED2-4EC8-61CF-F964-6DD1D8E1C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C2CB5-E2B0-BB57-ED94-9FB1A69687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529EE-42CB-DE3E-9F63-461FFF61F8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7F7233-B9F3-20ED-9D85-CE5C6442007F}"/>
              </a:ext>
            </a:extLst>
          </p:cNvPr>
          <p:cNvSpPr>
            <a:spLocks noGrp="1"/>
          </p:cNvSpPr>
          <p:nvPr>
            <p:ph type="sldNum" sz="quarter" idx="5"/>
          </p:nvPr>
        </p:nvSpPr>
        <p:spPr/>
        <p:txBody>
          <a:bodyPr/>
          <a:lstStyle/>
          <a:p>
            <a:fld id="{7B342CB9-5B0E-46E9-98B8-C728C6EBDBB2}" type="slidenum">
              <a:rPr lang="en-US" smtClean="0"/>
              <a:t>30</a:t>
            </a:fld>
            <a:endParaRPr lang="en-US"/>
          </a:p>
        </p:txBody>
      </p:sp>
    </p:spTree>
    <p:extLst>
      <p:ext uri="{BB962C8B-B14F-4D97-AF65-F5344CB8AC3E}">
        <p14:creationId xmlns:p14="http://schemas.microsoft.com/office/powerpoint/2010/main" val="16147555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1AE9B-86AE-80D6-D7BC-390184C75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4C617-96D5-51CD-9FBF-64515E2578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5F39B4-7ECF-26A9-E7DB-CE1AB1CD67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549BA9-8382-F802-929E-583BD4A512BF}"/>
              </a:ext>
            </a:extLst>
          </p:cNvPr>
          <p:cNvSpPr>
            <a:spLocks noGrp="1"/>
          </p:cNvSpPr>
          <p:nvPr>
            <p:ph type="sldNum" sz="quarter" idx="5"/>
          </p:nvPr>
        </p:nvSpPr>
        <p:spPr/>
        <p:txBody>
          <a:bodyPr/>
          <a:lstStyle/>
          <a:p>
            <a:fld id="{7B342CB9-5B0E-46E9-98B8-C728C6EBDBB2}" type="slidenum">
              <a:rPr lang="en-US" smtClean="0"/>
              <a:t>31</a:t>
            </a:fld>
            <a:endParaRPr lang="en-US"/>
          </a:p>
        </p:txBody>
      </p:sp>
    </p:spTree>
    <p:extLst>
      <p:ext uri="{BB962C8B-B14F-4D97-AF65-F5344CB8AC3E}">
        <p14:creationId xmlns:p14="http://schemas.microsoft.com/office/powerpoint/2010/main" val="631819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E6218-1406-169A-9598-E55342412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B8475E-0563-AF6D-3786-CCC32C25BF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7C3D8-42B7-AAEB-AD5F-E267F6DCC9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637333-B285-88BC-CE1E-50C9BBE0BF82}"/>
              </a:ext>
            </a:extLst>
          </p:cNvPr>
          <p:cNvSpPr>
            <a:spLocks noGrp="1"/>
          </p:cNvSpPr>
          <p:nvPr>
            <p:ph type="sldNum" sz="quarter" idx="5"/>
          </p:nvPr>
        </p:nvSpPr>
        <p:spPr/>
        <p:txBody>
          <a:bodyPr/>
          <a:lstStyle/>
          <a:p>
            <a:fld id="{7B342CB9-5B0E-46E9-98B8-C728C6EBDBB2}" type="slidenum">
              <a:rPr lang="en-US" smtClean="0"/>
              <a:t>32</a:t>
            </a:fld>
            <a:endParaRPr lang="en-US"/>
          </a:p>
        </p:txBody>
      </p:sp>
    </p:spTree>
    <p:extLst>
      <p:ext uri="{BB962C8B-B14F-4D97-AF65-F5344CB8AC3E}">
        <p14:creationId xmlns:p14="http://schemas.microsoft.com/office/powerpoint/2010/main" val="7042422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D1229-8622-A2D6-DD42-F58A9D01B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7FA19D-B3A3-DE16-C26E-0E544C70A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F965C1-A207-E560-0021-8BEDDB47BC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E460B8-F35E-A8F4-DF89-55919E54E5D2}"/>
              </a:ext>
            </a:extLst>
          </p:cNvPr>
          <p:cNvSpPr>
            <a:spLocks noGrp="1"/>
          </p:cNvSpPr>
          <p:nvPr>
            <p:ph type="sldNum" sz="quarter" idx="5"/>
          </p:nvPr>
        </p:nvSpPr>
        <p:spPr/>
        <p:txBody>
          <a:bodyPr/>
          <a:lstStyle/>
          <a:p>
            <a:fld id="{7B342CB9-5B0E-46E9-98B8-C728C6EBDBB2}" type="slidenum">
              <a:rPr lang="en-US" smtClean="0"/>
              <a:t>33</a:t>
            </a:fld>
            <a:endParaRPr lang="en-US"/>
          </a:p>
        </p:txBody>
      </p:sp>
    </p:spTree>
    <p:extLst>
      <p:ext uri="{BB962C8B-B14F-4D97-AF65-F5344CB8AC3E}">
        <p14:creationId xmlns:p14="http://schemas.microsoft.com/office/powerpoint/2010/main" val="34509306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88E6C-A1B2-A5B1-6649-ED71196B1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E0478-3567-5322-BD4B-06D489688A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00DCC3-66A7-1936-B9B1-5FCE853F76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BF08D5-89B9-870A-ECC4-01A725CD07DA}"/>
              </a:ext>
            </a:extLst>
          </p:cNvPr>
          <p:cNvSpPr>
            <a:spLocks noGrp="1"/>
          </p:cNvSpPr>
          <p:nvPr>
            <p:ph type="sldNum" sz="quarter" idx="5"/>
          </p:nvPr>
        </p:nvSpPr>
        <p:spPr/>
        <p:txBody>
          <a:bodyPr/>
          <a:lstStyle/>
          <a:p>
            <a:fld id="{7B342CB9-5B0E-46E9-98B8-C728C6EBDBB2}" type="slidenum">
              <a:rPr lang="en-US" smtClean="0"/>
              <a:t>34</a:t>
            </a:fld>
            <a:endParaRPr lang="en-US"/>
          </a:p>
        </p:txBody>
      </p:sp>
    </p:spTree>
    <p:extLst>
      <p:ext uri="{BB962C8B-B14F-4D97-AF65-F5344CB8AC3E}">
        <p14:creationId xmlns:p14="http://schemas.microsoft.com/office/powerpoint/2010/main" val="20757514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72FC8-CACA-CC2C-5092-3692F7685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2D62E-9310-E3DA-75CF-253E418B7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72433-A1F2-2399-EC46-499C70A5ED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C60EDA-91A5-FBC7-F7C2-49B211EFFA44}"/>
              </a:ext>
            </a:extLst>
          </p:cNvPr>
          <p:cNvSpPr>
            <a:spLocks noGrp="1"/>
          </p:cNvSpPr>
          <p:nvPr>
            <p:ph type="sldNum" sz="quarter" idx="5"/>
          </p:nvPr>
        </p:nvSpPr>
        <p:spPr/>
        <p:txBody>
          <a:bodyPr/>
          <a:lstStyle/>
          <a:p>
            <a:fld id="{7B342CB9-5B0E-46E9-98B8-C728C6EBDBB2}" type="slidenum">
              <a:rPr lang="en-US" smtClean="0"/>
              <a:t>35</a:t>
            </a:fld>
            <a:endParaRPr lang="en-US"/>
          </a:p>
        </p:txBody>
      </p:sp>
    </p:spTree>
    <p:extLst>
      <p:ext uri="{BB962C8B-B14F-4D97-AF65-F5344CB8AC3E}">
        <p14:creationId xmlns:p14="http://schemas.microsoft.com/office/powerpoint/2010/main" val="10102819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A08D4-0324-C5BE-3BF7-123976F2B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9EF44-4182-B0E4-372E-6FBDEA82BF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7FE7F2-D021-D351-7E62-3D06FDF017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704204-FB99-24F0-42BF-5989EE9881DC}"/>
              </a:ext>
            </a:extLst>
          </p:cNvPr>
          <p:cNvSpPr>
            <a:spLocks noGrp="1"/>
          </p:cNvSpPr>
          <p:nvPr>
            <p:ph type="sldNum" sz="quarter" idx="5"/>
          </p:nvPr>
        </p:nvSpPr>
        <p:spPr/>
        <p:txBody>
          <a:bodyPr/>
          <a:lstStyle/>
          <a:p>
            <a:fld id="{7B342CB9-5B0E-46E9-98B8-C728C6EBDBB2}" type="slidenum">
              <a:rPr lang="en-US" smtClean="0"/>
              <a:t>36</a:t>
            </a:fld>
            <a:endParaRPr lang="en-US"/>
          </a:p>
        </p:txBody>
      </p:sp>
    </p:spTree>
    <p:extLst>
      <p:ext uri="{BB962C8B-B14F-4D97-AF65-F5344CB8AC3E}">
        <p14:creationId xmlns:p14="http://schemas.microsoft.com/office/powerpoint/2010/main" val="18922924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DD7A0-F6AD-BE89-1C65-B8EA6956F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F0791-0B92-866E-5A04-F4856154A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52E4E-C43E-FB2C-5239-CBED5077FE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2DF7E7-BA9B-C8FC-B202-9EC8F3FCC29E}"/>
              </a:ext>
            </a:extLst>
          </p:cNvPr>
          <p:cNvSpPr>
            <a:spLocks noGrp="1"/>
          </p:cNvSpPr>
          <p:nvPr>
            <p:ph type="sldNum" sz="quarter" idx="5"/>
          </p:nvPr>
        </p:nvSpPr>
        <p:spPr/>
        <p:txBody>
          <a:bodyPr/>
          <a:lstStyle/>
          <a:p>
            <a:fld id="{7B342CB9-5B0E-46E9-98B8-C728C6EBDBB2}" type="slidenum">
              <a:rPr lang="en-US" smtClean="0"/>
              <a:t>37</a:t>
            </a:fld>
            <a:endParaRPr lang="en-US"/>
          </a:p>
        </p:txBody>
      </p:sp>
    </p:spTree>
    <p:extLst>
      <p:ext uri="{BB962C8B-B14F-4D97-AF65-F5344CB8AC3E}">
        <p14:creationId xmlns:p14="http://schemas.microsoft.com/office/powerpoint/2010/main" val="30449617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063C1-64A9-177F-1140-41257B71C2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95FEB1-C51F-5CC8-C494-EB897B4A9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A5E18-420B-F77C-DF5B-A5BE03228A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5028ED-9D77-64BE-1F27-76869A49A93D}"/>
              </a:ext>
            </a:extLst>
          </p:cNvPr>
          <p:cNvSpPr>
            <a:spLocks noGrp="1"/>
          </p:cNvSpPr>
          <p:nvPr>
            <p:ph type="sldNum" sz="quarter" idx="5"/>
          </p:nvPr>
        </p:nvSpPr>
        <p:spPr/>
        <p:txBody>
          <a:bodyPr/>
          <a:lstStyle/>
          <a:p>
            <a:fld id="{7B342CB9-5B0E-46E9-98B8-C728C6EBDBB2}" type="slidenum">
              <a:rPr lang="en-US" smtClean="0"/>
              <a:t>38</a:t>
            </a:fld>
            <a:endParaRPr lang="en-US"/>
          </a:p>
        </p:txBody>
      </p:sp>
    </p:spTree>
    <p:extLst>
      <p:ext uri="{BB962C8B-B14F-4D97-AF65-F5344CB8AC3E}">
        <p14:creationId xmlns:p14="http://schemas.microsoft.com/office/powerpoint/2010/main" val="26221504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08F7E-5E2B-3C1C-11EF-4E9CE3919D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3D94B-B608-69BF-36C5-3545060337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7C23AB-4130-5302-C342-DC8EF536A3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F8781E-BB95-8479-A8D9-59831F1AC678}"/>
              </a:ext>
            </a:extLst>
          </p:cNvPr>
          <p:cNvSpPr>
            <a:spLocks noGrp="1"/>
          </p:cNvSpPr>
          <p:nvPr>
            <p:ph type="sldNum" sz="quarter" idx="5"/>
          </p:nvPr>
        </p:nvSpPr>
        <p:spPr/>
        <p:txBody>
          <a:bodyPr/>
          <a:lstStyle/>
          <a:p>
            <a:fld id="{7B342CB9-5B0E-46E9-98B8-C728C6EBDBB2}" type="slidenum">
              <a:rPr lang="en-US" smtClean="0"/>
              <a:t>39</a:t>
            </a:fld>
            <a:endParaRPr lang="en-US"/>
          </a:p>
        </p:txBody>
      </p:sp>
    </p:spTree>
    <p:extLst>
      <p:ext uri="{BB962C8B-B14F-4D97-AF65-F5344CB8AC3E}">
        <p14:creationId xmlns:p14="http://schemas.microsoft.com/office/powerpoint/2010/main" val="24189024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731E2-2684-43E5-E09C-B779C0E04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63C95-363C-00D1-2120-AEAC0CE266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D61A8-B1D6-17B6-97B0-8C24E525F7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3C6747-0188-6B92-C14B-944CCBE85946}"/>
              </a:ext>
            </a:extLst>
          </p:cNvPr>
          <p:cNvSpPr>
            <a:spLocks noGrp="1"/>
          </p:cNvSpPr>
          <p:nvPr>
            <p:ph type="sldNum" sz="quarter" idx="5"/>
          </p:nvPr>
        </p:nvSpPr>
        <p:spPr/>
        <p:txBody>
          <a:bodyPr/>
          <a:lstStyle/>
          <a:p>
            <a:fld id="{7B342CB9-5B0E-46E9-98B8-C728C6EBDBB2}" type="slidenum">
              <a:rPr lang="en-US" smtClean="0"/>
              <a:t>40</a:t>
            </a:fld>
            <a:endParaRPr lang="en-US"/>
          </a:p>
        </p:txBody>
      </p:sp>
    </p:spTree>
    <p:extLst>
      <p:ext uri="{BB962C8B-B14F-4D97-AF65-F5344CB8AC3E}">
        <p14:creationId xmlns:p14="http://schemas.microsoft.com/office/powerpoint/2010/main" val="18930945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80766-969F-4BAE-E607-2A087FC60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36915-40F6-28AC-983B-FEFFA10451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06E445-6B16-4C7F-1E05-33A9CEBFA3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D9A55B-B1F3-94BE-FBA5-B22A3EFB8ADE}"/>
              </a:ext>
            </a:extLst>
          </p:cNvPr>
          <p:cNvSpPr>
            <a:spLocks noGrp="1"/>
          </p:cNvSpPr>
          <p:nvPr>
            <p:ph type="sldNum" sz="quarter" idx="5"/>
          </p:nvPr>
        </p:nvSpPr>
        <p:spPr/>
        <p:txBody>
          <a:bodyPr/>
          <a:lstStyle/>
          <a:p>
            <a:fld id="{7B342CB9-5B0E-46E9-98B8-C728C6EBDBB2}" type="slidenum">
              <a:rPr lang="en-US" smtClean="0"/>
              <a:t>41</a:t>
            </a:fld>
            <a:endParaRPr lang="en-US"/>
          </a:p>
        </p:txBody>
      </p:sp>
    </p:spTree>
    <p:extLst>
      <p:ext uri="{BB962C8B-B14F-4D97-AF65-F5344CB8AC3E}">
        <p14:creationId xmlns:p14="http://schemas.microsoft.com/office/powerpoint/2010/main" val="30884164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1F3A6-C290-B134-C8E5-A01827DFE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31177-7BE5-5740-FD0D-94EDD429E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6AADA-FC65-5C11-CF77-E91EDEDF17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04106C-E6A2-BE53-F663-2D186832DBD8}"/>
              </a:ext>
            </a:extLst>
          </p:cNvPr>
          <p:cNvSpPr>
            <a:spLocks noGrp="1"/>
          </p:cNvSpPr>
          <p:nvPr>
            <p:ph type="sldNum" sz="quarter" idx="5"/>
          </p:nvPr>
        </p:nvSpPr>
        <p:spPr/>
        <p:txBody>
          <a:bodyPr/>
          <a:lstStyle/>
          <a:p>
            <a:fld id="{7B342CB9-5B0E-46E9-98B8-C728C6EBDBB2}" type="slidenum">
              <a:rPr lang="en-US" smtClean="0"/>
              <a:t>42</a:t>
            </a:fld>
            <a:endParaRPr lang="en-US"/>
          </a:p>
        </p:txBody>
      </p:sp>
    </p:spTree>
    <p:extLst>
      <p:ext uri="{BB962C8B-B14F-4D97-AF65-F5344CB8AC3E}">
        <p14:creationId xmlns:p14="http://schemas.microsoft.com/office/powerpoint/2010/main" val="4036422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hyperlink" Target="https://github.com/Abdou-fi/python/tree/main/2025-2026/Course_01" TargetMode="External"/><Relationship Id="rId4" Type="http://schemas.openxmlformats.org/officeDocument/2006/relationships/hyperlink" Target="https://www.python.org/"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hyperlink" Target="https://en.wikipedia.org/wiki/Guido_van_Rossum" TargetMode="Externa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hyperlink" Target="https://docs.python.org/3/"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hyperlink" Target="https://www.youtube.com/watch?v=37YPyDx7Zj8" TargetMode="External"/><Relationship Id="rId3" Type="http://schemas.openxmlformats.org/officeDocument/2006/relationships/hyperlink" Target="https://ocw.mit.edu/courses/6-0001-introduction-to-computer-science-and-programming-in-python-fall-2016/" TargetMode="External"/><Relationship Id="rId7" Type="http://schemas.openxmlformats.org/officeDocument/2006/relationships/hyperlink" Target="https://www.youtube.com/watch?v=9OgOay9bRU8" TargetMode="External"/><Relationship Id="rId2" Type="http://schemas.openxmlformats.org/officeDocument/2006/relationships/hyperlink" Target="https://www.youtube.com/watch?v=nLRL_NcnK-4" TargetMode="External"/><Relationship Id="rId1" Type="http://schemas.openxmlformats.org/officeDocument/2006/relationships/slideLayout" Target="../slideLayouts/slideLayout7.xml"/><Relationship Id="rId6" Type="http://schemas.openxmlformats.org/officeDocument/2006/relationships/hyperlink" Target="https://www.youtube.com/watch?v=ix9cRaBkVe0&amp;list=PLZPZq0r_RZON03iKBjYOsOKr1-TD7z2lH" TargetMode="External"/><Relationship Id="rId5" Type="http://schemas.openxmlformats.org/officeDocument/2006/relationships/hyperlink" Target="https://www.youtube.com/watch?v=eWRfhZUzrAc&amp;list=PLWKjhJtqVAbnqBxcdjVGgT3uVR10bzTEB" TargetMode="External"/><Relationship Id="rId4" Type="http://schemas.openxmlformats.org/officeDocument/2006/relationships/hyperlink" Target="https://www.youtube.com/watch?v=qgUd24sQjBc&amp;list=WL&amp;index=5"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jpeg"/><Relationship Id="rId4" Type="http://schemas.openxmlformats.org/officeDocument/2006/relationships/image" Target="../media/image23.png"/><Relationship Id="rId9"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1.jpg"/></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51.jpg"/></Relationships>
</file>

<file path=ppt/slides/_rels/slide28.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54.jpg"/><Relationship Id="rId4" Type="http://schemas.openxmlformats.org/officeDocument/2006/relationships/image" Target="../media/image53.jpg"/></Relationships>
</file>

<file path=ppt/slides/_rels/slide29.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www.digitalocean.com/community/tutorials/python-data-types#python-numeric-data-type"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hyperlink" Target="https://www.digitalocean.com/community/tutorials/python-data-types#3-python-list-data-type" TargetMode="External"/><Relationship Id="rId4" Type="http://schemas.openxmlformats.org/officeDocument/2006/relationships/hyperlink" Target="https://www.digitalocean.com/community/tutorials/python-data-types#python-string-data-type"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57.jpg"/></Relationships>
</file>

<file path=ppt/slides/_rels/slide32.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59.jpg"/></Relationships>
</file>

<file path=ppt/slides/_rels/slide33.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62.jpg"/><Relationship Id="rId4" Type="http://schemas.openxmlformats.org/officeDocument/2006/relationships/image" Target="../media/image61.jpg"/></Relationships>
</file>

<file path=ppt/slides/_rels/slide34.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66.jpg"/><Relationship Id="rId4" Type="http://schemas.openxmlformats.org/officeDocument/2006/relationships/image" Target="../media/image65.jpg"/></Relationships>
</file>

<file path=ppt/slides/_rels/slide37.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4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3" name="Group 3"/>
          <p:cNvGrpSpPr/>
          <p:nvPr/>
        </p:nvGrpSpPr>
        <p:grpSpPr>
          <a:xfrm>
            <a:off x="3241331" y="-14231"/>
            <a:ext cx="15046669" cy="3409063"/>
            <a:chOff x="0" y="0"/>
            <a:chExt cx="2360062" cy="528153"/>
          </a:xfrm>
        </p:grpSpPr>
        <p:sp>
          <p:nvSpPr>
            <p:cNvPr id="4" name="Freeform 4"/>
            <p:cNvSpPr/>
            <p:nvPr/>
          </p:nvSpPr>
          <p:spPr>
            <a:xfrm>
              <a:off x="0" y="0"/>
              <a:ext cx="2360062" cy="528153"/>
            </a:xfrm>
            <a:custGeom>
              <a:avLst/>
              <a:gdLst/>
              <a:ahLst/>
              <a:cxnLst/>
              <a:rect l="l" t="t" r="r" b="b"/>
              <a:pathLst>
                <a:path w="2360062" h="528153">
                  <a:moveTo>
                    <a:pt x="9148" y="0"/>
                  </a:moveTo>
                  <a:lnTo>
                    <a:pt x="2350914" y="0"/>
                  </a:lnTo>
                  <a:cubicBezTo>
                    <a:pt x="2353340" y="0"/>
                    <a:pt x="2355667" y="964"/>
                    <a:pt x="2357383" y="2679"/>
                  </a:cubicBezTo>
                  <a:cubicBezTo>
                    <a:pt x="2359098" y="4395"/>
                    <a:pt x="2360062" y="6722"/>
                    <a:pt x="2360062" y="9148"/>
                  </a:cubicBezTo>
                  <a:lnTo>
                    <a:pt x="2360062" y="519005"/>
                  </a:lnTo>
                  <a:cubicBezTo>
                    <a:pt x="2360062" y="521431"/>
                    <a:pt x="2359098" y="523758"/>
                    <a:pt x="2357383" y="525474"/>
                  </a:cubicBezTo>
                  <a:cubicBezTo>
                    <a:pt x="2355667" y="527189"/>
                    <a:pt x="2353340" y="528153"/>
                    <a:pt x="2350914" y="528153"/>
                  </a:cubicBezTo>
                  <a:lnTo>
                    <a:pt x="9148" y="528153"/>
                  </a:lnTo>
                  <a:cubicBezTo>
                    <a:pt x="6722" y="528153"/>
                    <a:pt x="4395" y="527189"/>
                    <a:pt x="2679" y="525474"/>
                  </a:cubicBezTo>
                  <a:cubicBezTo>
                    <a:pt x="964" y="523758"/>
                    <a:pt x="0" y="521431"/>
                    <a:pt x="0" y="519005"/>
                  </a:cubicBezTo>
                  <a:lnTo>
                    <a:pt x="0" y="9148"/>
                  </a:lnTo>
                  <a:cubicBezTo>
                    <a:pt x="0" y="6722"/>
                    <a:pt x="964" y="4395"/>
                    <a:pt x="2679" y="2679"/>
                  </a:cubicBezTo>
                  <a:cubicBezTo>
                    <a:pt x="4395" y="964"/>
                    <a:pt x="6722" y="0"/>
                    <a:pt x="9148" y="0"/>
                  </a:cubicBezTo>
                  <a:close/>
                </a:path>
              </a:pathLst>
            </a:custGeom>
            <a:blipFill>
              <a:blip r:embed="rId3"/>
              <a:stretch>
                <a:fillRect t="-98298" b="-98298"/>
              </a:stretch>
            </a:blipFill>
          </p:spPr>
          <p:txBody>
            <a:bodyPr/>
            <a:lstStyle/>
            <a:p>
              <a:endParaRPr lang="en-US"/>
            </a:p>
          </p:txBody>
        </p:sp>
      </p:grpSp>
      <p:sp>
        <p:nvSpPr>
          <p:cNvPr id="5" name="Freeform 5"/>
          <p:cNvSpPr/>
          <p:nvPr/>
        </p:nvSpPr>
        <p:spPr>
          <a:xfrm>
            <a:off x="17756910" y="9949588"/>
            <a:ext cx="407672" cy="233485"/>
          </a:xfrm>
          <a:custGeom>
            <a:avLst/>
            <a:gdLst/>
            <a:ahLst/>
            <a:cxnLst/>
            <a:rect l="l" t="t" r="r" b="b"/>
            <a:pathLst>
              <a:path w="407672" h="233485">
                <a:moveTo>
                  <a:pt x="0" y="0"/>
                </a:moveTo>
                <a:lnTo>
                  <a:pt x="407672" y="0"/>
                </a:lnTo>
                <a:lnTo>
                  <a:pt x="407672" y="233485"/>
                </a:lnTo>
                <a:lnTo>
                  <a:pt x="0" y="2334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0" y="0"/>
            <a:ext cx="4323178" cy="3394832"/>
          </a:xfrm>
          <a:custGeom>
            <a:avLst/>
            <a:gdLst/>
            <a:ahLst/>
            <a:cxnLst/>
            <a:rect l="l" t="t" r="r" b="b"/>
            <a:pathLst>
              <a:path w="4323178" h="3394832">
                <a:moveTo>
                  <a:pt x="0" y="0"/>
                </a:moveTo>
                <a:lnTo>
                  <a:pt x="4323178" y="0"/>
                </a:lnTo>
                <a:lnTo>
                  <a:pt x="4323178" y="3394832"/>
                </a:lnTo>
                <a:lnTo>
                  <a:pt x="0" y="3394832"/>
                </a:lnTo>
                <a:lnTo>
                  <a:pt x="0" y="0"/>
                </a:lnTo>
                <a:close/>
              </a:path>
            </a:pathLst>
          </a:custGeom>
          <a:blipFill>
            <a:blip r:embed="rId6"/>
            <a:stretch>
              <a:fillRect/>
            </a:stretch>
          </a:blipFill>
        </p:spPr>
        <p:txBody>
          <a:bodyPr/>
          <a:lstStyle/>
          <a:p>
            <a:endParaRPr lang="en-US"/>
          </a:p>
        </p:txBody>
      </p:sp>
      <p:sp>
        <p:nvSpPr>
          <p:cNvPr id="7" name="TextBox 7"/>
          <p:cNvSpPr txBox="1"/>
          <p:nvPr/>
        </p:nvSpPr>
        <p:spPr>
          <a:xfrm>
            <a:off x="137246" y="4142267"/>
            <a:ext cx="9795825" cy="2458302"/>
          </a:xfrm>
          <a:prstGeom prst="rect">
            <a:avLst/>
          </a:prstGeom>
        </p:spPr>
        <p:txBody>
          <a:bodyPr wrap="square" lIns="0" tIns="0" rIns="0" bIns="0" rtlCol="0" anchor="t">
            <a:spAutoFit/>
          </a:bodyPr>
          <a:lstStyle/>
          <a:p>
            <a:pPr marL="0" lvl="0" indent="0" algn="l">
              <a:lnSpc>
                <a:spcPts val="10110"/>
              </a:lnSpc>
            </a:pPr>
            <a:r>
              <a:rPr lang="en-US" sz="6600" b="1" i="1" spc="73" dirty="0">
                <a:solidFill>
                  <a:srgbClr val="FFC000"/>
                </a:solidFill>
                <a:latin typeface="Times New Roman" panose="02020603050405020304" pitchFamily="18" charset="0"/>
                <a:cs typeface="Times New Roman" panose="02020603050405020304" pitchFamily="18" charset="0"/>
                <a:sym typeface="Montserrat Bold"/>
              </a:rPr>
              <a:t>Python for beginners </a:t>
            </a:r>
          </a:p>
          <a:p>
            <a:pPr marL="0" lvl="0" indent="0" algn="l">
              <a:lnSpc>
                <a:spcPts val="10110"/>
              </a:lnSpc>
            </a:pPr>
            <a:r>
              <a:rPr lang="en-US" sz="6600" b="1" i="1" spc="73" dirty="0">
                <a:solidFill>
                  <a:srgbClr val="FFC000"/>
                </a:solidFill>
                <a:latin typeface="Times New Roman" panose="02020603050405020304" pitchFamily="18" charset="0"/>
                <a:cs typeface="Times New Roman" panose="02020603050405020304" pitchFamily="18" charset="0"/>
                <a:sym typeface="Montserrat Bold"/>
              </a:rPr>
              <a:t>with applications</a:t>
            </a:r>
          </a:p>
        </p:txBody>
      </p:sp>
      <p:sp>
        <p:nvSpPr>
          <p:cNvPr id="8" name="TextBox 8"/>
          <p:cNvSpPr txBox="1"/>
          <p:nvPr/>
        </p:nvSpPr>
        <p:spPr>
          <a:xfrm>
            <a:off x="10286999" y="3775704"/>
            <a:ext cx="7969045" cy="5649730"/>
          </a:xfrm>
          <a:prstGeom prst="rect">
            <a:avLst/>
          </a:prstGeom>
        </p:spPr>
        <p:txBody>
          <a:bodyPr wrap="square" lIns="0" tIns="0" rIns="0" bIns="0" rtlCol="0" anchor="t">
            <a:spAutoFit/>
          </a:bodyPr>
          <a:lstStyle/>
          <a:p>
            <a:pPr algn="just">
              <a:lnSpc>
                <a:spcPts val="3630"/>
              </a:lnSpc>
            </a:pPr>
            <a:r>
              <a:rPr lang="en-US" sz="2593" b="1" i="1" u="sng" spc="85" dirty="0">
                <a:solidFill>
                  <a:srgbClr val="FFC000"/>
                </a:solidFill>
                <a:latin typeface="Times New Roman" panose="02020603050405020304" pitchFamily="18" charset="0"/>
                <a:ea typeface="Open Sauce Bold Italics"/>
                <a:cs typeface="Times New Roman" panose="02020603050405020304" pitchFamily="18" charset="0"/>
                <a:sym typeface="Open Sauce Bold Italics"/>
              </a:rPr>
              <a:t>Lesson 01:</a:t>
            </a:r>
          </a:p>
          <a:p>
            <a:pPr algn="just">
              <a:lnSpc>
                <a:spcPts val="3630"/>
              </a:lnSpc>
            </a:pPr>
            <a:endParaRPr lang="en-US" sz="2593" b="1" i="1" u="sng" spc="85" dirty="0">
              <a:solidFill>
                <a:srgbClr val="FFFFFF"/>
              </a:solidFill>
              <a:latin typeface="Times New Roman" panose="02020603050405020304" pitchFamily="18" charset="0"/>
              <a:ea typeface="Open Sauce Bold Italics"/>
              <a:cs typeface="Times New Roman" panose="02020603050405020304" pitchFamily="18" charset="0"/>
              <a:sym typeface="Open Sauce Bold Italics"/>
            </a:endParaRPr>
          </a:p>
          <a:p>
            <a:pPr marL="559903" lvl="1" indent="-279952" algn="just">
              <a:lnSpc>
                <a:spcPts val="3630"/>
              </a:lnSpc>
              <a:buFont typeface="Arial"/>
              <a:buChar char="•"/>
            </a:pPr>
            <a:r>
              <a:rPr lang="en-US" sz="2593" spc="85" dirty="0">
                <a:solidFill>
                  <a:srgbClr val="FFFFFF"/>
                </a:solidFill>
                <a:latin typeface="Times New Roman" panose="02020603050405020304" pitchFamily="18" charset="0"/>
                <a:ea typeface="Open Sauce Light"/>
                <a:cs typeface="Times New Roman" panose="02020603050405020304" pitchFamily="18" charset="0"/>
                <a:sym typeface="Open Sauce Light"/>
              </a:rPr>
              <a:t>Introduction &amp; Background</a:t>
            </a:r>
          </a:p>
          <a:p>
            <a:pPr marL="559903" lvl="1" indent="-279952" algn="just">
              <a:lnSpc>
                <a:spcPts val="3630"/>
              </a:lnSpc>
              <a:buFont typeface="Arial"/>
              <a:buChar char="•"/>
            </a:pPr>
            <a:r>
              <a:rPr lang="en-US" sz="2593" spc="85" dirty="0">
                <a:solidFill>
                  <a:srgbClr val="FFFFFF"/>
                </a:solidFill>
                <a:latin typeface="Times New Roman" panose="02020603050405020304" pitchFamily="18" charset="0"/>
                <a:ea typeface="Open Sauce Light"/>
                <a:cs typeface="Times New Roman" panose="02020603050405020304" pitchFamily="18" charset="0"/>
                <a:sym typeface="Open Sauce Light"/>
              </a:rPr>
              <a:t>First installation</a:t>
            </a:r>
          </a:p>
          <a:p>
            <a:pPr marL="559903" lvl="1" indent="-279952" algn="just">
              <a:lnSpc>
                <a:spcPts val="3630"/>
              </a:lnSpc>
              <a:buFont typeface="Arial"/>
              <a:buChar char="•"/>
            </a:pPr>
            <a:r>
              <a:rPr lang="en-US" sz="2593" spc="85" dirty="0">
                <a:solidFill>
                  <a:srgbClr val="FFFFFF"/>
                </a:solidFill>
                <a:latin typeface="Times New Roman" panose="02020603050405020304" pitchFamily="18" charset="0"/>
                <a:ea typeface="Open Sauce Light"/>
                <a:cs typeface="Times New Roman" panose="02020603050405020304" pitchFamily="18" charset="0"/>
                <a:sym typeface="Open Sauce Light"/>
              </a:rPr>
              <a:t>Python Programs Editors (Console, text &amp; IDE)</a:t>
            </a:r>
          </a:p>
          <a:p>
            <a:pPr marL="559903" lvl="1" indent="-279952" algn="just">
              <a:lnSpc>
                <a:spcPts val="3630"/>
              </a:lnSpc>
              <a:buFont typeface="Arial"/>
              <a:buChar char="•"/>
            </a:pPr>
            <a:r>
              <a:rPr lang="en-US" sz="2593" spc="85" dirty="0">
                <a:solidFill>
                  <a:srgbClr val="FFFFFF"/>
                </a:solidFill>
                <a:latin typeface="Times New Roman" panose="02020603050405020304" pitchFamily="18" charset="0"/>
                <a:ea typeface="Open Sauce Light"/>
                <a:cs typeface="Times New Roman" panose="02020603050405020304" pitchFamily="18" charset="0"/>
                <a:sym typeface="Open Sauce Light"/>
              </a:rPr>
              <a:t>Write your first program</a:t>
            </a:r>
          </a:p>
          <a:p>
            <a:pPr marL="559903" lvl="1" indent="-279952" algn="just">
              <a:lnSpc>
                <a:spcPts val="3630"/>
              </a:lnSpc>
              <a:buFont typeface="Arial"/>
              <a:buChar char="•"/>
            </a:pPr>
            <a:r>
              <a:rPr lang="en-US" sz="2593" spc="85" dirty="0">
                <a:solidFill>
                  <a:srgbClr val="FFFFFF"/>
                </a:solidFill>
                <a:latin typeface="Times New Roman" panose="02020603050405020304" pitchFamily="18" charset="0"/>
                <a:ea typeface="Open Sauce Light"/>
                <a:cs typeface="Times New Roman" panose="02020603050405020304" pitchFamily="18" charset="0"/>
                <a:sym typeface="Open Sauce Light"/>
              </a:rPr>
              <a:t>Basic Data Types</a:t>
            </a:r>
          </a:p>
          <a:p>
            <a:pPr marL="559903" lvl="1" indent="-279952" algn="just">
              <a:lnSpc>
                <a:spcPts val="3630"/>
              </a:lnSpc>
              <a:buFont typeface="Arial"/>
              <a:buChar char="•"/>
            </a:pPr>
            <a:r>
              <a:rPr lang="en-US" sz="2593" spc="85" dirty="0">
                <a:solidFill>
                  <a:srgbClr val="FFFFFF"/>
                </a:solidFill>
                <a:latin typeface="Times New Roman" panose="02020603050405020304" pitchFamily="18" charset="0"/>
                <a:ea typeface="Open Sauce Light"/>
                <a:cs typeface="Times New Roman" panose="02020603050405020304" pitchFamily="18" charset="0"/>
                <a:sym typeface="Open Sauce Light"/>
              </a:rPr>
              <a:t>Input - Output</a:t>
            </a:r>
          </a:p>
          <a:p>
            <a:pPr marL="559903" lvl="1" indent="-279952" algn="just">
              <a:lnSpc>
                <a:spcPts val="3630"/>
              </a:lnSpc>
              <a:buFont typeface="Arial"/>
              <a:buChar char="•"/>
            </a:pPr>
            <a:r>
              <a:rPr lang="en-US" sz="2593" spc="85" dirty="0">
                <a:solidFill>
                  <a:srgbClr val="FFFFFF"/>
                </a:solidFill>
                <a:latin typeface="Times New Roman" panose="02020603050405020304" pitchFamily="18" charset="0"/>
                <a:ea typeface="Open Sauce Light"/>
                <a:cs typeface="Times New Roman" panose="02020603050405020304" pitchFamily="18" charset="0"/>
                <a:sym typeface="Open Sauce Light"/>
              </a:rPr>
              <a:t>Operations on strings &amp; numbers</a:t>
            </a:r>
          </a:p>
          <a:p>
            <a:pPr marL="559903" lvl="1" indent="-279952" algn="just">
              <a:lnSpc>
                <a:spcPts val="3630"/>
              </a:lnSpc>
              <a:buFont typeface="Arial"/>
              <a:buChar char="•"/>
            </a:pPr>
            <a:r>
              <a:rPr lang="en-US" sz="2593" spc="85" dirty="0">
                <a:solidFill>
                  <a:srgbClr val="FFFFFF"/>
                </a:solidFill>
                <a:latin typeface="Times New Roman" panose="02020603050405020304" pitchFamily="18" charset="0"/>
                <a:ea typeface="Open Sauce Light"/>
                <a:cs typeface="Times New Roman" panose="02020603050405020304" pitchFamily="18" charset="0"/>
                <a:sym typeface="Open Sauce Light"/>
              </a:rPr>
              <a:t>Data flows, Conditions &amp; Loops</a:t>
            </a:r>
          </a:p>
          <a:p>
            <a:pPr marL="559903" lvl="1" indent="-279952" algn="just">
              <a:lnSpc>
                <a:spcPts val="3630"/>
              </a:lnSpc>
              <a:buFont typeface="Arial"/>
              <a:buChar char="•"/>
            </a:pPr>
            <a:r>
              <a:rPr lang="en-US" sz="2593" spc="85" dirty="0">
                <a:solidFill>
                  <a:srgbClr val="FFFFFF"/>
                </a:solidFill>
                <a:latin typeface="Times New Roman" panose="02020603050405020304" pitchFamily="18" charset="0"/>
                <a:ea typeface="Open Sauce Light"/>
                <a:cs typeface="Times New Roman" panose="02020603050405020304" pitchFamily="18" charset="0"/>
                <a:sym typeface="Open Sauce Light"/>
              </a:rPr>
              <a:t>Mutable vs Immutable Data Types</a:t>
            </a:r>
          </a:p>
          <a:p>
            <a:pPr algn="just">
              <a:lnSpc>
                <a:spcPts val="3630"/>
              </a:lnSpc>
            </a:pPr>
            <a:endParaRPr lang="en-US" sz="2593" spc="85" dirty="0">
              <a:solidFill>
                <a:srgbClr val="FFFFFF"/>
              </a:solidFill>
              <a:latin typeface="Open Sauce Light"/>
              <a:ea typeface="Open Sauce Light"/>
              <a:cs typeface="Open Sauce Light"/>
              <a:sym typeface="Open Sauce Light"/>
            </a:endParaRPr>
          </a:p>
        </p:txBody>
      </p:sp>
      <p:sp>
        <p:nvSpPr>
          <p:cNvPr id="9" name="TextBox 9"/>
          <p:cNvSpPr txBox="1"/>
          <p:nvPr/>
        </p:nvSpPr>
        <p:spPr>
          <a:xfrm>
            <a:off x="137246" y="7614824"/>
            <a:ext cx="8735034" cy="1347741"/>
          </a:xfrm>
          <a:prstGeom prst="rect">
            <a:avLst/>
          </a:prstGeom>
        </p:spPr>
        <p:txBody>
          <a:bodyPr lIns="0" tIns="0" rIns="0" bIns="0" rtlCol="0" anchor="t">
            <a:spAutoFit/>
          </a:bodyPr>
          <a:lstStyle/>
          <a:p>
            <a:pPr algn="just">
              <a:lnSpc>
                <a:spcPts val="3641"/>
              </a:lnSpc>
            </a:pPr>
            <a:r>
              <a:rPr lang="en-US" sz="2601" i="1" spc="85" dirty="0">
                <a:solidFill>
                  <a:srgbClr val="FFFFFF"/>
                </a:solidFill>
                <a:latin typeface="Times New Roman" panose="02020603050405020304" pitchFamily="18" charset="0"/>
                <a:ea typeface="Open Sauce Light Italics"/>
                <a:cs typeface="Times New Roman" panose="02020603050405020304" pitchFamily="18" charset="0"/>
                <a:sym typeface="Open Sauce Light Italics"/>
              </a:rPr>
              <a:t>Write code from scratch in a clear &amp; concise way, through a complete basic course.</a:t>
            </a:r>
          </a:p>
          <a:p>
            <a:pPr algn="just">
              <a:lnSpc>
                <a:spcPts val="3641"/>
              </a:lnSpc>
            </a:pPr>
            <a:r>
              <a:rPr lang="en-US" sz="2601" i="1" spc="85" dirty="0">
                <a:solidFill>
                  <a:srgbClr val="FFFFFF"/>
                </a:solidFill>
                <a:latin typeface="Times New Roman" panose="02020603050405020304" pitchFamily="18" charset="0"/>
                <a:ea typeface="Open Sauce Light Italics"/>
                <a:cs typeface="Times New Roman" panose="02020603050405020304" pitchFamily="18" charset="0"/>
                <a:sym typeface="Open Sauce Light Italics"/>
              </a:rPr>
              <a:t>From beginners to intermediate.</a:t>
            </a:r>
          </a:p>
        </p:txBody>
      </p:sp>
      <p:sp>
        <p:nvSpPr>
          <p:cNvPr id="10" name="TextBox 10"/>
          <p:cNvSpPr txBox="1"/>
          <p:nvPr/>
        </p:nvSpPr>
        <p:spPr>
          <a:xfrm>
            <a:off x="1284972" y="9637597"/>
            <a:ext cx="15469320" cy="363113"/>
          </a:xfrm>
          <a:prstGeom prst="rect">
            <a:avLst/>
          </a:prstGeom>
        </p:spPr>
        <p:txBody>
          <a:bodyPr lIns="0" tIns="0" rIns="0" bIns="0" rtlCol="0" anchor="t">
            <a:spAutoFit/>
          </a:bodyPr>
          <a:lstStyle/>
          <a:p>
            <a:pPr algn="ctr">
              <a:lnSpc>
                <a:spcPts val="3133"/>
              </a:lnSpc>
            </a:pPr>
            <a:r>
              <a:rPr lang="en-US" sz="2238" i="1" spc="73" dirty="0">
                <a:solidFill>
                  <a:srgbClr val="FFFFFF"/>
                </a:solidFill>
                <a:latin typeface="Times New Roman" panose="02020603050405020304" pitchFamily="18" charset="0"/>
                <a:ea typeface="Open Sauce Light Italics"/>
                <a:cs typeface="Times New Roman" panose="02020603050405020304" pitchFamily="18" charset="0"/>
                <a:sym typeface="Open Sauce Light Italics"/>
              </a:rPr>
              <a:t>Abdesselam Filali </a:t>
            </a:r>
            <a:r>
              <a:rPr lang="en-US" sz="2238" i="1" spc="73" dirty="0">
                <a:solidFill>
                  <a:srgbClr val="FFC000"/>
                </a:solidFill>
                <a:latin typeface="Times New Roman" panose="02020603050405020304" pitchFamily="18" charset="0"/>
                <a:cs typeface="Times New Roman" panose="02020603050405020304" pitchFamily="18" charset="0"/>
                <a:sym typeface="Open Sauce Light Italics"/>
              </a:rPr>
              <a:t>2025-11-26  19h00 </a:t>
            </a:r>
            <a:r>
              <a:rPr lang="en-US" sz="2238" i="1" spc="73">
                <a:solidFill>
                  <a:srgbClr val="FFFFFF"/>
                </a:solidFill>
                <a:latin typeface="Times New Roman" panose="02020603050405020304" pitchFamily="18" charset="0"/>
                <a:ea typeface="Open Sauce Light Italics"/>
                <a:cs typeface="Times New Roman" panose="02020603050405020304" pitchFamily="18" charset="0"/>
                <a:sym typeface="Open Sauce Light Italics"/>
              </a:rPr>
              <a:t>Algiers time</a:t>
            </a:r>
            <a:endParaRPr lang="en-US" sz="2238" i="1" spc="73" dirty="0">
              <a:solidFill>
                <a:srgbClr val="FFFFFF"/>
              </a:solidFill>
              <a:latin typeface="Times New Roman" panose="02020603050405020304" pitchFamily="18" charset="0"/>
              <a:ea typeface="Open Sauce Light Italics"/>
              <a:cs typeface="Times New Roman" panose="02020603050405020304" pitchFamily="18" charset="0"/>
              <a:sym typeface="Open Sauce Light Italics"/>
            </a:endParaRPr>
          </a:p>
        </p:txBody>
      </p:sp>
      <p:pic>
        <p:nvPicPr>
          <p:cNvPr id="11" name="Graphic 10">
            <a:extLst>
              <a:ext uri="{FF2B5EF4-FFF2-40B4-BE49-F238E27FC236}">
                <a16:creationId xmlns:a16="http://schemas.microsoft.com/office/drawing/2014/main" id="{26046B1E-E099-653F-B5DC-2C1FCFEA527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454341" y="275270"/>
            <a:ext cx="2710241" cy="29746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Freeform 8"/>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2"/>
            <a:stretch>
              <a:fillRect/>
            </a:stretch>
          </a:blipFill>
        </p:spPr>
        <p:txBody>
          <a:bodyPr/>
          <a:lstStyle/>
          <a:p>
            <a:endParaRPr lang="en-US"/>
          </a:p>
        </p:txBody>
      </p:sp>
      <p:grpSp>
        <p:nvGrpSpPr>
          <p:cNvPr id="9" name="Group 9"/>
          <p:cNvGrpSpPr/>
          <p:nvPr/>
        </p:nvGrpSpPr>
        <p:grpSpPr>
          <a:xfrm>
            <a:off x="1" y="775916"/>
            <a:ext cx="18745200" cy="3087508"/>
            <a:chOff x="0" y="0"/>
            <a:chExt cx="2907636" cy="551944"/>
          </a:xfrm>
        </p:grpSpPr>
        <p:sp>
          <p:nvSpPr>
            <p:cNvPr id="10" name="Freeform 10"/>
            <p:cNvSpPr/>
            <p:nvPr/>
          </p:nvSpPr>
          <p:spPr>
            <a:xfrm>
              <a:off x="0" y="0"/>
              <a:ext cx="2907636" cy="551944"/>
            </a:xfrm>
            <a:custGeom>
              <a:avLst/>
              <a:gdLst/>
              <a:ahLst/>
              <a:cxnLst/>
              <a:rect l="l" t="t" r="r" b="b"/>
              <a:pathLst>
                <a:path w="2907636" h="551944">
                  <a:moveTo>
                    <a:pt x="7425" y="0"/>
                  </a:moveTo>
                  <a:lnTo>
                    <a:pt x="2900211" y="0"/>
                  </a:lnTo>
                  <a:cubicBezTo>
                    <a:pt x="2904312" y="0"/>
                    <a:pt x="2907636" y="3324"/>
                    <a:pt x="2907636" y="7425"/>
                  </a:cubicBezTo>
                  <a:lnTo>
                    <a:pt x="2907636" y="544519"/>
                  </a:lnTo>
                  <a:cubicBezTo>
                    <a:pt x="2907636" y="548619"/>
                    <a:pt x="2904312" y="551944"/>
                    <a:pt x="2900211" y="551944"/>
                  </a:cubicBezTo>
                  <a:lnTo>
                    <a:pt x="7425" y="551944"/>
                  </a:lnTo>
                  <a:cubicBezTo>
                    <a:pt x="3324" y="551944"/>
                    <a:pt x="0" y="548619"/>
                    <a:pt x="0" y="544519"/>
                  </a:cubicBezTo>
                  <a:lnTo>
                    <a:pt x="0" y="7425"/>
                  </a:lnTo>
                  <a:cubicBezTo>
                    <a:pt x="0" y="3324"/>
                    <a:pt x="3324" y="0"/>
                    <a:pt x="7425" y="0"/>
                  </a:cubicBezTo>
                  <a:close/>
                </a:path>
              </a:pathLst>
            </a:custGeom>
            <a:blipFill>
              <a:blip r:embed="rId3"/>
              <a:stretch>
                <a:fillRect t="-124831" b="-124831"/>
              </a:stretch>
            </a:blipFill>
          </p:spPr>
          <p:txBody>
            <a:bodyPr/>
            <a:lstStyle/>
            <a:p>
              <a:endParaRPr lang="en-US"/>
            </a:p>
          </p:txBody>
        </p:sp>
      </p:grpSp>
      <p:sp>
        <p:nvSpPr>
          <p:cNvPr id="15" name="TextBox 15"/>
          <p:cNvSpPr txBox="1"/>
          <p:nvPr/>
        </p:nvSpPr>
        <p:spPr>
          <a:xfrm>
            <a:off x="4038600" y="4818775"/>
            <a:ext cx="4137626" cy="2962349"/>
          </a:xfrm>
          <a:prstGeom prst="rect">
            <a:avLst/>
          </a:prstGeom>
        </p:spPr>
        <p:txBody>
          <a:bodyPr wrap="square" lIns="0" tIns="0" rIns="0" bIns="0" rtlCol="0" anchor="t">
            <a:spAutoFit/>
          </a:bodyPr>
          <a:lstStyle/>
          <a:p>
            <a:pPr algn="just">
              <a:lnSpc>
                <a:spcPts val="7704"/>
              </a:lnSpc>
            </a:pPr>
            <a:r>
              <a:rPr lang="en-US" sz="4000" b="1" i="1" dirty="0">
                <a:solidFill>
                  <a:schemeClr val="bg1"/>
                </a:solidFill>
                <a:latin typeface="Times New Roman" panose="02020603050405020304" pitchFamily="18" charset="0"/>
                <a:cs typeface="Times New Roman" panose="02020603050405020304" pitchFamily="18" charset="0"/>
              </a:rPr>
              <a:t>Materials needed (Python Course 01)</a:t>
            </a:r>
            <a:endParaRPr lang="en-US" sz="4000" b="1" i="1" dirty="0">
              <a:solidFill>
                <a:srgbClr val="FFFF00"/>
              </a:solidFill>
              <a:latin typeface="Times New Roman" panose="02020603050405020304" pitchFamily="18" charset="0"/>
              <a:cs typeface="Times New Roman" panose="02020603050405020304" pitchFamily="18" charset="0"/>
            </a:endParaRPr>
          </a:p>
          <a:p>
            <a:pPr marL="0" lvl="0" indent="0" algn="just">
              <a:lnSpc>
                <a:spcPts val="7704"/>
              </a:lnSpc>
            </a:pPr>
            <a:endParaRPr lang="en-US" sz="6641" b="1" spc="-312" dirty="0">
              <a:solidFill>
                <a:srgbClr val="FFFFFF"/>
              </a:solidFill>
              <a:latin typeface="Montserrat Bold"/>
              <a:ea typeface="Montserrat Bold"/>
              <a:cs typeface="Montserrat Bold"/>
              <a:sym typeface="Montserrat Bold"/>
            </a:endParaRPr>
          </a:p>
        </p:txBody>
      </p:sp>
      <p:sp>
        <p:nvSpPr>
          <p:cNvPr id="16" name="TextBox 16"/>
          <p:cNvSpPr txBox="1"/>
          <p:nvPr/>
        </p:nvSpPr>
        <p:spPr>
          <a:xfrm>
            <a:off x="8686800" y="4542955"/>
            <a:ext cx="8610600" cy="4062651"/>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dirty="0">
                <a:solidFill>
                  <a:schemeClr val="bg1"/>
                </a:solidFill>
                <a:latin typeface="+mj-lt"/>
              </a:rPr>
              <a:t>No special programming background needed.</a:t>
            </a:r>
          </a:p>
          <a:p>
            <a:pPr marL="342900" indent="-342900">
              <a:buFont typeface="Arial" panose="020B0604020202020204" pitchFamily="34" charset="0"/>
              <a:buChar char="•"/>
            </a:pPr>
            <a:r>
              <a:rPr lang="en-US" sz="2400" dirty="0">
                <a:solidFill>
                  <a:schemeClr val="bg1"/>
                </a:solidFill>
                <a:latin typeface="+mj-lt"/>
              </a:rPr>
              <a:t>Internet access</a:t>
            </a:r>
          </a:p>
          <a:p>
            <a:pPr marL="342900" indent="-342900">
              <a:buFont typeface="Arial" panose="020B0604020202020204" pitchFamily="34" charset="0"/>
              <a:buChar char="•"/>
            </a:pPr>
            <a:r>
              <a:rPr lang="en-US" sz="2400" dirty="0">
                <a:solidFill>
                  <a:schemeClr val="bg1"/>
                </a:solidFill>
                <a:latin typeface="+mj-lt"/>
              </a:rPr>
              <a:t>A clean installation of Python (see </a:t>
            </a:r>
            <a:r>
              <a:rPr lang="en-US" sz="2400" dirty="0">
                <a:solidFill>
                  <a:schemeClr val="bg1"/>
                </a:solidFill>
                <a:latin typeface="+mj-lt"/>
                <a:hlinkClick r:id="rId4"/>
              </a:rPr>
              <a:t>https://www.python.org</a:t>
            </a:r>
            <a:r>
              <a:rPr lang="en-US" sz="2400" dirty="0">
                <a:solidFill>
                  <a:schemeClr val="bg1"/>
                </a:solidFill>
                <a:latin typeface="+mj-lt"/>
              </a:rPr>
              <a:t> Download &amp; install the latest version)</a:t>
            </a:r>
          </a:p>
          <a:p>
            <a:pPr marL="342900" indent="-342900">
              <a:buFont typeface="Arial" panose="020B0604020202020204" pitchFamily="34" charset="0"/>
              <a:buChar char="•"/>
            </a:pPr>
            <a:r>
              <a:rPr lang="en-US" sz="2400" dirty="0">
                <a:solidFill>
                  <a:schemeClr val="bg1"/>
                </a:solidFill>
                <a:latin typeface="+mj-lt"/>
              </a:rPr>
              <a:t>A text editor (notepad, notepad++, </a:t>
            </a:r>
            <a:r>
              <a:rPr lang="en-US" sz="2400" dirty="0" err="1">
                <a:solidFill>
                  <a:schemeClr val="bg1"/>
                </a:solidFill>
                <a:latin typeface="+mj-lt"/>
              </a:rPr>
              <a:t>Sublimetext</a:t>
            </a:r>
            <a:r>
              <a:rPr lang="en-US" sz="2400" dirty="0">
                <a:solidFill>
                  <a:schemeClr val="bg1"/>
                </a:solidFill>
                <a:latin typeface="+mj-lt"/>
              </a:rPr>
              <a:t>, …)</a:t>
            </a:r>
          </a:p>
          <a:p>
            <a:pPr marL="342900" indent="-342900">
              <a:buFont typeface="Arial" panose="020B0604020202020204" pitchFamily="34" charset="0"/>
              <a:buChar char="•"/>
            </a:pPr>
            <a:r>
              <a:rPr lang="en-US" sz="2400" dirty="0">
                <a:solidFill>
                  <a:schemeClr val="bg1"/>
                </a:solidFill>
                <a:latin typeface="+mj-lt"/>
              </a:rPr>
              <a:t>Visual Studio Code, </a:t>
            </a:r>
            <a:r>
              <a:rPr lang="en-US" sz="2400" dirty="0" err="1">
                <a:solidFill>
                  <a:schemeClr val="bg1"/>
                </a:solidFill>
                <a:latin typeface="+mj-lt"/>
              </a:rPr>
              <a:t>Pycharm</a:t>
            </a:r>
            <a:r>
              <a:rPr lang="en-US" sz="2400" dirty="0">
                <a:solidFill>
                  <a:schemeClr val="bg1"/>
                </a:solidFill>
                <a:latin typeface="+mj-lt"/>
              </a:rPr>
              <a:t> or Anaconda</a:t>
            </a:r>
          </a:p>
          <a:p>
            <a:pPr marL="342900" indent="-342900">
              <a:buFont typeface="Arial" panose="020B0604020202020204" pitchFamily="34" charset="0"/>
              <a:buChar char="•"/>
            </a:pPr>
            <a:r>
              <a:rPr lang="en-US" sz="2400" dirty="0" err="1">
                <a:solidFill>
                  <a:schemeClr val="bg1"/>
                </a:solidFill>
                <a:latin typeface="+mj-lt"/>
              </a:rPr>
              <a:t>Jupyternotes</a:t>
            </a:r>
            <a:r>
              <a:rPr lang="en-US" sz="2400" dirty="0">
                <a:solidFill>
                  <a:schemeClr val="bg1"/>
                </a:solidFill>
                <a:latin typeface="+mj-lt"/>
              </a:rPr>
              <a:t> or </a:t>
            </a:r>
            <a:r>
              <a:rPr lang="en-US" sz="2400" dirty="0" err="1">
                <a:solidFill>
                  <a:schemeClr val="bg1"/>
                </a:solidFill>
                <a:latin typeface="+mj-lt"/>
              </a:rPr>
              <a:t>Jupyterlabs</a:t>
            </a:r>
            <a:endParaRPr lang="en-US" sz="2400" dirty="0">
              <a:solidFill>
                <a:schemeClr val="bg1"/>
              </a:solidFill>
              <a:latin typeface="+mj-lt"/>
            </a:endParaRPr>
          </a:p>
          <a:p>
            <a:pPr marL="342900" indent="-342900">
              <a:buFont typeface="Arial" panose="020B0604020202020204" pitchFamily="34" charset="0"/>
              <a:buChar char="•"/>
            </a:pPr>
            <a:endParaRPr lang="en-US" sz="2400" dirty="0">
              <a:solidFill>
                <a:schemeClr val="bg1"/>
              </a:solidFill>
              <a:latin typeface="+mj-lt"/>
            </a:endParaRPr>
          </a:p>
          <a:p>
            <a:pPr marL="342900" indent="-342900">
              <a:buFont typeface="Arial" panose="020B0604020202020204" pitchFamily="34" charset="0"/>
              <a:buChar char="•"/>
            </a:pPr>
            <a:r>
              <a:rPr lang="en-US" sz="2400" dirty="0">
                <a:solidFill>
                  <a:schemeClr val="bg1"/>
                </a:solidFill>
                <a:latin typeface="+mj-lt"/>
              </a:rPr>
              <a:t>The presentation and the code used will be available on </a:t>
            </a:r>
          </a:p>
          <a:p>
            <a:r>
              <a:rPr lang="en-US" sz="2400" dirty="0">
                <a:solidFill>
                  <a:schemeClr val="bg1"/>
                </a:solidFill>
                <a:latin typeface="+mj-lt"/>
                <a:hlinkClick r:id="rId5"/>
              </a:rPr>
              <a:t>https://github.com/Abdou-fi/python/tree/main/2025-2026/Course_01</a:t>
            </a:r>
            <a:endParaRPr lang="en-US" sz="2400" dirty="0">
              <a:solidFill>
                <a:schemeClr val="bg1"/>
              </a:solidFill>
              <a:latin typeface="+mj-lt"/>
            </a:endParaRPr>
          </a:p>
        </p:txBody>
      </p:sp>
      <p:sp>
        <p:nvSpPr>
          <p:cNvPr id="20" name="TextBox 15">
            <a:extLst>
              <a:ext uri="{FF2B5EF4-FFF2-40B4-BE49-F238E27FC236}">
                <a16:creationId xmlns:a16="http://schemas.microsoft.com/office/drawing/2014/main" id="{C0ED7C86-15D7-BB96-EE2E-8199AB9F8906}"/>
              </a:ext>
            </a:extLst>
          </p:cNvPr>
          <p:cNvSpPr txBox="1"/>
          <p:nvPr/>
        </p:nvSpPr>
        <p:spPr>
          <a:xfrm>
            <a:off x="152400" y="190500"/>
            <a:ext cx="6629400" cy="317779"/>
          </a:xfrm>
          <a:prstGeom prst="rect">
            <a:avLst/>
          </a:prstGeom>
        </p:spPr>
        <p:txBody>
          <a:bodyPr wrap="square" lIns="0" tIns="0" rIns="0" bIns="0" rtlCol="0" anchor="t">
            <a:spAutoFit/>
          </a:bodyPr>
          <a:lstStyle/>
          <a:p>
            <a:pPr marL="0" lvl="0" indent="0" algn="l">
              <a:lnSpc>
                <a:spcPts val="2640"/>
              </a:lnSpc>
            </a:pPr>
            <a:r>
              <a:rPr lang="en-US" sz="2000" b="1" spc="4" dirty="0">
                <a:solidFill>
                  <a:srgbClr val="FFFFFF"/>
                </a:solidFill>
                <a:latin typeface="+mj-lt"/>
                <a:ea typeface="Open Sauce Bold"/>
                <a:cs typeface="Open Sauce Bold"/>
                <a:sym typeface="Open Sauce Bold"/>
              </a:rPr>
              <a:t>Python for Beginners with applications – Lesson 01</a:t>
            </a:r>
          </a:p>
        </p:txBody>
      </p:sp>
      <p:sp>
        <p:nvSpPr>
          <p:cNvPr id="21" name="AutoShape 16">
            <a:extLst>
              <a:ext uri="{FF2B5EF4-FFF2-40B4-BE49-F238E27FC236}">
                <a16:creationId xmlns:a16="http://schemas.microsoft.com/office/drawing/2014/main" id="{16385E31-4813-DC8A-1B69-158CD1762535}"/>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3" name="Freeform 7">
            <a:extLst>
              <a:ext uri="{FF2B5EF4-FFF2-40B4-BE49-F238E27FC236}">
                <a16:creationId xmlns:a16="http://schemas.microsoft.com/office/drawing/2014/main" id="{6FB32CD2-0215-600A-1F66-60475EC6131E}"/>
              </a:ext>
            </a:extLst>
          </p:cNvPr>
          <p:cNvSpPr/>
          <p:nvPr/>
        </p:nvSpPr>
        <p:spPr>
          <a:xfrm>
            <a:off x="-9982200" y="-2063137"/>
            <a:ext cx="14791847"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6"/>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D8EA6AF-938A-F8E7-CCB8-85153F87BB32}"/>
            </a:ext>
          </a:extLst>
        </p:cNvPr>
        <p:cNvGrpSpPr/>
        <p:nvPr/>
      </p:nvGrpSpPr>
      <p:grpSpPr>
        <a:xfrm>
          <a:off x="0" y="0"/>
          <a:ext cx="0" cy="0"/>
          <a:chOff x="0" y="0"/>
          <a:chExt cx="0" cy="0"/>
        </a:xfrm>
      </p:grpSpPr>
      <p:sp>
        <p:nvSpPr>
          <p:cNvPr id="11" name="TextBox 11">
            <a:extLst>
              <a:ext uri="{FF2B5EF4-FFF2-40B4-BE49-F238E27FC236}">
                <a16:creationId xmlns:a16="http://schemas.microsoft.com/office/drawing/2014/main" id="{76A7353C-B103-6C69-401A-38A59F2EC2F3}"/>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12" name="TextBox 12">
            <a:extLst>
              <a:ext uri="{FF2B5EF4-FFF2-40B4-BE49-F238E27FC236}">
                <a16:creationId xmlns:a16="http://schemas.microsoft.com/office/drawing/2014/main" id="{7E4BD126-F16E-97A5-D75D-54CAA654EC97}"/>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14" name="TextBox 14">
            <a:extLst>
              <a:ext uri="{FF2B5EF4-FFF2-40B4-BE49-F238E27FC236}">
                <a16:creationId xmlns:a16="http://schemas.microsoft.com/office/drawing/2014/main" id="{C3ED6CBB-B36A-267C-3FB2-019C972D0BDE}"/>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16" name="TextBox 16">
            <a:extLst>
              <a:ext uri="{FF2B5EF4-FFF2-40B4-BE49-F238E27FC236}">
                <a16:creationId xmlns:a16="http://schemas.microsoft.com/office/drawing/2014/main" id="{6FB649F6-FC12-A9A5-24EC-507847BCB8E0}"/>
              </a:ext>
            </a:extLst>
          </p:cNvPr>
          <p:cNvSpPr txBox="1"/>
          <p:nvPr/>
        </p:nvSpPr>
        <p:spPr>
          <a:xfrm>
            <a:off x="609600" y="800107"/>
            <a:ext cx="17297400" cy="3508653"/>
          </a:xfrm>
          <a:prstGeom prst="rect">
            <a:avLst/>
          </a:prstGeom>
        </p:spPr>
        <p:txBody>
          <a:bodyPr wrap="square" lIns="0" tIns="0" rIns="0" bIns="0" rtlCol="0" anchor="t">
            <a:spAutoFit/>
          </a:bodyPr>
          <a:lstStyle/>
          <a:p>
            <a:r>
              <a:rPr lang="en-US" sz="3200" b="1" dirty="0">
                <a:solidFill>
                  <a:srgbClr val="FFFF00"/>
                </a:solidFill>
                <a:latin typeface="+mj-lt"/>
                <a:hlinkClick r:id="rId2" tooltip="Guido van Rossum">
                  <a:extLst>
                    <a:ext uri="{A12FA001-AC4F-418D-AE19-62706E023703}">
                      <ahyp:hlinkClr xmlns:ahyp="http://schemas.microsoft.com/office/drawing/2018/hyperlinkcolor" val="tx"/>
                    </a:ext>
                  </a:extLst>
                </a:hlinkClick>
              </a:rPr>
              <a:t>Guido van Rossum</a:t>
            </a:r>
            <a:r>
              <a:rPr lang="en-US" sz="3200" b="1" dirty="0">
                <a:solidFill>
                  <a:srgbClr val="FFFF00"/>
                </a:solidFill>
                <a:latin typeface="+mj-lt"/>
              </a:rPr>
              <a:t> </a:t>
            </a:r>
            <a:r>
              <a:rPr lang="en-US" sz="3200" dirty="0">
                <a:solidFill>
                  <a:schemeClr val="bg1"/>
                </a:solidFill>
                <a:latin typeface="+mj-lt"/>
              </a:rPr>
              <a:t>began working on Python in the late 1980s as a successor to the </a:t>
            </a:r>
            <a:r>
              <a:rPr lang="en-US" sz="3200" b="1" dirty="0">
                <a:solidFill>
                  <a:srgbClr val="FFFF00"/>
                </a:solidFill>
                <a:latin typeface="+mj-lt"/>
              </a:rPr>
              <a:t>ABC</a:t>
            </a:r>
            <a:r>
              <a:rPr lang="en-US" sz="3200" dirty="0">
                <a:solidFill>
                  <a:schemeClr val="bg1"/>
                </a:solidFill>
                <a:latin typeface="+mj-lt"/>
              </a:rPr>
              <a:t> programming language and first released it in 1991 as Python 0.9.0.</a:t>
            </a:r>
            <a:r>
              <a:rPr lang="en-US" sz="3200" baseline="30000" dirty="0">
                <a:solidFill>
                  <a:schemeClr val="bg1"/>
                </a:solidFill>
                <a:latin typeface="+mj-lt"/>
              </a:rPr>
              <a:t> </a:t>
            </a:r>
            <a:r>
              <a:rPr lang="en-US" sz="3200" dirty="0">
                <a:solidFill>
                  <a:schemeClr val="bg1"/>
                </a:solidFill>
                <a:latin typeface="+mj-lt"/>
              </a:rPr>
              <a:t>Python 2.0 was released in 2000. Python 3.0, released in 2008, was a major revision not completely </a:t>
            </a:r>
            <a:r>
              <a:rPr lang="en-US" sz="3200" b="1" dirty="0">
                <a:solidFill>
                  <a:srgbClr val="FFFF00"/>
                </a:solidFill>
                <a:latin typeface="+mj-lt"/>
              </a:rPr>
              <a:t>backward-compatible</a:t>
            </a:r>
            <a:r>
              <a:rPr lang="en-US" sz="3200" dirty="0">
                <a:solidFill>
                  <a:schemeClr val="bg1"/>
                </a:solidFill>
                <a:latin typeface="+mj-lt"/>
              </a:rPr>
              <a:t> with earlier versions. Python </a:t>
            </a:r>
            <a:r>
              <a:rPr lang="en-US" sz="3600" dirty="0">
                <a:solidFill>
                  <a:schemeClr val="bg1"/>
                </a:solidFill>
                <a:latin typeface="+mj-lt"/>
              </a:rPr>
              <a:t>2.7.18</a:t>
            </a:r>
            <a:r>
              <a:rPr lang="en-US" sz="3200" dirty="0">
                <a:solidFill>
                  <a:schemeClr val="bg1"/>
                </a:solidFill>
                <a:latin typeface="+mj-lt"/>
              </a:rPr>
              <a:t>, released in 2020, was the last release of Python 2.</a:t>
            </a:r>
          </a:p>
          <a:p>
            <a:endParaRPr lang="en-US" sz="3200" dirty="0">
              <a:solidFill>
                <a:schemeClr val="bg1"/>
              </a:solidFill>
              <a:latin typeface="+mj-lt"/>
            </a:endParaRPr>
          </a:p>
          <a:p>
            <a:r>
              <a:rPr lang="en-US" sz="3200" dirty="0">
                <a:solidFill>
                  <a:schemeClr val="bg1"/>
                </a:solidFill>
                <a:latin typeface="+mj-lt"/>
              </a:rPr>
              <a:t>Python consistently ranks as one of the most popular programming languages and has gained widespread use in he </a:t>
            </a:r>
            <a:r>
              <a:rPr lang="en-US" sz="3200" b="1" dirty="0">
                <a:solidFill>
                  <a:srgbClr val="FFFF00"/>
                </a:solidFill>
                <a:latin typeface="+mj-lt"/>
              </a:rPr>
              <a:t>machine learning</a:t>
            </a:r>
            <a:r>
              <a:rPr lang="en-US" sz="3200" dirty="0">
                <a:solidFill>
                  <a:schemeClr val="bg1"/>
                </a:solidFill>
                <a:latin typeface="+mj-lt"/>
              </a:rPr>
              <a:t> community.</a:t>
            </a:r>
          </a:p>
        </p:txBody>
      </p:sp>
      <p:sp>
        <p:nvSpPr>
          <p:cNvPr id="19" name="TextBox 14">
            <a:extLst>
              <a:ext uri="{FF2B5EF4-FFF2-40B4-BE49-F238E27FC236}">
                <a16:creationId xmlns:a16="http://schemas.microsoft.com/office/drawing/2014/main" id="{552D0BF9-2AEF-CD56-5DD1-E053F43DAAA3}"/>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 History</a:t>
            </a:r>
          </a:p>
        </p:txBody>
      </p:sp>
      <p:sp>
        <p:nvSpPr>
          <p:cNvPr id="20" name="TextBox 15">
            <a:extLst>
              <a:ext uri="{FF2B5EF4-FFF2-40B4-BE49-F238E27FC236}">
                <a16:creationId xmlns:a16="http://schemas.microsoft.com/office/drawing/2014/main" id="{7FBE5F09-CEBC-F5F1-1956-9E91A7D2F4B4}"/>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1" name="AutoShape 16">
            <a:extLst>
              <a:ext uri="{FF2B5EF4-FFF2-40B4-BE49-F238E27FC236}">
                <a16:creationId xmlns:a16="http://schemas.microsoft.com/office/drawing/2014/main" id="{C3899E13-26F3-781A-A9C0-F0E5A0186BEF}"/>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latin typeface="+mj-lt"/>
            </a:endParaRPr>
          </a:p>
        </p:txBody>
      </p:sp>
      <p:pic>
        <p:nvPicPr>
          <p:cNvPr id="2" name="Picture 2" descr="undefined">
            <a:extLst>
              <a:ext uri="{FF2B5EF4-FFF2-40B4-BE49-F238E27FC236}">
                <a16:creationId xmlns:a16="http://schemas.microsoft.com/office/drawing/2014/main" id="{00263440-FAFC-1071-8BAC-457465421A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70692" y="3836812"/>
            <a:ext cx="3907708" cy="585140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Youtube png images | PNGWing">
            <a:extLst>
              <a:ext uri="{FF2B5EF4-FFF2-40B4-BE49-F238E27FC236}">
                <a16:creationId xmlns:a16="http://schemas.microsoft.com/office/drawing/2014/main" id="{D2974224-B65F-0610-A504-224A639995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9105900"/>
            <a:ext cx="971550" cy="914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40AE5FA3-4127-84C4-A38B-0997EEF14B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0348" y="9120964"/>
            <a:ext cx="971550" cy="9144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a:extLst>
              <a:ext uri="{FF2B5EF4-FFF2-40B4-BE49-F238E27FC236}">
                <a16:creationId xmlns:a16="http://schemas.microsoft.com/office/drawing/2014/main" id="{547622E5-4408-6C32-647D-EB587AA345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68965" y="9120964"/>
            <a:ext cx="971550" cy="9144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Dropbox logo in transparent PNG and vectorized SVG formats">
            <a:extLst>
              <a:ext uri="{FF2B5EF4-FFF2-40B4-BE49-F238E27FC236}">
                <a16:creationId xmlns:a16="http://schemas.microsoft.com/office/drawing/2014/main" id="{BFE705BD-A357-480C-7009-1B0D1DCAA48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86344" y="9120964"/>
            <a:ext cx="971550" cy="914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2">
            <a:extLst>
              <a:ext uri="{FF2B5EF4-FFF2-40B4-BE49-F238E27FC236}">
                <a16:creationId xmlns:a16="http://schemas.microsoft.com/office/drawing/2014/main" id="{9EC90C68-971F-4BF0-FDD4-3BECBB78E45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79186" y="9105900"/>
            <a:ext cx="1001931" cy="96918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16">
            <a:extLst>
              <a:ext uri="{FF2B5EF4-FFF2-40B4-BE49-F238E27FC236}">
                <a16:creationId xmlns:a16="http://schemas.microsoft.com/office/drawing/2014/main" id="{C34FB693-8F11-1DB8-9602-EF3DD6F1B8E3}"/>
              </a:ext>
            </a:extLst>
          </p:cNvPr>
          <p:cNvSpPr txBox="1"/>
          <p:nvPr/>
        </p:nvSpPr>
        <p:spPr>
          <a:xfrm>
            <a:off x="640390" y="5075929"/>
            <a:ext cx="13130302" cy="3877985"/>
          </a:xfrm>
          <a:prstGeom prst="rect">
            <a:avLst/>
          </a:prstGeom>
        </p:spPr>
        <p:txBody>
          <a:bodyPr wrap="square" lIns="0" tIns="0" rIns="0" bIns="0" rtlCol="0" anchor="t">
            <a:spAutoFit/>
          </a:bodyPr>
          <a:lstStyle/>
          <a:p>
            <a:r>
              <a:rPr lang="en-US" sz="3600" dirty="0">
                <a:solidFill>
                  <a:schemeClr val="bg1"/>
                </a:solidFill>
                <a:latin typeface="+mj-lt"/>
              </a:rPr>
              <a:t>Learning Scientific Programming with Python is intended to help scientists and engineers learn version 3 the Python programming language and its associated NumPy, SciPy, pandas and Matplotlib libraries. No prior programming experience or scientific knowledge in any particular field is assumed. However, familiarity with some mathematical concepts such as trigonometry, complex numbers and basic calculus is helpful to follow the examples and exercises.</a:t>
            </a:r>
          </a:p>
        </p:txBody>
      </p:sp>
      <p:pic>
        <p:nvPicPr>
          <p:cNvPr id="1026" name="Picture 2">
            <a:extLst>
              <a:ext uri="{FF2B5EF4-FFF2-40B4-BE49-F238E27FC236}">
                <a16:creationId xmlns:a16="http://schemas.microsoft.com/office/drawing/2014/main" id="{BC6B9460-C2F1-0F3D-E6C2-D2EC0359AF5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073909" y="9089528"/>
            <a:ext cx="1001931" cy="1001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4222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86D8A23-380F-1705-104B-1EF73F3609BE}"/>
            </a:ext>
          </a:extLst>
        </p:cNvPr>
        <p:cNvGrpSpPr/>
        <p:nvPr/>
      </p:nvGrpSpPr>
      <p:grpSpPr>
        <a:xfrm>
          <a:off x="0" y="0"/>
          <a:ext cx="0" cy="0"/>
          <a:chOff x="0" y="0"/>
          <a:chExt cx="0" cy="0"/>
        </a:xfrm>
      </p:grpSpPr>
      <p:sp>
        <p:nvSpPr>
          <p:cNvPr id="11" name="TextBox 11">
            <a:extLst>
              <a:ext uri="{FF2B5EF4-FFF2-40B4-BE49-F238E27FC236}">
                <a16:creationId xmlns:a16="http://schemas.microsoft.com/office/drawing/2014/main" id="{D893FA56-D135-9840-00BD-F881BFDD23C7}"/>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12" name="TextBox 12">
            <a:extLst>
              <a:ext uri="{FF2B5EF4-FFF2-40B4-BE49-F238E27FC236}">
                <a16:creationId xmlns:a16="http://schemas.microsoft.com/office/drawing/2014/main" id="{E3EF854B-2DD6-499E-63A0-5847D2A0CAC9}"/>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14" name="TextBox 14">
            <a:extLst>
              <a:ext uri="{FF2B5EF4-FFF2-40B4-BE49-F238E27FC236}">
                <a16:creationId xmlns:a16="http://schemas.microsoft.com/office/drawing/2014/main" id="{ABC2175D-712C-D245-5BE3-87B0C20F0045}"/>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16" name="TextBox 16">
            <a:extLst>
              <a:ext uri="{FF2B5EF4-FFF2-40B4-BE49-F238E27FC236}">
                <a16:creationId xmlns:a16="http://schemas.microsoft.com/office/drawing/2014/main" id="{75FC95C5-0A4A-D160-AC3C-EA12F5CAE591}"/>
              </a:ext>
            </a:extLst>
          </p:cNvPr>
          <p:cNvSpPr txBox="1"/>
          <p:nvPr/>
        </p:nvSpPr>
        <p:spPr>
          <a:xfrm>
            <a:off x="609600" y="800107"/>
            <a:ext cx="17297400" cy="5293757"/>
          </a:xfrm>
          <a:prstGeom prst="rect">
            <a:avLst/>
          </a:prstGeom>
        </p:spPr>
        <p:txBody>
          <a:bodyPr wrap="square" lIns="0" tIns="0" rIns="0" bIns="0" rtlCol="0" anchor="t">
            <a:spAutoFit/>
          </a:bodyPr>
          <a:lstStyle/>
          <a:p>
            <a:r>
              <a:rPr lang="en-US" sz="3200" b="1" dirty="0">
                <a:solidFill>
                  <a:schemeClr val="bg1"/>
                </a:solidFill>
                <a:latin typeface="+mj-lt"/>
              </a:rPr>
              <a:t>Python</a:t>
            </a:r>
            <a:r>
              <a:rPr lang="en-US" sz="3200" dirty="0">
                <a:solidFill>
                  <a:schemeClr val="bg1"/>
                </a:solidFill>
                <a:latin typeface="+mj-lt"/>
              </a:rPr>
              <a:t> is a </a:t>
            </a:r>
            <a:r>
              <a:rPr lang="en-US" sz="3200" b="1" dirty="0">
                <a:solidFill>
                  <a:srgbClr val="FFFF00"/>
                </a:solidFill>
                <a:latin typeface="+mj-lt"/>
              </a:rPr>
              <a:t>high-level</a:t>
            </a:r>
            <a:r>
              <a:rPr lang="en-US" sz="3200" dirty="0">
                <a:solidFill>
                  <a:schemeClr val="bg1"/>
                </a:solidFill>
                <a:latin typeface="+mj-lt"/>
              </a:rPr>
              <a:t>, </a:t>
            </a:r>
            <a:r>
              <a:rPr lang="en-US" sz="3200" b="1" dirty="0">
                <a:solidFill>
                  <a:srgbClr val="FFFF00"/>
                </a:solidFill>
                <a:latin typeface="+mj-lt"/>
              </a:rPr>
              <a:t>general-purpose</a:t>
            </a:r>
            <a:r>
              <a:rPr lang="en-US" sz="3200" b="1" dirty="0">
                <a:solidFill>
                  <a:schemeClr val="bg1"/>
                </a:solidFill>
                <a:latin typeface="+mj-lt"/>
              </a:rPr>
              <a:t> </a:t>
            </a:r>
            <a:r>
              <a:rPr lang="en-US" sz="3200" dirty="0">
                <a:solidFill>
                  <a:schemeClr val="bg1"/>
                </a:solidFill>
                <a:latin typeface="+mj-lt"/>
              </a:rPr>
              <a:t>programming language. Its design philosophy emphasizes </a:t>
            </a:r>
            <a:r>
              <a:rPr lang="en-US" sz="3200" b="1" dirty="0">
                <a:solidFill>
                  <a:srgbClr val="FFFF00"/>
                </a:solidFill>
                <a:latin typeface="+mj-lt"/>
              </a:rPr>
              <a:t>code readability</a:t>
            </a:r>
            <a:r>
              <a:rPr lang="en-US" sz="3200" dirty="0">
                <a:solidFill>
                  <a:schemeClr val="bg1"/>
                </a:solidFill>
                <a:latin typeface="+mj-lt"/>
              </a:rPr>
              <a:t> with the use of </a:t>
            </a:r>
            <a:r>
              <a:rPr lang="en-US" sz="3200" b="1" dirty="0">
                <a:solidFill>
                  <a:srgbClr val="FFFF00"/>
                </a:solidFill>
                <a:latin typeface="+mj-lt"/>
              </a:rPr>
              <a:t>significant indentation.</a:t>
            </a:r>
          </a:p>
          <a:p>
            <a:pPr marL="342900" indent="-342900">
              <a:buFont typeface="Arial" panose="020B0604020202020204" pitchFamily="34" charset="0"/>
              <a:buChar char="•"/>
            </a:pPr>
            <a:endParaRPr lang="en-US" sz="3200" dirty="0">
              <a:solidFill>
                <a:schemeClr val="bg1"/>
              </a:solidFill>
              <a:latin typeface="+mj-lt"/>
            </a:endParaRPr>
          </a:p>
          <a:p>
            <a:r>
              <a:rPr lang="en-US" sz="3200" dirty="0">
                <a:solidFill>
                  <a:schemeClr val="bg1"/>
                </a:solidFill>
                <a:latin typeface="+mj-lt"/>
              </a:rPr>
              <a:t>Python is </a:t>
            </a:r>
            <a:r>
              <a:rPr lang="en-US" sz="3200" b="1" dirty="0">
                <a:solidFill>
                  <a:srgbClr val="FFFF00"/>
                </a:solidFill>
                <a:latin typeface="+mj-lt"/>
              </a:rPr>
              <a:t>dynamically type-checked </a:t>
            </a:r>
            <a:r>
              <a:rPr lang="en-US" sz="3200" dirty="0">
                <a:solidFill>
                  <a:schemeClr val="bg1"/>
                </a:solidFill>
                <a:latin typeface="+mj-lt"/>
              </a:rPr>
              <a:t>and </a:t>
            </a:r>
            <a:r>
              <a:rPr lang="en-US" sz="3200" b="1" dirty="0">
                <a:solidFill>
                  <a:srgbClr val="FFFF00"/>
                </a:solidFill>
                <a:latin typeface="+mj-lt"/>
              </a:rPr>
              <a:t>garbage-collected</a:t>
            </a:r>
            <a:r>
              <a:rPr lang="en-US" sz="3200" dirty="0">
                <a:solidFill>
                  <a:schemeClr val="bg1"/>
                </a:solidFill>
                <a:latin typeface="+mj-lt"/>
              </a:rPr>
              <a:t>. It supports multiple </a:t>
            </a:r>
            <a:r>
              <a:rPr lang="en-US" sz="3200" b="1" dirty="0">
                <a:solidFill>
                  <a:srgbClr val="FFFF00"/>
                </a:solidFill>
                <a:latin typeface="+mj-lt"/>
              </a:rPr>
              <a:t>programming paradigms</a:t>
            </a:r>
            <a:r>
              <a:rPr lang="en-US" sz="3200" dirty="0">
                <a:solidFill>
                  <a:schemeClr val="bg1"/>
                </a:solidFill>
                <a:latin typeface="+mj-lt"/>
              </a:rPr>
              <a:t>, including </a:t>
            </a:r>
            <a:r>
              <a:rPr lang="en-US" sz="3200" b="1" dirty="0">
                <a:solidFill>
                  <a:srgbClr val="FFFF00"/>
                </a:solidFill>
                <a:latin typeface="+mj-lt"/>
              </a:rPr>
              <a:t>structured</a:t>
            </a:r>
            <a:r>
              <a:rPr lang="en-US" sz="3200" dirty="0">
                <a:solidFill>
                  <a:schemeClr val="bg1"/>
                </a:solidFill>
                <a:latin typeface="+mj-lt"/>
              </a:rPr>
              <a:t> (particularly </a:t>
            </a:r>
            <a:r>
              <a:rPr lang="en-US" sz="3200" b="1" dirty="0">
                <a:solidFill>
                  <a:srgbClr val="FFFF00"/>
                </a:solidFill>
                <a:latin typeface="+mj-lt"/>
              </a:rPr>
              <a:t>procedural</a:t>
            </a:r>
            <a:r>
              <a:rPr lang="en-US" sz="3200" dirty="0">
                <a:solidFill>
                  <a:schemeClr val="bg1"/>
                </a:solidFill>
                <a:latin typeface="+mj-lt"/>
              </a:rPr>
              <a:t>), </a:t>
            </a:r>
            <a:r>
              <a:rPr lang="en-US" sz="3200" b="1" dirty="0">
                <a:solidFill>
                  <a:srgbClr val="FFFF00"/>
                </a:solidFill>
                <a:latin typeface="+mj-lt"/>
              </a:rPr>
              <a:t>object-oriented</a:t>
            </a:r>
            <a:r>
              <a:rPr lang="en-US" sz="3200" dirty="0">
                <a:solidFill>
                  <a:schemeClr val="bg1"/>
                </a:solidFill>
                <a:latin typeface="+mj-lt"/>
              </a:rPr>
              <a:t> and </a:t>
            </a:r>
            <a:r>
              <a:rPr lang="en-US" sz="3200" b="1" dirty="0">
                <a:solidFill>
                  <a:srgbClr val="FFFF00"/>
                </a:solidFill>
                <a:latin typeface="+mj-lt"/>
              </a:rPr>
              <a:t>functional programming</a:t>
            </a:r>
            <a:r>
              <a:rPr lang="en-US" sz="3200" dirty="0">
                <a:solidFill>
                  <a:schemeClr val="bg1"/>
                </a:solidFill>
                <a:latin typeface="+mj-lt"/>
              </a:rPr>
              <a:t>. It is often described as a "</a:t>
            </a:r>
            <a:r>
              <a:rPr lang="en-US" sz="3200" b="1" dirty="0">
                <a:solidFill>
                  <a:srgbClr val="FFFF00"/>
                </a:solidFill>
                <a:latin typeface="+mj-lt"/>
              </a:rPr>
              <a:t>batteries included</a:t>
            </a:r>
            <a:r>
              <a:rPr lang="en-US" sz="3200" dirty="0">
                <a:solidFill>
                  <a:schemeClr val="bg1"/>
                </a:solidFill>
                <a:latin typeface="+mj-lt"/>
              </a:rPr>
              <a:t>" language due to its comprehensive </a:t>
            </a:r>
            <a:r>
              <a:rPr lang="en-US" sz="3200" b="1" dirty="0">
                <a:solidFill>
                  <a:srgbClr val="FFFF00"/>
                </a:solidFill>
                <a:latin typeface="+mj-lt"/>
              </a:rPr>
              <a:t>standard library</a:t>
            </a:r>
            <a:r>
              <a:rPr lang="en-US" sz="3200" dirty="0">
                <a:solidFill>
                  <a:schemeClr val="bg1"/>
                </a:solidFill>
                <a:latin typeface="+mj-lt"/>
              </a:rPr>
              <a:t>.</a:t>
            </a:r>
            <a:endParaRPr lang="en-US" sz="3200" b="1" dirty="0">
              <a:solidFill>
                <a:schemeClr val="bg1"/>
              </a:solidFill>
              <a:latin typeface="+mj-lt"/>
            </a:endParaRPr>
          </a:p>
          <a:p>
            <a:endParaRPr lang="en-US" sz="3200" dirty="0">
              <a:solidFill>
                <a:schemeClr val="bg1"/>
              </a:solidFill>
              <a:latin typeface="+mj-lt"/>
            </a:endParaRPr>
          </a:p>
          <a:p>
            <a:r>
              <a:rPr lang="en-US" sz="3200" dirty="0">
                <a:solidFill>
                  <a:schemeClr val="bg1"/>
                </a:solidFill>
                <a:latin typeface="+mj-lt"/>
                <a:hlinkClick r:id="rId2"/>
              </a:rPr>
              <a:t>https://docs.python.org/3/</a:t>
            </a:r>
            <a:endParaRPr lang="en-US" sz="3200" dirty="0">
              <a:solidFill>
                <a:schemeClr val="bg1"/>
              </a:solidFill>
              <a:latin typeface="+mj-lt"/>
            </a:endParaRPr>
          </a:p>
          <a:p>
            <a:endParaRPr lang="en-US" sz="3200" dirty="0">
              <a:solidFill>
                <a:schemeClr val="bg1"/>
              </a:solidFill>
              <a:latin typeface="+mj-lt"/>
            </a:endParaRPr>
          </a:p>
          <a:p>
            <a:r>
              <a:rPr lang="en-US" sz="3200" dirty="0">
                <a:solidFill>
                  <a:schemeClr val="bg1"/>
                </a:solidFill>
                <a:latin typeface="+mj-lt"/>
              </a:rPr>
              <a:t>It is an interpreted language (JIT, machine code)</a:t>
            </a:r>
            <a:endParaRPr lang="en-US" sz="3200" b="1" dirty="0">
              <a:solidFill>
                <a:schemeClr val="bg1"/>
              </a:solidFill>
              <a:latin typeface="+mj-lt"/>
            </a:endParaRPr>
          </a:p>
          <a:p>
            <a:endParaRPr lang="en-US" sz="2400" dirty="0">
              <a:solidFill>
                <a:schemeClr val="bg1"/>
              </a:solidFill>
              <a:latin typeface="Arial" panose="020B0604020202020204" pitchFamily="34" charset="0"/>
            </a:endParaRPr>
          </a:p>
        </p:txBody>
      </p:sp>
      <p:sp>
        <p:nvSpPr>
          <p:cNvPr id="19" name="TextBox 14">
            <a:extLst>
              <a:ext uri="{FF2B5EF4-FFF2-40B4-BE49-F238E27FC236}">
                <a16:creationId xmlns:a16="http://schemas.microsoft.com/office/drawing/2014/main" id="{A227EAAB-69D7-D877-D8FE-E4A5C347BCEA}"/>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 Definitions</a:t>
            </a:r>
          </a:p>
        </p:txBody>
      </p:sp>
      <p:sp>
        <p:nvSpPr>
          <p:cNvPr id="20" name="TextBox 15">
            <a:extLst>
              <a:ext uri="{FF2B5EF4-FFF2-40B4-BE49-F238E27FC236}">
                <a16:creationId xmlns:a16="http://schemas.microsoft.com/office/drawing/2014/main" id="{ABE858F1-58E4-80EF-2E22-F55245E14F2B}"/>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1" name="AutoShape 16">
            <a:extLst>
              <a:ext uri="{FF2B5EF4-FFF2-40B4-BE49-F238E27FC236}">
                <a16:creationId xmlns:a16="http://schemas.microsoft.com/office/drawing/2014/main" id="{E4E59AF7-E1E8-726B-2556-4F134032E183}"/>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Tree>
    <p:extLst>
      <p:ext uri="{BB962C8B-B14F-4D97-AF65-F5344CB8AC3E}">
        <p14:creationId xmlns:p14="http://schemas.microsoft.com/office/powerpoint/2010/main" val="1022910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5C59BD9-22A5-5B0B-4102-4AADB64E17A5}"/>
            </a:ext>
          </a:extLst>
        </p:cNvPr>
        <p:cNvGrpSpPr/>
        <p:nvPr/>
      </p:nvGrpSpPr>
      <p:grpSpPr>
        <a:xfrm>
          <a:off x="0" y="0"/>
          <a:ext cx="0" cy="0"/>
          <a:chOff x="0" y="0"/>
          <a:chExt cx="0" cy="0"/>
        </a:xfrm>
      </p:grpSpPr>
      <p:sp>
        <p:nvSpPr>
          <p:cNvPr id="11" name="TextBox 11">
            <a:extLst>
              <a:ext uri="{FF2B5EF4-FFF2-40B4-BE49-F238E27FC236}">
                <a16:creationId xmlns:a16="http://schemas.microsoft.com/office/drawing/2014/main" id="{C52CFDB0-161D-0CDC-5FC8-82ABA68341D1}"/>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12" name="TextBox 12">
            <a:extLst>
              <a:ext uri="{FF2B5EF4-FFF2-40B4-BE49-F238E27FC236}">
                <a16:creationId xmlns:a16="http://schemas.microsoft.com/office/drawing/2014/main" id="{BC18127D-4010-12C5-1933-EE33AD156114}"/>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14" name="TextBox 14">
            <a:extLst>
              <a:ext uri="{FF2B5EF4-FFF2-40B4-BE49-F238E27FC236}">
                <a16:creationId xmlns:a16="http://schemas.microsoft.com/office/drawing/2014/main" id="{FBF388EB-1628-2377-F409-1B3BF53F0D36}"/>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19" name="TextBox 14">
            <a:extLst>
              <a:ext uri="{FF2B5EF4-FFF2-40B4-BE49-F238E27FC236}">
                <a16:creationId xmlns:a16="http://schemas.microsoft.com/office/drawing/2014/main" id="{E2E4480D-64BF-2D1D-6063-F907578114D7}"/>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Generalities</a:t>
            </a:r>
          </a:p>
        </p:txBody>
      </p:sp>
      <p:sp>
        <p:nvSpPr>
          <p:cNvPr id="20" name="TextBox 15">
            <a:extLst>
              <a:ext uri="{FF2B5EF4-FFF2-40B4-BE49-F238E27FC236}">
                <a16:creationId xmlns:a16="http://schemas.microsoft.com/office/drawing/2014/main" id="{AAE5E58D-C18A-799C-B595-D415365AE2F7}"/>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1" name="AutoShape 16">
            <a:extLst>
              <a:ext uri="{FF2B5EF4-FFF2-40B4-BE49-F238E27FC236}">
                <a16:creationId xmlns:a16="http://schemas.microsoft.com/office/drawing/2014/main" id="{878D94E8-933A-B075-D222-163FDF92A311}"/>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graphicFrame>
        <p:nvGraphicFramePr>
          <p:cNvPr id="4" name="Table 3">
            <a:extLst>
              <a:ext uri="{FF2B5EF4-FFF2-40B4-BE49-F238E27FC236}">
                <a16:creationId xmlns:a16="http://schemas.microsoft.com/office/drawing/2014/main" id="{4C7866E1-E5EA-D0AE-83A8-FF347BDDABFA}"/>
              </a:ext>
            </a:extLst>
          </p:cNvPr>
          <p:cNvGraphicFramePr>
            <a:graphicFrameLocks noGrp="1"/>
          </p:cNvGraphicFramePr>
          <p:nvPr>
            <p:extLst>
              <p:ext uri="{D42A27DB-BD31-4B8C-83A1-F6EECF244321}">
                <p14:modId xmlns:p14="http://schemas.microsoft.com/office/powerpoint/2010/main" val="4179561147"/>
              </p:ext>
            </p:extLst>
          </p:nvPr>
        </p:nvGraphicFramePr>
        <p:xfrm>
          <a:off x="171650" y="5664289"/>
          <a:ext cx="18116349" cy="3746408"/>
        </p:xfrm>
        <a:graphic>
          <a:graphicData uri="http://schemas.openxmlformats.org/drawingml/2006/table">
            <a:tbl>
              <a:tblPr firstRow="1" bandRow="1">
                <a:tableStyleId>{5C22544A-7EE6-4342-B048-85BDC9FD1C3A}</a:tableStyleId>
              </a:tblPr>
              <a:tblGrid>
                <a:gridCol w="2070789">
                  <a:extLst>
                    <a:ext uri="{9D8B030D-6E8A-4147-A177-3AD203B41FA5}">
                      <a16:colId xmlns:a16="http://schemas.microsoft.com/office/drawing/2014/main" val="1375809535"/>
                    </a:ext>
                  </a:extLst>
                </a:gridCol>
                <a:gridCol w="7664609">
                  <a:extLst>
                    <a:ext uri="{9D8B030D-6E8A-4147-A177-3AD203B41FA5}">
                      <a16:colId xmlns:a16="http://schemas.microsoft.com/office/drawing/2014/main" val="37929619"/>
                    </a:ext>
                  </a:extLst>
                </a:gridCol>
                <a:gridCol w="8380951">
                  <a:extLst>
                    <a:ext uri="{9D8B030D-6E8A-4147-A177-3AD203B41FA5}">
                      <a16:colId xmlns:a16="http://schemas.microsoft.com/office/drawing/2014/main" val="1382562404"/>
                    </a:ext>
                  </a:extLst>
                </a:gridCol>
              </a:tblGrid>
              <a:tr h="4272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Calibri"/>
                          <a:ea typeface="+mn-ea"/>
                          <a:cs typeface="+mn-cs"/>
                        </a:rPr>
                        <a:t>Feature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Calibri"/>
                          <a:ea typeface="+mn-ea"/>
                          <a:cs typeface="+mn-cs"/>
                        </a:rPr>
                        <a:t>Compiled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Calibri"/>
                          <a:ea typeface="+mn-ea"/>
                          <a:cs typeface="+mn-cs"/>
                        </a:rPr>
                        <a:t>Interpreted</a:t>
                      </a:r>
                    </a:p>
                  </a:txBody>
                  <a:tcPr/>
                </a:tc>
                <a:extLst>
                  <a:ext uri="{0D108BD9-81ED-4DB2-BD59-A6C34878D82A}">
                    <a16:rowId xmlns:a16="http://schemas.microsoft.com/office/drawing/2014/main" val="1975675044"/>
                  </a:ext>
                </a:extLst>
              </a:tr>
              <a:tr h="427222">
                <a:tc>
                  <a:txBody>
                    <a:bodyPr/>
                    <a:lstStyle/>
                    <a:p>
                      <a:r>
                        <a:rPr lang="en-US" sz="2000" dirty="0">
                          <a:solidFill>
                            <a:schemeClr val="tx1"/>
                          </a:solidFill>
                        </a:rPr>
                        <a:t>Translation</a:t>
                      </a:r>
                    </a:p>
                  </a:txBody>
                  <a:tcPr/>
                </a:tc>
                <a:tc>
                  <a:txBody>
                    <a:bodyPr/>
                    <a:lstStyle/>
                    <a:p>
                      <a:r>
                        <a:rPr lang="en-US" sz="2000" dirty="0">
                          <a:solidFill>
                            <a:schemeClr val="tx1"/>
                          </a:solidFill>
                        </a:rPr>
                        <a:t>Entire source code translated to machine code before execution.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Source code translated and executed line-by-line at runtime.</a:t>
                      </a:r>
                    </a:p>
                  </a:txBody>
                  <a:tcPr/>
                </a:tc>
                <a:extLst>
                  <a:ext uri="{0D108BD9-81ED-4DB2-BD59-A6C34878D82A}">
                    <a16:rowId xmlns:a16="http://schemas.microsoft.com/office/drawing/2014/main" val="3143218587"/>
                  </a:ext>
                </a:extLst>
              </a:tr>
              <a:tr h="4272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Performance</a:t>
                      </a:r>
                    </a:p>
                  </a:txBody>
                  <a:tcPr/>
                </a:tc>
                <a:tc>
                  <a:txBody>
                    <a:bodyPr/>
                    <a:lstStyle/>
                    <a:p>
                      <a:r>
                        <a:rPr lang="en-US" sz="2000" dirty="0">
                          <a:solidFill>
                            <a:schemeClr val="tx1"/>
                          </a:solidFill>
                        </a:rPr>
                        <a:t>Generally faster because it's pre-compiled machine code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Generally slower due to the overhead of translating each line during execution.</a:t>
                      </a:r>
                    </a:p>
                  </a:txBody>
                  <a:tcPr/>
                </a:tc>
                <a:extLst>
                  <a:ext uri="{0D108BD9-81ED-4DB2-BD59-A6C34878D82A}">
                    <a16:rowId xmlns:a16="http://schemas.microsoft.com/office/drawing/2014/main" val="502381434"/>
                  </a:ext>
                </a:extLst>
              </a:tr>
              <a:tr h="7558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Portability</a:t>
                      </a:r>
                    </a:p>
                  </a:txBody>
                  <a:tcPr/>
                </a:tc>
                <a:tc>
                  <a:txBody>
                    <a:bodyPr/>
                    <a:lstStyle/>
                    <a:p>
                      <a:r>
                        <a:rPr lang="en-US" sz="2000" dirty="0">
                          <a:solidFill>
                            <a:schemeClr val="tx1"/>
                          </a:solidFill>
                        </a:rPr>
                        <a:t>Lower portability; the executable is specific to the operating system or CPU.</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Higher portability; the source code can run on any machine with a compatible interpreter.</a:t>
                      </a:r>
                    </a:p>
                  </a:txBody>
                  <a:tcPr/>
                </a:tc>
                <a:extLst>
                  <a:ext uri="{0D108BD9-81ED-4DB2-BD59-A6C34878D82A}">
                    <a16:rowId xmlns:a16="http://schemas.microsoft.com/office/drawing/2014/main" val="2627637235"/>
                  </a:ext>
                </a:extLst>
              </a:tr>
              <a:tr h="4272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Error Detection</a:t>
                      </a:r>
                    </a:p>
                  </a:txBody>
                  <a:tcPr/>
                </a:tc>
                <a:tc>
                  <a:txBody>
                    <a:bodyPr/>
                    <a:lstStyle/>
                    <a:p>
                      <a:r>
                        <a:rPr lang="en-US" sz="2000" dirty="0">
                          <a:solidFill>
                            <a:schemeClr val="tx1"/>
                          </a:solidFill>
                        </a:rPr>
                        <a:t>Errors are caught during compilation, before the program runs.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Errors are caught during runtime, as the interpreter finds them line by line.</a:t>
                      </a:r>
                    </a:p>
                  </a:txBody>
                  <a:tcPr/>
                </a:tc>
                <a:extLst>
                  <a:ext uri="{0D108BD9-81ED-4DB2-BD59-A6C34878D82A}">
                    <a16:rowId xmlns:a16="http://schemas.microsoft.com/office/drawing/2014/main" val="2105343725"/>
                  </a:ext>
                </a:extLst>
              </a:tr>
              <a:tr h="4272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Development</a:t>
                      </a:r>
                    </a:p>
                  </a:txBody>
                  <a:tcPr/>
                </a:tc>
                <a:tc>
                  <a:txBody>
                    <a:bodyPr/>
                    <a:lstStyle/>
                    <a:p>
                      <a:r>
                        <a:rPr lang="en-US" sz="2000" dirty="0">
                          <a:solidFill>
                            <a:schemeClr val="tx1"/>
                          </a:solidFill>
                        </a:rPr>
                        <a:t>Longer development cycle due to the compile-link-run steps.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Faster development cycle; easy to test and edit code on the go.</a:t>
                      </a:r>
                    </a:p>
                  </a:txBody>
                  <a:tcPr/>
                </a:tc>
                <a:extLst>
                  <a:ext uri="{0D108BD9-81ED-4DB2-BD59-A6C34878D82A}">
                    <a16:rowId xmlns:a16="http://schemas.microsoft.com/office/drawing/2014/main" val="3948"/>
                  </a:ext>
                </a:extLst>
              </a:tr>
              <a:tr h="4272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Code Distribution</a:t>
                      </a:r>
                    </a:p>
                  </a:txBody>
                  <a:tcPr/>
                </a:tc>
                <a:tc>
                  <a:txBody>
                    <a:bodyPr/>
                    <a:lstStyle/>
                    <a:p>
                      <a:r>
                        <a:rPr lang="en-US" sz="2000" dirty="0">
                          <a:solidFill>
                            <a:schemeClr val="tx1"/>
                          </a:solidFill>
                        </a:rPr>
                        <a:t>Provides the executable file, keeping the source code private.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Requires the source code to be distributed, making it more public.</a:t>
                      </a:r>
                    </a:p>
                  </a:txBody>
                  <a:tcPr/>
                </a:tc>
                <a:extLst>
                  <a:ext uri="{0D108BD9-81ED-4DB2-BD59-A6C34878D82A}">
                    <a16:rowId xmlns:a16="http://schemas.microsoft.com/office/drawing/2014/main" val="2258130515"/>
                  </a:ext>
                </a:extLst>
              </a:tr>
              <a:tr h="4272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Examples	</a:t>
                      </a:r>
                    </a:p>
                  </a:txBody>
                  <a:tcPr/>
                </a:tc>
                <a:tc>
                  <a:txBody>
                    <a:bodyPr/>
                    <a:lstStyle/>
                    <a:p>
                      <a:r>
                        <a:rPr lang="en-US" sz="2000" dirty="0">
                          <a:solidFill>
                            <a:schemeClr val="tx1"/>
                          </a:solidFill>
                        </a:rPr>
                        <a:t>C, C++, Rust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Python, JavaScript, VBA</a:t>
                      </a:r>
                    </a:p>
                  </a:txBody>
                  <a:tcPr/>
                </a:tc>
                <a:extLst>
                  <a:ext uri="{0D108BD9-81ED-4DB2-BD59-A6C34878D82A}">
                    <a16:rowId xmlns:a16="http://schemas.microsoft.com/office/drawing/2014/main" val="2924468288"/>
                  </a:ext>
                </a:extLst>
              </a:tr>
            </a:tbl>
          </a:graphicData>
        </a:graphic>
      </p:graphicFrame>
      <p:sp>
        <p:nvSpPr>
          <p:cNvPr id="6" name="TextBox 5">
            <a:extLst>
              <a:ext uri="{FF2B5EF4-FFF2-40B4-BE49-F238E27FC236}">
                <a16:creationId xmlns:a16="http://schemas.microsoft.com/office/drawing/2014/main" id="{8B173DEA-A2D6-0750-8880-F18ACAFF4ABF}"/>
              </a:ext>
            </a:extLst>
          </p:cNvPr>
          <p:cNvSpPr txBox="1"/>
          <p:nvPr/>
        </p:nvSpPr>
        <p:spPr>
          <a:xfrm>
            <a:off x="152400" y="3602187"/>
            <a:ext cx="17672784" cy="2062103"/>
          </a:xfrm>
          <a:prstGeom prst="rect">
            <a:avLst/>
          </a:prstGeom>
          <a:noFill/>
        </p:spPr>
        <p:txBody>
          <a:bodyPr wrap="square">
            <a:spAutoFit/>
          </a:bodyPr>
          <a:lstStyle/>
          <a:p>
            <a:r>
              <a:rPr lang="en-US" sz="3200" dirty="0">
                <a:solidFill>
                  <a:schemeClr val="bg1"/>
                </a:solidFill>
                <a:latin typeface="+mj-lt"/>
              </a:rPr>
              <a:t>Compiled code is translated into machine code before execution, resulting in faster performance and an executable file, while interpreted code is translated line by line as it runs, offering easier debugging and portability</a:t>
            </a:r>
            <a:r>
              <a:rPr lang="en-US" sz="3200" b="0" i="0" dirty="0">
                <a:solidFill>
                  <a:schemeClr val="bg1"/>
                </a:solidFill>
                <a:effectLst/>
                <a:latin typeface="+mj-lt"/>
              </a:rPr>
              <a:t>. Compiled programs run faster but lack portability, as they are platform-specific, whereas interpreted programs run on any machine with the correct interpreter but can be slower. </a:t>
            </a:r>
            <a:endParaRPr lang="en-US" sz="3200" dirty="0">
              <a:solidFill>
                <a:schemeClr val="bg1"/>
              </a:solidFill>
              <a:latin typeface="+mj-lt"/>
            </a:endParaRPr>
          </a:p>
        </p:txBody>
      </p:sp>
      <p:sp>
        <p:nvSpPr>
          <p:cNvPr id="8" name="Rectangle 35">
            <a:extLst>
              <a:ext uri="{FF2B5EF4-FFF2-40B4-BE49-F238E27FC236}">
                <a16:creationId xmlns:a16="http://schemas.microsoft.com/office/drawing/2014/main" id="{2411F0C3-A376-8F62-9F02-EC53C53073DD}"/>
              </a:ext>
            </a:extLst>
          </p:cNvPr>
          <p:cNvSpPr>
            <a:spLocks noChangeArrowheads="1"/>
          </p:cNvSpPr>
          <p:nvPr/>
        </p:nvSpPr>
        <p:spPr bwMode="auto">
          <a:xfrm>
            <a:off x="1733550" y="1573213"/>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 name="Rectangle: Rounded Corners 8">
            <a:extLst>
              <a:ext uri="{FF2B5EF4-FFF2-40B4-BE49-F238E27FC236}">
                <a16:creationId xmlns:a16="http://schemas.microsoft.com/office/drawing/2014/main" id="{98D7A2E6-EE28-B5F4-0E72-801A5DDD911B}"/>
              </a:ext>
            </a:extLst>
          </p:cNvPr>
          <p:cNvSpPr/>
          <p:nvPr/>
        </p:nvSpPr>
        <p:spPr>
          <a:xfrm>
            <a:off x="6629400" y="876300"/>
            <a:ext cx="4065733"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Programming languages</a:t>
            </a:r>
          </a:p>
        </p:txBody>
      </p:sp>
      <p:sp>
        <p:nvSpPr>
          <p:cNvPr id="10" name="Rectangle: Rounded Corners 9">
            <a:extLst>
              <a:ext uri="{FF2B5EF4-FFF2-40B4-BE49-F238E27FC236}">
                <a16:creationId xmlns:a16="http://schemas.microsoft.com/office/drawing/2014/main" id="{EC535727-7E90-5741-862D-66EE283FFEFC}"/>
              </a:ext>
            </a:extLst>
          </p:cNvPr>
          <p:cNvSpPr/>
          <p:nvPr/>
        </p:nvSpPr>
        <p:spPr>
          <a:xfrm>
            <a:off x="2107933" y="1815386"/>
            <a:ext cx="2667000" cy="6857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Markup</a:t>
            </a:r>
          </a:p>
        </p:txBody>
      </p:sp>
      <p:sp>
        <p:nvSpPr>
          <p:cNvPr id="13" name="Rectangle: Rounded Corners 12">
            <a:extLst>
              <a:ext uri="{FF2B5EF4-FFF2-40B4-BE49-F238E27FC236}">
                <a16:creationId xmlns:a16="http://schemas.microsoft.com/office/drawing/2014/main" id="{DDC4A6B7-1067-609B-EC07-FE880F419F17}"/>
              </a:ext>
            </a:extLst>
          </p:cNvPr>
          <p:cNvSpPr/>
          <p:nvPr/>
        </p:nvSpPr>
        <p:spPr>
          <a:xfrm>
            <a:off x="9361633" y="1790700"/>
            <a:ext cx="2667000" cy="6857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interpreted</a:t>
            </a:r>
          </a:p>
        </p:txBody>
      </p:sp>
      <p:sp>
        <p:nvSpPr>
          <p:cNvPr id="15" name="Rectangle: Rounded Corners 14">
            <a:extLst>
              <a:ext uri="{FF2B5EF4-FFF2-40B4-BE49-F238E27FC236}">
                <a16:creationId xmlns:a16="http://schemas.microsoft.com/office/drawing/2014/main" id="{476B8C2C-769D-9FD2-186C-14D069DE13E8}"/>
              </a:ext>
            </a:extLst>
          </p:cNvPr>
          <p:cNvSpPr/>
          <p:nvPr/>
        </p:nvSpPr>
        <p:spPr>
          <a:xfrm>
            <a:off x="13518684" y="1790700"/>
            <a:ext cx="2667000" cy="6857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compiled</a:t>
            </a:r>
          </a:p>
        </p:txBody>
      </p:sp>
      <p:sp>
        <p:nvSpPr>
          <p:cNvPr id="17" name="Rectangle: Rounded Corners 16">
            <a:extLst>
              <a:ext uri="{FF2B5EF4-FFF2-40B4-BE49-F238E27FC236}">
                <a16:creationId xmlns:a16="http://schemas.microsoft.com/office/drawing/2014/main" id="{EFA8AC9B-D9E6-495B-EA0B-C4F020854660}"/>
              </a:ext>
            </a:extLst>
          </p:cNvPr>
          <p:cNvSpPr/>
          <p:nvPr/>
        </p:nvSpPr>
        <p:spPr>
          <a:xfrm>
            <a:off x="2133600" y="2718489"/>
            <a:ext cx="2667000" cy="6857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HTML / XML</a:t>
            </a:r>
          </a:p>
        </p:txBody>
      </p:sp>
      <p:sp>
        <p:nvSpPr>
          <p:cNvPr id="18" name="Rectangle: Rounded Corners 17">
            <a:extLst>
              <a:ext uri="{FF2B5EF4-FFF2-40B4-BE49-F238E27FC236}">
                <a16:creationId xmlns:a16="http://schemas.microsoft.com/office/drawing/2014/main" id="{A179AAC3-0D4F-54AB-D413-BDD031527B0C}"/>
              </a:ext>
            </a:extLst>
          </p:cNvPr>
          <p:cNvSpPr/>
          <p:nvPr/>
        </p:nvSpPr>
        <p:spPr>
          <a:xfrm>
            <a:off x="9332757" y="2723985"/>
            <a:ext cx="2667000" cy="6857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Scripting / Python JavaScript, VBA, PHP</a:t>
            </a:r>
          </a:p>
        </p:txBody>
      </p:sp>
      <p:sp>
        <p:nvSpPr>
          <p:cNvPr id="22" name="Rectangle: Rounded Corners 21">
            <a:extLst>
              <a:ext uri="{FF2B5EF4-FFF2-40B4-BE49-F238E27FC236}">
                <a16:creationId xmlns:a16="http://schemas.microsoft.com/office/drawing/2014/main" id="{D3F9F528-2634-1A3D-D12A-5EFE99EDB771}"/>
              </a:ext>
            </a:extLst>
          </p:cNvPr>
          <p:cNvSpPr/>
          <p:nvPr/>
        </p:nvSpPr>
        <p:spPr>
          <a:xfrm>
            <a:off x="13518684" y="2628900"/>
            <a:ext cx="2667000" cy="6857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  C#  </a:t>
            </a:r>
            <a:r>
              <a:rPr lang="en-US" dirty="0" err="1"/>
              <a:t>MatLab</a:t>
            </a:r>
            <a:r>
              <a:rPr lang="en-US" dirty="0"/>
              <a:t> Fortran  Rust</a:t>
            </a:r>
          </a:p>
        </p:txBody>
      </p:sp>
      <p:sp>
        <p:nvSpPr>
          <p:cNvPr id="23" name="Rectangle: Rounded Corners 22">
            <a:extLst>
              <a:ext uri="{FF2B5EF4-FFF2-40B4-BE49-F238E27FC236}">
                <a16:creationId xmlns:a16="http://schemas.microsoft.com/office/drawing/2014/main" id="{5A9C9BDE-E634-66EA-E971-76334B34CD39}"/>
              </a:ext>
            </a:extLst>
          </p:cNvPr>
          <p:cNvSpPr/>
          <p:nvPr/>
        </p:nvSpPr>
        <p:spPr>
          <a:xfrm>
            <a:off x="5667407" y="1795981"/>
            <a:ext cx="2667000" cy="6857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SQL</a:t>
            </a:r>
          </a:p>
        </p:txBody>
      </p:sp>
      <p:sp>
        <p:nvSpPr>
          <p:cNvPr id="24" name="Rectangle: Rounded Corners 23">
            <a:extLst>
              <a:ext uri="{FF2B5EF4-FFF2-40B4-BE49-F238E27FC236}">
                <a16:creationId xmlns:a16="http://schemas.microsoft.com/office/drawing/2014/main" id="{C2576B7D-67EA-BA65-9331-E4CD02EBAC53}"/>
              </a:ext>
            </a:extLst>
          </p:cNvPr>
          <p:cNvSpPr/>
          <p:nvPr/>
        </p:nvSpPr>
        <p:spPr>
          <a:xfrm>
            <a:off x="5693074" y="2699084"/>
            <a:ext cx="2667000" cy="6857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T-SQL – PLSQL </a:t>
            </a:r>
          </a:p>
        </p:txBody>
      </p:sp>
    </p:spTree>
    <p:extLst>
      <p:ext uri="{BB962C8B-B14F-4D97-AF65-F5344CB8AC3E}">
        <p14:creationId xmlns:p14="http://schemas.microsoft.com/office/powerpoint/2010/main" val="2347638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4D1A7BE-5ED2-55AC-F5D7-9225A06C5F44}"/>
            </a:ext>
          </a:extLst>
        </p:cNvPr>
        <p:cNvGrpSpPr/>
        <p:nvPr/>
      </p:nvGrpSpPr>
      <p:grpSpPr>
        <a:xfrm>
          <a:off x="0" y="0"/>
          <a:ext cx="0" cy="0"/>
          <a:chOff x="0" y="0"/>
          <a:chExt cx="0" cy="0"/>
        </a:xfrm>
      </p:grpSpPr>
      <p:sp>
        <p:nvSpPr>
          <p:cNvPr id="11" name="TextBox 11">
            <a:extLst>
              <a:ext uri="{FF2B5EF4-FFF2-40B4-BE49-F238E27FC236}">
                <a16:creationId xmlns:a16="http://schemas.microsoft.com/office/drawing/2014/main" id="{20C806B3-3CDE-D2C8-EBE1-03ECF9091D8E}"/>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12" name="TextBox 12">
            <a:extLst>
              <a:ext uri="{FF2B5EF4-FFF2-40B4-BE49-F238E27FC236}">
                <a16:creationId xmlns:a16="http://schemas.microsoft.com/office/drawing/2014/main" id="{94221D6E-1FA5-4632-C010-6CCAD2334BE1}"/>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14" name="TextBox 14">
            <a:extLst>
              <a:ext uri="{FF2B5EF4-FFF2-40B4-BE49-F238E27FC236}">
                <a16:creationId xmlns:a16="http://schemas.microsoft.com/office/drawing/2014/main" id="{5E9453FA-F7DE-1285-4879-6209E5003E28}"/>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19" name="TextBox 14">
            <a:extLst>
              <a:ext uri="{FF2B5EF4-FFF2-40B4-BE49-F238E27FC236}">
                <a16:creationId xmlns:a16="http://schemas.microsoft.com/office/drawing/2014/main" id="{7E1B180B-676A-5EBA-37BE-4EA5FB826B02}"/>
              </a:ext>
            </a:extLst>
          </p:cNvPr>
          <p:cNvSpPr txBox="1"/>
          <p:nvPr/>
        </p:nvSpPr>
        <p:spPr>
          <a:xfrm>
            <a:off x="14015884" y="266700"/>
            <a:ext cx="4119716" cy="291747"/>
          </a:xfrm>
          <a:prstGeom prst="rect">
            <a:avLst/>
          </a:prstGeom>
        </p:spPr>
        <p:txBody>
          <a:bodyPr wrap="square" lIns="0" tIns="0" rIns="0" bIns="0" rtlCol="0" anchor="t">
            <a:spAutoFit/>
          </a:bodyPr>
          <a:lstStyle/>
          <a:p>
            <a:pPr>
              <a:lnSpc>
                <a:spcPts val="2380"/>
              </a:lnSpc>
              <a:spcBef>
                <a:spcPct val="0"/>
              </a:spcBef>
            </a:pPr>
            <a:r>
              <a:rPr lang="en-US" spc="3" dirty="0">
                <a:solidFill>
                  <a:srgbClr val="FFFFFF"/>
                </a:solidFill>
                <a:latin typeface="+mj-lt"/>
                <a:ea typeface="Open Sauce"/>
                <a:cs typeface="Open Sauce"/>
                <a:sym typeface="Open Sauce"/>
              </a:rPr>
              <a:t>Ranking  </a:t>
            </a:r>
            <a:r>
              <a:rPr lang="en-US" spc="3" dirty="0">
                <a:solidFill>
                  <a:srgbClr val="FFFFFF"/>
                </a:solidFill>
                <a:ea typeface="Open Sauce"/>
                <a:cs typeface="Open Sauce"/>
                <a:sym typeface="Open Sauce"/>
              </a:rPr>
              <a:t> TIOBE index</a:t>
            </a:r>
          </a:p>
        </p:txBody>
      </p:sp>
      <p:sp>
        <p:nvSpPr>
          <p:cNvPr id="20" name="TextBox 15">
            <a:extLst>
              <a:ext uri="{FF2B5EF4-FFF2-40B4-BE49-F238E27FC236}">
                <a16:creationId xmlns:a16="http://schemas.microsoft.com/office/drawing/2014/main" id="{7074AE5A-6807-6C32-4ECD-4A741E8F1E3F}"/>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1" name="AutoShape 16">
            <a:extLst>
              <a:ext uri="{FF2B5EF4-FFF2-40B4-BE49-F238E27FC236}">
                <a16:creationId xmlns:a16="http://schemas.microsoft.com/office/drawing/2014/main" id="{CDCFFA41-7353-DCAF-BB01-2996B47872E8}"/>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8" name="Rectangle 35">
            <a:extLst>
              <a:ext uri="{FF2B5EF4-FFF2-40B4-BE49-F238E27FC236}">
                <a16:creationId xmlns:a16="http://schemas.microsoft.com/office/drawing/2014/main" id="{3191657B-3401-83F1-E69B-451D5B37A818}"/>
              </a:ext>
            </a:extLst>
          </p:cNvPr>
          <p:cNvSpPr>
            <a:spLocks noChangeArrowheads="1"/>
          </p:cNvSpPr>
          <p:nvPr/>
        </p:nvSpPr>
        <p:spPr bwMode="auto">
          <a:xfrm>
            <a:off x="1733550" y="1573213"/>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F54AA78A-2F24-2882-5904-CA7FEF990646}"/>
              </a:ext>
            </a:extLst>
          </p:cNvPr>
          <p:cNvPicPr>
            <a:picLocks noChangeAspect="1"/>
          </p:cNvPicPr>
          <p:nvPr/>
        </p:nvPicPr>
        <p:blipFill>
          <a:blip r:embed="rId3"/>
          <a:stretch>
            <a:fillRect/>
          </a:stretch>
        </p:blipFill>
        <p:spPr>
          <a:xfrm>
            <a:off x="156411" y="781538"/>
            <a:ext cx="9163617" cy="8905487"/>
          </a:xfrm>
          <a:prstGeom prst="rect">
            <a:avLst/>
          </a:prstGeom>
        </p:spPr>
      </p:pic>
      <p:sp>
        <p:nvSpPr>
          <p:cNvPr id="7" name="TextBox 6">
            <a:extLst>
              <a:ext uri="{FF2B5EF4-FFF2-40B4-BE49-F238E27FC236}">
                <a16:creationId xmlns:a16="http://schemas.microsoft.com/office/drawing/2014/main" id="{BC032120-EC63-6143-2076-B87D6CA3B841}"/>
              </a:ext>
            </a:extLst>
          </p:cNvPr>
          <p:cNvSpPr txBox="1"/>
          <p:nvPr/>
        </p:nvSpPr>
        <p:spPr>
          <a:xfrm>
            <a:off x="9462619" y="647700"/>
            <a:ext cx="8444381" cy="8880380"/>
          </a:xfrm>
          <a:prstGeom prst="rect">
            <a:avLst/>
          </a:prstGeom>
          <a:noFill/>
        </p:spPr>
        <p:txBody>
          <a:bodyPr wrap="square">
            <a:spAutoFit/>
          </a:bodyPr>
          <a:lstStyle/>
          <a:p>
            <a:pPr>
              <a:lnSpc>
                <a:spcPct val="115000"/>
              </a:lnSpc>
              <a:spcAft>
                <a:spcPts val="800"/>
              </a:spcAft>
            </a:pPr>
            <a:r>
              <a:rPr lang="en-US"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REASONS WHY _ THE MASSIVE POPULARITY OF PYTHON WILL REMAIN INTACT IN THE FUTURE</a:t>
            </a:r>
            <a:endParaRPr lang="fr-FR"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lang="en-US"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Supports Multiple Programming Paradigms</a:t>
            </a:r>
            <a:endParaRPr lang="fr-FR"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lang="en-US"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Doesn't Require Programmers to Write Lengthy Code</a:t>
            </a:r>
            <a:endParaRPr lang="fr-FR"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lang="en-US"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Provides a Comprehensive Standard Library</a:t>
            </a:r>
            <a:endParaRPr lang="fr-FR"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lang="en-US"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Effectuates Web Application Development</a:t>
            </a:r>
            <a:endParaRPr lang="fr-FR"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lang="en-US"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Facilitates Development of High-Quality GUI, Scientific and Numeric applications </a:t>
            </a:r>
            <a:endParaRPr lang="fr-FR"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lang="en-US"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Simplifies Prototyping of Applications</a:t>
            </a:r>
            <a:endParaRPr lang="fr-FR"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lang="en-US"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Can also be used for Mobile App Development</a:t>
            </a:r>
            <a:endParaRPr lang="fr-FR"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lang="en-US"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Open Source</a:t>
            </a:r>
          </a:p>
          <a:p>
            <a:pPr marL="228600" indent="-228600">
              <a:spcAft>
                <a:spcPts val="800"/>
              </a:spcAft>
              <a:buFont typeface="Arial" panose="020B0604020202020204" pitchFamily="34" charset="0"/>
              <a:buChar char="•"/>
            </a:pPr>
            <a:r>
              <a:rPr lang="en-US"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Easy to learn</a:t>
            </a:r>
          </a:p>
          <a:p>
            <a:pPr marL="228600" indent="-228600">
              <a:spcAft>
                <a:spcPts val="800"/>
              </a:spcAft>
              <a:buFont typeface="Arial" panose="020B0604020202020204" pitchFamily="34" charset="0"/>
              <a:buChar char="•"/>
            </a:pPr>
            <a:r>
              <a:rPr lang="en-US" sz="2800" kern="100" dirty="0">
                <a:solidFill>
                  <a:schemeClr val="bg1"/>
                </a:solidFill>
                <a:latin typeface="Aptos" panose="020B0004020202020204" pitchFamily="34" charset="0"/>
                <a:ea typeface="Aptos" panose="020B0004020202020204" pitchFamily="34" charset="0"/>
                <a:cs typeface="Arial" panose="020B0604020202020204" pitchFamily="34" charset="0"/>
              </a:rPr>
              <a:t>Versatile</a:t>
            </a:r>
          </a:p>
          <a:p>
            <a:pPr marL="228600" indent="-228600">
              <a:spcAft>
                <a:spcPts val="800"/>
              </a:spcAft>
              <a:buFont typeface="Arial" panose="020B0604020202020204" pitchFamily="34" charset="0"/>
              <a:buChar char="•"/>
            </a:pPr>
            <a:r>
              <a:rPr lang="en-US"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Large community</a:t>
            </a:r>
          </a:p>
          <a:p>
            <a:pPr marL="228600" indent="-228600">
              <a:spcAft>
                <a:spcPts val="800"/>
              </a:spcAft>
              <a:buFont typeface="Arial" panose="020B0604020202020204" pitchFamily="34" charset="0"/>
              <a:buChar char="•"/>
            </a:pPr>
            <a:r>
              <a:rPr lang="en-US" sz="2800" kern="100" dirty="0">
                <a:solidFill>
                  <a:schemeClr val="bg1"/>
                </a:solidFill>
                <a:latin typeface="Aptos" panose="020B0004020202020204" pitchFamily="34" charset="0"/>
                <a:ea typeface="Aptos" panose="020B0004020202020204" pitchFamily="34" charset="0"/>
                <a:cs typeface="Arial" panose="020B0604020202020204" pitchFamily="34" charset="0"/>
              </a:rPr>
              <a:t>High demand</a:t>
            </a:r>
            <a:endParaRPr lang="en-US" sz="2800"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lang="en-US" sz="2800" b="1" kern="100" dirty="0">
                <a:solidFill>
                  <a:schemeClr val="bg1"/>
                </a:solidFill>
                <a:latin typeface="Aptos" panose="020B0004020202020204" pitchFamily="34" charset="0"/>
                <a:ea typeface="Aptos" panose="020B0004020202020204" pitchFamily="34" charset="0"/>
                <a:cs typeface="Arial" panose="020B0604020202020204" pitchFamily="34" charset="0"/>
              </a:rPr>
              <a:t>Excel</a:t>
            </a:r>
            <a:endParaRPr lang="fr-FR" sz="2800" b="1" kern="10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987913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9C7E790-BBDD-C99A-44D2-2A914679C15A}"/>
            </a:ext>
          </a:extLst>
        </p:cNvPr>
        <p:cNvGrpSpPr/>
        <p:nvPr/>
      </p:nvGrpSpPr>
      <p:grpSpPr>
        <a:xfrm>
          <a:off x="0" y="0"/>
          <a:ext cx="0" cy="0"/>
          <a:chOff x="0" y="0"/>
          <a:chExt cx="0" cy="0"/>
        </a:xfrm>
      </p:grpSpPr>
      <p:sp>
        <p:nvSpPr>
          <p:cNvPr id="11" name="TextBox 11">
            <a:extLst>
              <a:ext uri="{FF2B5EF4-FFF2-40B4-BE49-F238E27FC236}">
                <a16:creationId xmlns:a16="http://schemas.microsoft.com/office/drawing/2014/main" id="{55CBE9C1-595F-6B39-68A1-3D68139EDB09}"/>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12" name="TextBox 12">
            <a:extLst>
              <a:ext uri="{FF2B5EF4-FFF2-40B4-BE49-F238E27FC236}">
                <a16:creationId xmlns:a16="http://schemas.microsoft.com/office/drawing/2014/main" id="{0D4E9E7F-2F46-0026-38A5-11513CE0B0B3}"/>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14" name="TextBox 14">
            <a:extLst>
              <a:ext uri="{FF2B5EF4-FFF2-40B4-BE49-F238E27FC236}">
                <a16:creationId xmlns:a16="http://schemas.microsoft.com/office/drawing/2014/main" id="{4D045F34-80E9-03F3-6E33-0AE9B78F9B07}"/>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19" name="TextBox 14">
            <a:extLst>
              <a:ext uri="{FF2B5EF4-FFF2-40B4-BE49-F238E27FC236}">
                <a16:creationId xmlns:a16="http://schemas.microsoft.com/office/drawing/2014/main" id="{A086466E-8260-119D-F502-4948F13DBD84}"/>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 Syntax</a:t>
            </a:r>
          </a:p>
        </p:txBody>
      </p:sp>
      <p:sp>
        <p:nvSpPr>
          <p:cNvPr id="20" name="TextBox 15">
            <a:extLst>
              <a:ext uri="{FF2B5EF4-FFF2-40B4-BE49-F238E27FC236}">
                <a16:creationId xmlns:a16="http://schemas.microsoft.com/office/drawing/2014/main" id="{ACB86602-A689-2FE6-EE2B-6AF730AB9DC7}"/>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1" name="AutoShape 16">
            <a:extLst>
              <a:ext uri="{FF2B5EF4-FFF2-40B4-BE49-F238E27FC236}">
                <a16:creationId xmlns:a16="http://schemas.microsoft.com/office/drawing/2014/main" id="{3546586B-9116-3BCD-5986-8340CAE301F9}"/>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8" name="Rectangle 35">
            <a:extLst>
              <a:ext uri="{FF2B5EF4-FFF2-40B4-BE49-F238E27FC236}">
                <a16:creationId xmlns:a16="http://schemas.microsoft.com/office/drawing/2014/main" id="{7DBC4DFA-F96E-4F75-0058-DC493CD8F7D1}"/>
              </a:ext>
            </a:extLst>
          </p:cNvPr>
          <p:cNvSpPr>
            <a:spLocks noChangeArrowheads="1"/>
          </p:cNvSpPr>
          <p:nvPr/>
        </p:nvSpPr>
        <p:spPr bwMode="auto">
          <a:xfrm>
            <a:off x="1733550" y="1573213"/>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2050" name="Picture 2" descr="Java vs Python: Tried and True vs “Modern and New” | Belitsoft">
            <a:extLst>
              <a:ext uri="{FF2B5EF4-FFF2-40B4-BE49-F238E27FC236}">
                <a16:creationId xmlns:a16="http://schemas.microsoft.com/office/drawing/2014/main" id="{254E4E5A-3910-82B3-DEB2-70FAD2A7EF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969508"/>
            <a:ext cx="8958262" cy="868201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No photo description available.">
            <a:extLst>
              <a:ext uri="{FF2B5EF4-FFF2-40B4-BE49-F238E27FC236}">
                <a16:creationId xmlns:a16="http://schemas.microsoft.com/office/drawing/2014/main" id="{7033CAEE-9A10-00EA-6B76-464B518A1C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79195" y="969505"/>
            <a:ext cx="8656405" cy="8682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293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01B4AAF-94E1-EB64-A97D-A4A5844A03C5}"/>
            </a:ext>
          </a:extLst>
        </p:cNvPr>
        <p:cNvGrpSpPr/>
        <p:nvPr/>
      </p:nvGrpSpPr>
      <p:grpSpPr>
        <a:xfrm>
          <a:off x="0" y="0"/>
          <a:ext cx="0" cy="0"/>
          <a:chOff x="0" y="0"/>
          <a:chExt cx="0" cy="0"/>
        </a:xfrm>
      </p:grpSpPr>
      <p:sp>
        <p:nvSpPr>
          <p:cNvPr id="11" name="TextBox 11">
            <a:extLst>
              <a:ext uri="{FF2B5EF4-FFF2-40B4-BE49-F238E27FC236}">
                <a16:creationId xmlns:a16="http://schemas.microsoft.com/office/drawing/2014/main" id="{4DAED4A0-2385-04E0-905B-A2959D942D08}"/>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12" name="TextBox 12">
            <a:extLst>
              <a:ext uri="{FF2B5EF4-FFF2-40B4-BE49-F238E27FC236}">
                <a16:creationId xmlns:a16="http://schemas.microsoft.com/office/drawing/2014/main" id="{22DB4889-AD7B-D070-FD16-38F7C3BEE08A}"/>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14" name="TextBox 14">
            <a:extLst>
              <a:ext uri="{FF2B5EF4-FFF2-40B4-BE49-F238E27FC236}">
                <a16:creationId xmlns:a16="http://schemas.microsoft.com/office/drawing/2014/main" id="{5BAEB3EE-7D34-23C8-F68A-B20DC1281492}"/>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19" name="TextBox 14">
            <a:extLst>
              <a:ext uri="{FF2B5EF4-FFF2-40B4-BE49-F238E27FC236}">
                <a16:creationId xmlns:a16="http://schemas.microsoft.com/office/drawing/2014/main" id="{45FEBFF0-E020-C5BE-BBAE-550456936B22}"/>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 Use</a:t>
            </a:r>
          </a:p>
        </p:txBody>
      </p:sp>
      <p:sp>
        <p:nvSpPr>
          <p:cNvPr id="20" name="TextBox 15">
            <a:extLst>
              <a:ext uri="{FF2B5EF4-FFF2-40B4-BE49-F238E27FC236}">
                <a16:creationId xmlns:a16="http://schemas.microsoft.com/office/drawing/2014/main" id="{6A747AEC-62F1-0717-11B3-06486F075B82}"/>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1" name="AutoShape 16">
            <a:extLst>
              <a:ext uri="{FF2B5EF4-FFF2-40B4-BE49-F238E27FC236}">
                <a16:creationId xmlns:a16="http://schemas.microsoft.com/office/drawing/2014/main" id="{69C17AE6-EC58-9AA1-D368-8C1D8F518528}"/>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8" name="Rectangle 35">
            <a:extLst>
              <a:ext uri="{FF2B5EF4-FFF2-40B4-BE49-F238E27FC236}">
                <a16:creationId xmlns:a16="http://schemas.microsoft.com/office/drawing/2014/main" id="{C056B3CA-BA90-C044-856E-6649E98A5351}"/>
              </a:ext>
            </a:extLst>
          </p:cNvPr>
          <p:cNvSpPr>
            <a:spLocks noChangeArrowheads="1"/>
          </p:cNvSpPr>
          <p:nvPr/>
        </p:nvSpPr>
        <p:spPr bwMode="auto">
          <a:xfrm>
            <a:off x="1733550" y="1573213"/>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 name="Rectangle: Rounded Corners 4">
            <a:extLst>
              <a:ext uri="{FF2B5EF4-FFF2-40B4-BE49-F238E27FC236}">
                <a16:creationId xmlns:a16="http://schemas.microsoft.com/office/drawing/2014/main" id="{9F814129-15C7-FB9C-88C2-EEAD086DF656}"/>
              </a:ext>
            </a:extLst>
          </p:cNvPr>
          <p:cNvSpPr/>
          <p:nvPr/>
        </p:nvSpPr>
        <p:spPr>
          <a:xfrm>
            <a:off x="457200" y="1406893"/>
            <a:ext cx="3597844"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Interpreted</a:t>
            </a:r>
          </a:p>
        </p:txBody>
      </p:sp>
      <p:sp>
        <p:nvSpPr>
          <p:cNvPr id="7" name="Rectangle: Rounded Corners 6">
            <a:extLst>
              <a:ext uri="{FF2B5EF4-FFF2-40B4-BE49-F238E27FC236}">
                <a16:creationId xmlns:a16="http://schemas.microsoft.com/office/drawing/2014/main" id="{4C7DB459-8C0B-AF89-3186-9984716ED495}"/>
              </a:ext>
            </a:extLst>
          </p:cNvPr>
          <p:cNvSpPr/>
          <p:nvPr/>
        </p:nvSpPr>
        <p:spPr>
          <a:xfrm>
            <a:off x="4267200" y="1406893"/>
            <a:ext cx="4098356"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Memory management</a:t>
            </a:r>
          </a:p>
        </p:txBody>
      </p:sp>
      <p:sp>
        <p:nvSpPr>
          <p:cNvPr id="9" name="Rectangle: Rounded Corners 8">
            <a:extLst>
              <a:ext uri="{FF2B5EF4-FFF2-40B4-BE49-F238E27FC236}">
                <a16:creationId xmlns:a16="http://schemas.microsoft.com/office/drawing/2014/main" id="{B50E7780-4831-053D-D4E6-BBAD71729E0A}"/>
              </a:ext>
            </a:extLst>
          </p:cNvPr>
          <p:cNvSpPr/>
          <p:nvPr/>
        </p:nvSpPr>
        <p:spPr>
          <a:xfrm>
            <a:off x="8608192" y="1406892"/>
            <a:ext cx="4098356"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Dynamically Typed</a:t>
            </a:r>
          </a:p>
        </p:txBody>
      </p:sp>
      <p:sp>
        <p:nvSpPr>
          <p:cNvPr id="10" name="Rectangle: Rounded Corners 9">
            <a:extLst>
              <a:ext uri="{FF2B5EF4-FFF2-40B4-BE49-F238E27FC236}">
                <a16:creationId xmlns:a16="http://schemas.microsoft.com/office/drawing/2014/main" id="{4ED06416-1DEF-C5CD-AF88-089C3C8AEBCF}"/>
              </a:ext>
            </a:extLst>
          </p:cNvPr>
          <p:cNvSpPr/>
          <p:nvPr/>
        </p:nvSpPr>
        <p:spPr>
          <a:xfrm>
            <a:off x="12918704" y="1406892"/>
            <a:ext cx="4098356"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Embeddable</a:t>
            </a:r>
          </a:p>
        </p:txBody>
      </p:sp>
      <p:sp>
        <p:nvSpPr>
          <p:cNvPr id="13" name="Rectangle: Rounded Corners 12">
            <a:extLst>
              <a:ext uri="{FF2B5EF4-FFF2-40B4-BE49-F238E27FC236}">
                <a16:creationId xmlns:a16="http://schemas.microsoft.com/office/drawing/2014/main" id="{CD92C698-F628-69F2-2328-70497BA492C2}"/>
              </a:ext>
            </a:extLst>
          </p:cNvPr>
          <p:cNvSpPr/>
          <p:nvPr/>
        </p:nvSpPr>
        <p:spPr>
          <a:xfrm>
            <a:off x="457200" y="2376694"/>
            <a:ext cx="3597844"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Object oriented</a:t>
            </a:r>
          </a:p>
        </p:txBody>
      </p:sp>
      <p:sp>
        <p:nvSpPr>
          <p:cNvPr id="15" name="Rectangle: Rounded Corners 14">
            <a:extLst>
              <a:ext uri="{FF2B5EF4-FFF2-40B4-BE49-F238E27FC236}">
                <a16:creationId xmlns:a16="http://schemas.microsoft.com/office/drawing/2014/main" id="{D6DB58B7-ECF2-E336-FF13-088A956ADE68}"/>
              </a:ext>
            </a:extLst>
          </p:cNvPr>
          <p:cNvSpPr/>
          <p:nvPr/>
        </p:nvSpPr>
        <p:spPr>
          <a:xfrm>
            <a:off x="4303295" y="2442430"/>
            <a:ext cx="3597844"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Large Ecosystem</a:t>
            </a:r>
          </a:p>
        </p:txBody>
      </p:sp>
      <p:sp>
        <p:nvSpPr>
          <p:cNvPr id="17" name="Rectangle: Rounded Corners 16">
            <a:extLst>
              <a:ext uri="{FF2B5EF4-FFF2-40B4-BE49-F238E27FC236}">
                <a16:creationId xmlns:a16="http://schemas.microsoft.com/office/drawing/2014/main" id="{101D6F18-9FBE-6ED0-DCDE-6790202A848B}"/>
              </a:ext>
            </a:extLst>
          </p:cNvPr>
          <p:cNvSpPr/>
          <p:nvPr/>
        </p:nvSpPr>
        <p:spPr>
          <a:xfrm>
            <a:off x="4982878" y="5170372"/>
            <a:ext cx="3597844"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Desktop Apps</a:t>
            </a:r>
          </a:p>
        </p:txBody>
      </p:sp>
      <p:sp>
        <p:nvSpPr>
          <p:cNvPr id="18" name="Rectangle: Rounded Corners 17">
            <a:extLst>
              <a:ext uri="{FF2B5EF4-FFF2-40B4-BE49-F238E27FC236}">
                <a16:creationId xmlns:a16="http://schemas.microsoft.com/office/drawing/2014/main" id="{D193D9F2-B21C-321D-0520-9D40E368D2D3}"/>
              </a:ext>
            </a:extLst>
          </p:cNvPr>
          <p:cNvSpPr/>
          <p:nvPr/>
        </p:nvSpPr>
        <p:spPr>
          <a:xfrm>
            <a:off x="3190373" y="5937492"/>
            <a:ext cx="3597844"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Data Science</a:t>
            </a:r>
          </a:p>
        </p:txBody>
      </p:sp>
      <p:sp>
        <p:nvSpPr>
          <p:cNvPr id="22" name="Rectangle: Rounded Corners 21">
            <a:extLst>
              <a:ext uri="{FF2B5EF4-FFF2-40B4-BE49-F238E27FC236}">
                <a16:creationId xmlns:a16="http://schemas.microsoft.com/office/drawing/2014/main" id="{09A99987-07C1-4E7A-12C0-4D22E2AE26F8}"/>
              </a:ext>
            </a:extLst>
          </p:cNvPr>
          <p:cNvSpPr/>
          <p:nvPr/>
        </p:nvSpPr>
        <p:spPr>
          <a:xfrm>
            <a:off x="8740942" y="5170371"/>
            <a:ext cx="3597844"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Gaming</a:t>
            </a:r>
          </a:p>
        </p:txBody>
      </p:sp>
      <p:sp>
        <p:nvSpPr>
          <p:cNvPr id="23" name="Rectangle: Rounded Corners 22">
            <a:extLst>
              <a:ext uri="{FF2B5EF4-FFF2-40B4-BE49-F238E27FC236}">
                <a16:creationId xmlns:a16="http://schemas.microsoft.com/office/drawing/2014/main" id="{9BA5A53B-1AE6-F7B1-46BC-70938590377D}"/>
              </a:ext>
            </a:extLst>
          </p:cNvPr>
          <p:cNvSpPr/>
          <p:nvPr/>
        </p:nvSpPr>
        <p:spPr>
          <a:xfrm>
            <a:off x="10961971" y="5937493"/>
            <a:ext cx="3597844"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Web Apps</a:t>
            </a:r>
          </a:p>
        </p:txBody>
      </p:sp>
      <p:sp>
        <p:nvSpPr>
          <p:cNvPr id="24" name="Rectangle: Rounded Corners 23">
            <a:extLst>
              <a:ext uri="{FF2B5EF4-FFF2-40B4-BE49-F238E27FC236}">
                <a16:creationId xmlns:a16="http://schemas.microsoft.com/office/drawing/2014/main" id="{A6FC7E4C-C773-A85A-36DF-CF0593C6F7EF}"/>
              </a:ext>
            </a:extLst>
          </p:cNvPr>
          <p:cNvSpPr/>
          <p:nvPr/>
        </p:nvSpPr>
        <p:spPr>
          <a:xfrm>
            <a:off x="2163478" y="6698298"/>
            <a:ext cx="3597844"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AI/ML</a:t>
            </a:r>
          </a:p>
        </p:txBody>
      </p:sp>
      <p:sp>
        <p:nvSpPr>
          <p:cNvPr id="25" name="Rectangle: Rounded Corners 24">
            <a:extLst>
              <a:ext uri="{FF2B5EF4-FFF2-40B4-BE49-F238E27FC236}">
                <a16:creationId xmlns:a16="http://schemas.microsoft.com/office/drawing/2014/main" id="{E060AF61-C32A-D4B1-4722-0D37C6F8E19C}"/>
              </a:ext>
            </a:extLst>
          </p:cNvPr>
          <p:cNvSpPr/>
          <p:nvPr/>
        </p:nvSpPr>
        <p:spPr>
          <a:xfrm>
            <a:off x="6980320" y="7658100"/>
            <a:ext cx="3597844"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Scripting</a:t>
            </a:r>
          </a:p>
        </p:txBody>
      </p:sp>
      <p:sp>
        <p:nvSpPr>
          <p:cNvPr id="26" name="Rectangle: Rounded Corners 25">
            <a:extLst>
              <a:ext uri="{FF2B5EF4-FFF2-40B4-BE49-F238E27FC236}">
                <a16:creationId xmlns:a16="http://schemas.microsoft.com/office/drawing/2014/main" id="{45C31EA9-DCBC-DF04-275F-51B78782D0E4}"/>
              </a:ext>
            </a:extLst>
          </p:cNvPr>
          <p:cNvSpPr/>
          <p:nvPr/>
        </p:nvSpPr>
        <p:spPr>
          <a:xfrm>
            <a:off x="10842056" y="7459103"/>
            <a:ext cx="3597844"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Mobile Apps</a:t>
            </a:r>
          </a:p>
        </p:txBody>
      </p:sp>
      <p:sp>
        <p:nvSpPr>
          <p:cNvPr id="27" name="Rectangle: Rounded Corners 26">
            <a:extLst>
              <a:ext uri="{FF2B5EF4-FFF2-40B4-BE49-F238E27FC236}">
                <a16:creationId xmlns:a16="http://schemas.microsoft.com/office/drawing/2014/main" id="{0248DA2B-80C8-E230-4FC2-078570949788}"/>
              </a:ext>
            </a:extLst>
          </p:cNvPr>
          <p:cNvSpPr/>
          <p:nvPr/>
        </p:nvSpPr>
        <p:spPr>
          <a:xfrm>
            <a:off x="11612278" y="6698298"/>
            <a:ext cx="3597844"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IoT</a:t>
            </a:r>
          </a:p>
        </p:txBody>
      </p:sp>
      <p:sp>
        <p:nvSpPr>
          <p:cNvPr id="28" name="Rectangle: Rounded Corners 27">
            <a:extLst>
              <a:ext uri="{FF2B5EF4-FFF2-40B4-BE49-F238E27FC236}">
                <a16:creationId xmlns:a16="http://schemas.microsoft.com/office/drawing/2014/main" id="{E9241D68-EE33-AE64-A922-0642CB3CE0DC}"/>
              </a:ext>
            </a:extLst>
          </p:cNvPr>
          <p:cNvSpPr/>
          <p:nvPr/>
        </p:nvSpPr>
        <p:spPr>
          <a:xfrm>
            <a:off x="3077878" y="7439739"/>
            <a:ext cx="3597844" cy="6857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Robotics</a:t>
            </a:r>
          </a:p>
        </p:txBody>
      </p:sp>
    </p:spTree>
    <p:extLst>
      <p:ext uri="{BB962C8B-B14F-4D97-AF65-F5344CB8AC3E}">
        <p14:creationId xmlns:p14="http://schemas.microsoft.com/office/powerpoint/2010/main" val="3603522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23D711E-394F-9B10-A5A1-721E5422BBCA}"/>
            </a:ext>
          </a:extLst>
        </p:cNvPr>
        <p:cNvGrpSpPr/>
        <p:nvPr/>
      </p:nvGrpSpPr>
      <p:grpSpPr>
        <a:xfrm>
          <a:off x="0" y="0"/>
          <a:ext cx="0" cy="0"/>
          <a:chOff x="0" y="0"/>
          <a:chExt cx="0" cy="0"/>
        </a:xfrm>
      </p:grpSpPr>
      <p:sp>
        <p:nvSpPr>
          <p:cNvPr id="11" name="TextBox 11">
            <a:extLst>
              <a:ext uri="{FF2B5EF4-FFF2-40B4-BE49-F238E27FC236}">
                <a16:creationId xmlns:a16="http://schemas.microsoft.com/office/drawing/2014/main" id="{3170EF3E-5F72-1962-15BA-E20BA1E41A19}"/>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12" name="TextBox 12">
            <a:extLst>
              <a:ext uri="{FF2B5EF4-FFF2-40B4-BE49-F238E27FC236}">
                <a16:creationId xmlns:a16="http://schemas.microsoft.com/office/drawing/2014/main" id="{2EE04895-D610-B7E1-7C37-B96BEE873C89}"/>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14" name="TextBox 14">
            <a:extLst>
              <a:ext uri="{FF2B5EF4-FFF2-40B4-BE49-F238E27FC236}">
                <a16:creationId xmlns:a16="http://schemas.microsoft.com/office/drawing/2014/main" id="{D00D9ADB-C22E-F247-BAE6-051161F9AD4D}"/>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19" name="TextBox 14">
            <a:extLst>
              <a:ext uri="{FF2B5EF4-FFF2-40B4-BE49-F238E27FC236}">
                <a16:creationId xmlns:a16="http://schemas.microsoft.com/office/drawing/2014/main" id="{BC871EF8-E3DF-A1F8-EC11-D9FBE1B5FD75}"/>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 Use</a:t>
            </a:r>
          </a:p>
        </p:txBody>
      </p:sp>
      <p:sp>
        <p:nvSpPr>
          <p:cNvPr id="20" name="TextBox 15">
            <a:extLst>
              <a:ext uri="{FF2B5EF4-FFF2-40B4-BE49-F238E27FC236}">
                <a16:creationId xmlns:a16="http://schemas.microsoft.com/office/drawing/2014/main" id="{E7B37A8D-848F-CA46-DAD8-DB61F3C4BE3D}"/>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1" name="AutoShape 16">
            <a:extLst>
              <a:ext uri="{FF2B5EF4-FFF2-40B4-BE49-F238E27FC236}">
                <a16:creationId xmlns:a16="http://schemas.microsoft.com/office/drawing/2014/main" id="{FDA1FD08-C0A2-2B44-4F82-80C02AFB7929}"/>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8" name="Rectangle 35">
            <a:extLst>
              <a:ext uri="{FF2B5EF4-FFF2-40B4-BE49-F238E27FC236}">
                <a16:creationId xmlns:a16="http://schemas.microsoft.com/office/drawing/2014/main" id="{0F0A3057-F5B3-74C2-CB34-F99265ED5494}"/>
              </a:ext>
            </a:extLst>
          </p:cNvPr>
          <p:cNvSpPr>
            <a:spLocks noChangeArrowheads="1"/>
          </p:cNvSpPr>
          <p:nvPr/>
        </p:nvSpPr>
        <p:spPr bwMode="auto">
          <a:xfrm>
            <a:off x="13258800" y="4230003"/>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314B7A02-016E-F3C0-6AE2-1F443FB8988B}"/>
              </a:ext>
            </a:extLst>
          </p:cNvPr>
          <p:cNvSpPr/>
          <p:nvPr/>
        </p:nvSpPr>
        <p:spPr>
          <a:xfrm>
            <a:off x="3496971" y="2891070"/>
            <a:ext cx="1648428" cy="62128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Python</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3" name="Rectangle 2">
            <a:extLst>
              <a:ext uri="{FF2B5EF4-FFF2-40B4-BE49-F238E27FC236}">
                <a16:creationId xmlns:a16="http://schemas.microsoft.com/office/drawing/2014/main" id="{5402CC57-8EBB-300C-261A-F158B1FAA3B0}"/>
              </a:ext>
            </a:extLst>
          </p:cNvPr>
          <p:cNvSpPr/>
          <p:nvPr/>
        </p:nvSpPr>
        <p:spPr>
          <a:xfrm>
            <a:off x="5636470" y="1398767"/>
            <a:ext cx="3005052" cy="621290"/>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err="1">
                <a:ln>
                  <a:noFill/>
                </a:ln>
                <a:solidFill>
                  <a:prstClr val="white"/>
                </a:solidFill>
                <a:effectLst/>
                <a:uLnTx/>
                <a:uFillTx/>
                <a:latin typeface="Corbel" panose="020B0503020204020204"/>
                <a:ea typeface="+mn-ea"/>
                <a:cs typeface="+mn-cs"/>
              </a:rPr>
              <a:t>NumPy</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4" name="Rectangle 3">
            <a:extLst>
              <a:ext uri="{FF2B5EF4-FFF2-40B4-BE49-F238E27FC236}">
                <a16:creationId xmlns:a16="http://schemas.microsoft.com/office/drawing/2014/main" id="{91C4E176-1B10-1B2F-1CB3-40355A88F93A}"/>
              </a:ext>
            </a:extLst>
          </p:cNvPr>
          <p:cNvSpPr/>
          <p:nvPr/>
        </p:nvSpPr>
        <p:spPr>
          <a:xfrm>
            <a:off x="9357885" y="1386549"/>
            <a:ext cx="5276185" cy="621290"/>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FR" sz="3200" b="1" kern="0" dirty="0" err="1">
                <a:solidFill>
                  <a:prstClr val="white"/>
                </a:solidFill>
                <a:latin typeface="Corbel" panose="020B0503020204020204"/>
              </a:rPr>
              <a:t>Arrays</a:t>
            </a:r>
            <a:r>
              <a:rPr lang="fr-FR" sz="3200" b="1" kern="0" dirty="0">
                <a:solidFill>
                  <a:prstClr val="white"/>
                </a:solidFill>
                <a:latin typeface="Corbel" panose="020B0503020204020204"/>
              </a:rPr>
              <a:t> + Matrices</a:t>
            </a:r>
            <a:endPar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6" name="Rectangle 5">
            <a:extLst>
              <a:ext uri="{FF2B5EF4-FFF2-40B4-BE49-F238E27FC236}">
                <a16:creationId xmlns:a16="http://schemas.microsoft.com/office/drawing/2014/main" id="{A6906B6C-666F-1CDD-8B49-BB7C214CBE43}"/>
              </a:ext>
            </a:extLst>
          </p:cNvPr>
          <p:cNvSpPr/>
          <p:nvPr/>
        </p:nvSpPr>
        <p:spPr>
          <a:xfrm>
            <a:off x="5636470" y="2883760"/>
            <a:ext cx="3005052" cy="621290"/>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err="1">
                <a:ln>
                  <a:noFill/>
                </a:ln>
                <a:solidFill>
                  <a:prstClr val="white"/>
                </a:solidFill>
                <a:effectLst/>
                <a:uLnTx/>
                <a:uFillTx/>
                <a:latin typeface="Corbel" panose="020B0503020204020204"/>
                <a:ea typeface="+mn-ea"/>
                <a:cs typeface="+mn-cs"/>
              </a:rPr>
              <a:t>Scikit-Learn</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16" name="Rectangle 15">
            <a:extLst>
              <a:ext uri="{FF2B5EF4-FFF2-40B4-BE49-F238E27FC236}">
                <a16:creationId xmlns:a16="http://schemas.microsoft.com/office/drawing/2014/main" id="{C0A984D1-F760-5136-2AB7-3CB894E2940D}"/>
              </a:ext>
            </a:extLst>
          </p:cNvPr>
          <p:cNvSpPr/>
          <p:nvPr/>
        </p:nvSpPr>
        <p:spPr>
          <a:xfrm>
            <a:off x="5636470" y="3613612"/>
            <a:ext cx="3005052" cy="621290"/>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err="1">
                <a:ln>
                  <a:noFill/>
                </a:ln>
                <a:solidFill>
                  <a:prstClr val="white"/>
                </a:solidFill>
                <a:effectLst/>
                <a:uLnTx/>
                <a:uFillTx/>
                <a:latin typeface="Corbel" panose="020B0503020204020204"/>
                <a:ea typeface="+mn-ea"/>
                <a:cs typeface="+mn-cs"/>
              </a:rPr>
              <a:t>Tensorflow</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29" name="Rectangle 28">
            <a:extLst>
              <a:ext uri="{FF2B5EF4-FFF2-40B4-BE49-F238E27FC236}">
                <a16:creationId xmlns:a16="http://schemas.microsoft.com/office/drawing/2014/main" id="{8A258322-CB33-CCD3-426E-D3186BF4B710}"/>
              </a:ext>
            </a:extLst>
          </p:cNvPr>
          <p:cNvSpPr/>
          <p:nvPr/>
        </p:nvSpPr>
        <p:spPr>
          <a:xfrm>
            <a:off x="5636470" y="4343464"/>
            <a:ext cx="3005052" cy="621290"/>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err="1">
                <a:ln>
                  <a:noFill/>
                </a:ln>
                <a:solidFill>
                  <a:prstClr val="white"/>
                </a:solidFill>
                <a:effectLst/>
                <a:uLnTx/>
                <a:uFillTx/>
                <a:latin typeface="Corbel" panose="020B0503020204020204"/>
                <a:ea typeface="+mn-ea"/>
                <a:cs typeface="+mn-cs"/>
              </a:rPr>
              <a:t>Matplotlib</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30" name="Rectangle 29">
            <a:extLst>
              <a:ext uri="{FF2B5EF4-FFF2-40B4-BE49-F238E27FC236}">
                <a16:creationId xmlns:a16="http://schemas.microsoft.com/office/drawing/2014/main" id="{398ACC1D-63B0-F577-5861-900F00546942}"/>
              </a:ext>
            </a:extLst>
          </p:cNvPr>
          <p:cNvSpPr/>
          <p:nvPr/>
        </p:nvSpPr>
        <p:spPr>
          <a:xfrm>
            <a:off x="5636470" y="5073316"/>
            <a:ext cx="3005052" cy="621290"/>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err="1">
                <a:ln>
                  <a:noFill/>
                </a:ln>
                <a:solidFill>
                  <a:prstClr val="white"/>
                </a:solidFill>
                <a:effectLst/>
                <a:uLnTx/>
                <a:uFillTx/>
                <a:latin typeface="Corbel" panose="020B0503020204020204"/>
                <a:ea typeface="+mn-ea"/>
                <a:cs typeface="+mn-cs"/>
              </a:rPr>
              <a:t>Seaborn</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31" name="Rectangle 30">
            <a:extLst>
              <a:ext uri="{FF2B5EF4-FFF2-40B4-BE49-F238E27FC236}">
                <a16:creationId xmlns:a16="http://schemas.microsoft.com/office/drawing/2014/main" id="{7AAD18D0-B1C7-ED50-67A0-6518F4121868}"/>
              </a:ext>
            </a:extLst>
          </p:cNvPr>
          <p:cNvSpPr/>
          <p:nvPr/>
        </p:nvSpPr>
        <p:spPr>
          <a:xfrm>
            <a:off x="5636470" y="5803168"/>
            <a:ext cx="3005052" cy="621290"/>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Flask</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32" name="Rectangle 31">
            <a:extLst>
              <a:ext uri="{FF2B5EF4-FFF2-40B4-BE49-F238E27FC236}">
                <a16:creationId xmlns:a16="http://schemas.microsoft.com/office/drawing/2014/main" id="{98C603EB-12EF-4039-52B6-DE55E14CE112}"/>
              </a:ext>
            </a:extLst>
          </p:cNvPr>
          <p:cNvSpPr/>
          <p:nvPr/>
        </p:nvSpPr>
        <p:spPr>
          <a:xfrm>
            <a:off x="5636470" y="7283330"/>
            <a:ext cx="3005052" cy="621290"/>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err="1">
                <a:ln>
                  <a:noFill/>
                </a:ln>
                <a:solidFill>
                  <a:prstClr val="white"/>
                </a:solidFill>
                <a:effectLst/>
                <a:uLnTx/>
                <a:uFillTx/>
                <a:latin typeface="Corbel" panose="020B0503020204020204"/>
                <a:ea typeface="+mn-ea"/>
                <a:cs typeface="+mn-cs"/>
              </a:rPr>
              <a:t>Pygame</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33" name="Rectangle 32">
            <a:extLst>
              <a:ext uri="{FF2B5EF4-FFF2-40B4-BE49-F238E27FC236}">
                <a16:creationId xmlns:a16="http://schemas.microsoft.com/office/drawing/2014/main" id="{3247F0FD-7A63-161D-36F4-DD69C05AF74A}"/>
              </a:ext>
            </a:extLst>
          </p:cNvPr>
          <p:cNvSpPr/>
          <p:nvPr/>
        </p:nvSpPr>
        <p:spPr>
          <a:xfrm>
            <a:off x="5636470" y="8013180"/>
            <a:ext cx="3005052" cy="621290"/>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err="1">
                <a:ln>
                  <a:noFill/>
                </a:ln>
                <a:solidFill>
                  <a:prstClr val="white"/>
                </a:solidFill>
                <a:effectLst/>
                <a:uLnTx/>
                <a:uFillTx/>
                <a:latin typeface="Corbel" panose="020B0503020204020204"/>
                <a:ea typeface="+mn-ea"/>
                <a:cs typeface="+mn-cs"/>
              </a:rPr>
              <a:t>Kivy</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34" name="Rectangle 33">
            <a:extLst>
              <a:ext uri="{FF2B5EF4-FFF2-40B4-BE49-F238E27FC236}">
                <a16:creationId xmlns:a16="http://schemas.microsoft.com/office/drawing/2014/main" id="{807458ED-CB58-9C66-6573-778B705FF597}"/>
              </a:ext>
            </a:extLst>
          </p:cNvPr>
          <p:cNvSpPr/>
          <p:nvPr/>
        </p:nvSpPr>
        <p:spPr>
          <a:xfrm>
            <a:off x="3505200" y="3617299"/>
            <a:ext cx="1648428" cy="62128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Python</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35" name="Rectangle 34">
            <a:extLst>
              <a:ext uri="{FF2B5EF4-FFF2-40B4-BE49-F238E27FC236}">
                <a16:creationId xmlns:a16="http://schemas.microsoft.com/office/drawing/2014/main" id="{53481FD4-7830-AF52-8848-1144C6622CD6}"/>
              </a:ext>
            </a:extLst>
          </p:cNvPr>
          <p:cNvSpPr/>
          <p:nvPr/>
        </p:nvSpPr>
        <p:spPr>
          <a:xfrm>
            <a:off x="3496971" y="4343528"/>
            <a:ext cx="1648428" cy="62128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Python</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36" name="Rectangle 35">
            <a:extLst>
              <a:ext uri="{FF2B5EF4-FFF2-40B4-BE49-F238E27FC236}">
                <a16:creationId xmlns:a16="http://schemas.microsoft.com/office/drawing/2014/main" id="{5276F8BD-16E4-A9CC-6B6F-4113EBC47CA9}"/>
              </a:ext>
            </a:extLst>
          </p:cNvPr>
          <p:cNvSpPr/>
          <p:nvPr/>
        </p:nvSpPr>
        <p:spPr>
          <a:xfrm>
            <a:off x="3496971" y="5069757"/>
            <a:ext cx="1648428" cy="62128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Python</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37" name="Rectangle 36">
            <a:extLst>
              <a:ext uri="{FF2B5EF4-FFF2-40B4-BE49-F238E27FC236}">
                <a16:creationId xmlns:a16="http://schemas.microsoft.com/office/drawing/2014/main" id="{9BD53845-DDF6-C4CD-3E5B-9148594EA9C2}"/>
              </a:ext>
            </a:extLst>
          </p:cNvPr>
          <p:cNvSpPr/>
          <p:nvPr/>
        </p:nvSpPr>
        <p:spPr>
          <a:xfrm>
            <a:off x="3496971" y="5795986"/>
            <a:ext cx="1648428" cy="62128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Python</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38" name="Rectangle 37">
            <a:extLst>
              <a:ext uri="{FF2B5EF4-FFF2-40B4-BE49-F238E27FC236}">
                <a16:creationId xmlns:a16="http://schemas.microsoft.com/office/drawing/2014/main" id="{1A12918A-C07D-BCFA-4665-21FECBAD6EAD}"/>
              </a:ext>
            </a:extLst>
          </p:cNvPr>
          <p:cNvSpPr/>
          <p:nvPr/>
        </p:nvSpPr>
        <p:spPr>
          <a:xfrm>
            <a:off x="3496971" y="7272525"/>
            <a:ext cx="1648428" cy="62128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Python</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39" name="Rectangle 38">
            <a:extLst>
              <a:ext uri="{FF2B5EF4-FFF2-40B4-BE49-F238E27FC236}">
                <a16:creationId xmlns:a16="http://schemas.microsoft.com/office/drawing/2014/main" id="{B6FC9421-8606-43DB-4D8E-1B017106367C}"/>
              </a:ext>
            </a:extLst>
          </p:cNvPr>
          <p:cNvSpPr/>
          <p:nvPr/>
        </p:nvSpPr>
        <p:spPr>
          <a:xfrm>
            <a:off x="3496971" y="7998752"/>
            <a:ext cx="1648428" cy="62128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Python</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40" name="Rectangle 39">
            <a:extLst>
              <a:ext uri="{FF2B5EF4-FFF2-40B4-BE49-F238E27FC236}">
                <a16:creationId xmlns:a16="http://schemas.microsoft.com/office/drawing/2014/main" id="{E229E3FD-8BEE-BFD1-6B9C-0ACC32C41772}"/>
              </a:ext>
            </a:extLst>
          </p:cNvPr>
          <p:cNvSpPr/>
          <p:nvPr/>
        </p:nvSpPr>
        <p:spPr>
          <a:xfrm>
            <a:off x="3505200" y="1409700"/>
            <a:ext cx="1648428" cy="62128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Python</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41" name="Rectangle 40">
            <a:extLst>
              <a:ext uri="{FF2B5EF4-FFF2-40B4-BE49-F238E27FC236}">
                <a16:creationId xmlns:a16="http://schemas.microsoft.com/office/drawing/2014/main" id="{CE34D077-8537-FC19-2C3C-EF044E6A6D1E}"/>
              </a:ext>
            </a:extLst>
          </p:cNvPr>
          <p:cNvSpPr/>
          <p:nvPr/>
        </p:nvSpPr>
        <p:spPr>
          <a:xfrm>
            <a:off x="9357885" y="2873287"/>
            <a:ext cx="5276185" cy="621290"/>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Machine Learning</a:t>
            </a:r>
          </a:p>
        </p:txBody>
      </p:sp>
      <p:sp>
        <p:nvSpPr>
          <p:cNvPr id="42" name="Rectangle 41">
            <a:extLst>
              <a:ext uri="{FF2B5EF4-FFF2-40B4-BE49-F238E27FC236}">
                <a16:creationId xmlns:a16="http://schemas.microsoft.com/office/drawing/2014/main" id="{5A646B64-F716-0B06-4B1E-1959037A491D}"/>
              </a:ext>
            </a:extLst>
          </p:cNvPr>
          <p:cNvSpPr/>
          <p:nvPr/>
        </p:nvSpPr>
        <p:spPr>
          <a:xfrm>
            <a:off x="9357885" y="3604884"/>
            <a:ext cx="5276185" cy="621290"/>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Deep Learning</a:t>
            </a:r>
          </a:p>
        </p:txBody>
      </p:sp>
      <p:sp>
        <p:nvSpPr>
          <p:cNvPr id="43" name="Rectangle 42">
            <a:extLst>
              <a:ext uri="{FF2B5EF4-FFF2-40B4-BE49-F238E27FC236}">
                <a16:creationId xmlns:a16="http://schemas.microsoft.com/office/drawing/2014/main" id="{55F09AE4-2D55-0B41-02D9-1A8C1D09D3C4}"/>
              </a:ext>
            </a:extLst>
          </p:cNvPr>
          <p:cNvSpPr/>
          <p:nvPr/>
        </p:nvSpPr>
        <p:spPr>
          <a:xfrm>
            <a:off x="9357885" y="4336481"/>
            <a:ext cx="5276185" cy="621290"/>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Data Visualisation</a:t>
            </a:r>
          </a:p>
        </p:txBody>
      </p:sp>
      <p:sp>
        <p:nvSpPr>
          <p:cNvPr id="44" name="Rectangle 43">
            <a:extLst>
              <a:ext uri="{FF2B5EF4-FFF2-40B4-BE49-F238E27FC236}">
                <a16:creationId xmlns:a16="http://schemas.microsoft.com/office/drawing/2014/main" id="{0A74DF47-A8E9-F695-A87A-2AE0D68CA5D0}"/>
              </a:ext>
            </a:extLst>
          </p:cNvPr>
          <p:cNvSpPr/>
          <p:nvPr/>
        </p:nvSpPr>
        <p:spPr>
          <a:xfrm>
            <a:off x="9357885" y="5068078"/>
            <a:ext cx="5276185" cy="621290"/>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Adv. Visualisation</a:t>
            </a:r>
          </a:p>
        </p:txBody>
      </p:sp>
      <p:sp>
        <p:nvSpPr>
          <p:cNvPr id="45" name="Rectangle 44">
            <a:extLst>
              <a:ext uri="{FF2B5EF4-FFF2-40B4-BE49-F238E27FC236}">
                <a16:creationId xmlns:a16="http://schemas.microsoft.com/office/drawing/2014/main" id="{552A2C7D-2F73-0304-F0F1-B609E9B008C4}"/>
              </a:ext>
            </a:extLst>
          </p:cNvPr>
          <p:cNvSpPr/>
          <p:nvPr/>
        </p:nvSpPr>
        <p:spPr>
          <a:xfrm>
            <a:off x="9357885" y="5799675"/>
            <a:ext cx="5276185" cy="621290"/>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Web </a:t>
            </a:r>
            <a:r>
              <a:rPr kumimoji="0" lang="fr-FR" sz="3200" b="1" i="0" u="none" strike="noStrike" kern="0" cap="none" spc="0" normalizeH="0" baseline="0" noProof="0" dirty="0" err="1">
                <a:ln>
                  <a:noFill/>
                </a:ln>
                <a:solidFill>
                  <a:prstClr val="white"/>
                </a:solidFill>
                <a:effectLst/>
                <a:uLnTx/>
                <a:uFillTx/>
                <a:latin typeface="Corbel" panose="020B0503020204020204"/>
                <a:ea typeface="+mn-ea"/>
                <a:cs typeface="+mn-cs"/>
              </a:rPr>
              <a:t>Development</a:t>
            </a:r>
            <a:endPar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46" name="Rectangle 45">
            <a:extLst>
              <a:ext uri="{FF2B5EF4-FFF2-40B4-BE49-F238E27FC236}">
                <a16:creationId xmlns:a16="http://schemas.microsoft.com/office/drawing/2014/main" id="{F40FC6A7-E97A-FE55-9496-6F6041A6E9E0}"/>
              </a:ext>
            </a:extLst>
          </p:cNvPr>
          <p:cNvSpPr/>
          <p:nvPr/>
        </p:nvSpPr>
        <p:spPr>
          <a:xfrm>
            <a:off x="9357885" y="7281582"/>
            <a:ext cx="5276185" cy="621290"/>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Game </a:t>
            </a:r>
            <a:r>
              <a:rPr kumimoji="0" lang="fr-FR" sz="3200" b="1" i="0" u="none" strike="noStrike" kern="0" cap="none" spc="0" normalizeH="0" baseline="0" noProof="0" dirty="0" err="1">
                <a:ln>
                  <a:noFill/>
                </a:ln>
                <a:solidFill>
                  <a:prstClr val="white"/>
                </a:solidFill>
                <a:effectLst/>
                <a:uLnTx/>
                <a:uFillTx/>
                <a:latin typeface="Corbel" panose="020B0503020204020204"/>
                <a:ea typeface="+mn-ea"/>
                <a:cs typeface="+mn-cs"/>
              </a:rPr>
              <a:t>Development</a:t>
            </a:r>
            <a:endPar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47" name="Rectangle 46">
            <a:extLst>
              <a:ext uri="{FF2B5EF4-FFF2-40B4-BE49-F238E27FC236}">
                <a16:creationId xmlns:a16="http://schemas.microsoft.com/office/drawing/2014/main" id="{8511BA3F-ABA4-25DF-3CA1-EA97E529CF75}"/>
              </a:ext>
            </a:extLst>
          </p:cNvPr>
          <p:cNvSpPr/>
          <p:nvPr/>
        </p:nvSpPr>
        <p:spPr>
          <a:xfrm>
            <a:off x="9357885" y="8013180"/>
            <a:ext cx="5276185" cy="621290"/>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Mobile App </a:t>
            </a:r>
            <a:r>
              <a:rPr kumimoji="0" lang="fr-FR" sz="3200" b="1" i="0" u="none" strike="noStrike" kern="0" cap="none" spc="0" normalizeH="0" baseline="0" noProof="0" dirty="0" err="1">
                <a:ln>
                  <a:noFill/>
                </a:ln>
                <a:solidFill>
                  <a:prstClr val="white"/>
                </a:solidFill>
                <a:effectLst/>
                <a:uLnTx/>
                <a:uFillTx/>
                <a:latin typeface="Corbel" panose="020B0503020204020204"/>
                <a:ea typeface="+mn-ea"/>
                <a:cs typeface="+mn-cs"/>
              </a:rPr>
              <a:t>development</a:t>
            </a:r>
            <a:endPar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48" name="Rectangle 47">
            <a:extLst>
              <a:ext uri="{FF2B5EF4-FFF2-40B4-BE49-F238E27FC236}">
                <a16:creationId xmlns:a16="http://schemas.microsoft.com/office/drawing/2014/main" id="{C63A3DFC-3B08-2BAC-86DF-1FA7B7440A19}"/>
              </a:ext>
            </a:extLst>
          </p:cNvPr>
          <p:cNvSpPr/>
          <p:nvPr/>
        </p:nvSpPr>
        <p:spPr>
          <a:xfrm>
            <a:off x="5177920" y="2850129"/>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49" name="Rectangle 48">
            <a:extLst>
              <a:ext uri="{FF2B5EF4-FFF2-40B4-BE49-F238E27FC236}">
                <a16:creationId xmlns:a16="http://schemas.microsoft.com/office/drawing/2014/main" id="{0D00208E-9170-F547-BFDF-E863742AA197}"/>
              </a:ext>
            </a:extLst>
          </p:cNvPr>
          <p:cNvSpPr/>
          <p:nvPr/>
        </p:nvSpPr>
        <p:spPr>
          <a:xfrm>
            <a:off x="5186149" y="3576358"/>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50" name="Rectangle 49">
            <a:extLst>
              <a:ext uri="{FF2B5EF4-FFF2-40B4-BE49-F238E27FC236}">
                <a16:creationId xmlns:a16="http://schemas.microsoft.com/office/drawing/2014/main" id="{867BCDB7-C640-E590-F02E-25FCA75F3778}"/>
              </a:ext>
            </a:extLst>
          </p:cNvPr>
          <p:cNvSpPr/>
          <p:nvPr/>
        </p:nvSpPr>
        <p:spPr>
          <a:xfrm>
            <a:off x="5177920" y="4302587"/>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51" name="Rectangle 50">
            <a:extLst>
              <a:ext uri="{FF2B5EF4-FFF2-40B4-BE49-F238E27FC236}">
                <a16:creationId xmlns:a16="http://schemas.microsoft.com/office/drawing/2014/main" id="{C65424F1-58E1-F726-4FED-E3F10A64BEC9}"/>
              </a:ext>
            </a:extLst>
          </p:cNvPr>
          <p:cNvSpPr/>
          <p:nvPr/>
        </p:nvSpPr>
        <p:spPr>
          <a:xfrm>
            <a:off x="5177920" y="5028816"/>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52" name="Rectangle 51">
            <a:extLst>
              <a:ext uri="{FF2B5EF4-FFF2-40B4-BE49-F238E27FC236}">
                <a16:creationId xmlns:a16="http://schemas.microsoft.com/office/drawing/2014/main" id="{6A1B3456-6560-A845-C12C-3FF95F8DAD09}"/>
              </a:ext>
            </a:extLst>
          </p:cNvPr>
          <p:cNvSpPr/>
          <p:nvPr/>
        </p:nvSpPr>
        <p:spPr>
          <a:xfrm>
            <a:off x="5177920" y="5755045"/>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53" name="Rectangle 52">
            <a:extLst>
              <a:ext uri="{FF2B5EF4-FFF2-40B4-BE49-F238E27FC236}">
                <a16:creationId xmlns:a16="http://schemas.microsoft.com/office/drawing/2014/main" id="{A676C8CE-F28D-0318-E10E-CF3DE78C1B50}"/>
              </a:ext>
            </a:extLst>
          </p:cNvPr>
          <p:cNvSpPr/>
          <p:nvPr/>
        </p:nvSpPr>
        <p:spPr>
          <a:xfrm>
            <a:off x="5177920" y="7231584"/>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54" name="Rectangle 53">
            <a:extLst>
              <a:ext uri="{FF2B5EF4-FFF2-40B4-BE49-F238E27FC236}">
                <a16:creationId xmlns:a16="http://schemas.microsoft.com/office/drawing/2014/main" id="{8028F7A4-C50F-958C-C196-4C1C595C413A}"/>
              </a:ext>
            </a:extLst>
          </p:cNvPr>
          <p:cNvSpPr/>
          <p:nvPr/>
        </p:nvSpPr>
        <p:spPr>
          <a:xfrm>
            <a:off x="5177920" y="7957811"/>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55" name="Rectangle 54">
            <a:extLst>
              <a:ext uri="{FF2B5EF4-FFF2-40B4-BE49-F238E27FC236}">
                <a16:creationId xmlns:a16="http://schemas.microsoft.com/office/drawing/2014/main" id="{6418C349-B8EC-2D63-2C2A-0E93FF8D0E50}"/>
              </a:ext>
            </a:extLst>
          </p:cNvPr>
          <p:cNvSpPr/>
          <p:nvPr/>
        </p:nvSpPr>
        <p:spPr>
          <a:xfrm>
            <a:off x="5186149" y="1368759"/>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56" name="Rectangle 55">
            <a:extLst>
              <a:ext uri="{FF2B5EF4-FFF2-40B4-BE49-F238E27FC236}">
                <a16:creationId xmlns:a16="http://schemas.microsoft.com/office/drawing/2014/main" id="{F8DDD9F9-0426-536D-604D-E9323711A4D8}"/>
              </a:ext>
            </a:extLst>
          </p:cNvPr>
          <p:cNvSpPr/>
          <p:nvPr/>
        </p:nvSpPr>
        <p:spPr>
          <a:xfrm>
            <a:off x="8762199" y="2867920"/>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57" name="Rectangle 56">
            <a:extLst>
              <a:ext uri="{FF2B5EF4-FFF2-40B4-BE49-F238E27FC236}">
                <a16:creationId xmlns:a16="http://schemas.microsoft.com/office/drawing/2014/main" id="{9E4C6413-5028-F274-018E-348F4A602854}"/>
              </a:ext>
            </a:extLst>
          </p:cNvPr>
          <p:cNvSpPr/>
          <p:nvPr/>
        </p:nvSpPr>
        <p:spPr>
          <a:xfrm>
            <a:off x="8770428" y="3594149"/>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58" name="Rectangle 57">
            <a:extLst>
              <a:ext uri="{FF2B5EF4-FFF2-40B4-BE49-F238E27FC236}">
                <a16:creationId xmlns:a16="http://schemas.microsoft.com/office/drawing/2014/main" id="{EEB6118F-B477-B3C5-C5AA-F750AFCF5390}"/>
              </a:ext>
            </a:extLst>
          </p:cNvPr>
          <p:cNvSpPr/>
          <p:nvPr/>
        </p:nvSpPr>
        <p:spPr>
          <a:xfrm>
            <a:off x="8762199" y="4320378"/>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59" name="Rectangle 58">
            <a:extLst>
              <a:ext uri="{FF2B5EF4-FFF2-40B4-BE49-F238E27FC236}">
                <a16:creationId xmlns:a16="http://schemas.microsoft.com/office/drawing/2014/main" id="{7E8A294D-3F99-04C2-C3A5-143CAABE8D6F}"/>
              </a:ext>
            </a:extLst>
          </p:cNvPr>
          <p:cNvSpPr/>
          <p:nvPr/>
        </p:nvSpPr>
        <p:spPr>
          <a:xfrm>
            <a:off x="8762199" y="5046607"/>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60" name="Rectangle 59">
            <a:extLst>
              <a:ext uri="{FF2B5EF4-FFF2-40B4-BE49-F238E27FC236}">
                <a16:creationId xmlns:a16="http://schemas.microsoft.com/office/drawing/2014/main" id="{3DE965F4-63CF-9E5D-57FF-0E39245C962A}"/>
              </a:ext>
            </a:extLst>
          </p:cNvPr>
          <p:cNvSpPr/>
          <p:nvPr/>
        </p:nvSpPr>
        <p:spPr>
          <a:xfrm>
            <a:off x="8762199" y="5772836"/>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61" name="Rectangle 60">
            <a:extLst>
              <a:ext uri="{FF2B5EF4-FFF2-40B4-BE49-F238E27FC236}">
                <a16:creationId xmlns:a16="http://schemas.microsoft.com/office/drawing/2014/main" id="{758464EA-EAE5-C5FF-A635-F945C2CF81D1}"/>
              </a:ext>
            </a:extLst>
          </p:cNvPr>
          <p:cNvSpPr/>
          <p:nvPr/>
        </p:nvSpPr>
        <p:spPr>
          <a:xfrm>
            <a:off x="8762199" y="7249375"/>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62" name="Rectangle 61">
            <a:extLst>
              <a:ext uri="{FF2B5EF4-FFF2-40B4-BE49-F238E27FC236}">
                <a16:creationId xmlns:a16="http://schemas.microsoft.com/office/drawing/2014/main" id="{89256FD1-6039-2FED-C3AF-30CA6FA6FA16}"/>
              </a:ext>
            </a:extLst>
          </p:cNvPr>
          <p:cNvSpPr/>
          <p:nvPr/>
        </p:nvSpPr>
        <p:spPr>
          <a:xfrm>
            <a:off x="8770428" y="1386550"/>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63" name="Rectangle 62">
            <a:extLst>
              <a:ext uri="{FF2B5EF4-FFF2-40B4-BE49-F238E27FC236}">
                <a16:creationId xmlns:a16="http://schemas.microsoft.com/office/drawing/2014/main" id="{C78C18DC-48D3-3763-F2F2-6465C2C111EB}"/>
              </a:ext>
            </a:extLst>
          </p:cNvPr>
          <p:cNvSpPr/>
          <p:nvPr/>
        </p:nvSpPr>
        <p:spPr>
          <a:xfrm>
            <a:off x="8741411" y="7998751"/>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64" name="Rectangle 63">
            <a:extLst>
              <a:ext uri="{FF2B5EF4-FFF2-40B4-BE49-F238E27FC236}">
                <a16:creationId xmlns:a16="http://schemas.microsoft.com/office/drawing/2014/main" id="{3F38D30A-3BF2-272E-C3FD-579459CF5B8E}"/>
              </a:ext>
            </a:extLst>
          </p:cNvPr>
          <p:cNvSpPr/>
          <p:nvPr/>
        </p:nvSpPr>
        <p:spPr>
          <a:xfrm>
            <a:off x="5626043" y="6551733"/>
            <a:ext cx="3005052" cy="621290"/>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Django</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65" name="Rectangle 64">
            <a:extLst>
              <a:ext uri="{FF2B5EF4-FFF2-40B4-BE49-F238E27FC236}">
                <a16:creationId xmlns:a16="http://schemas.microsoft.com/office/drawing/2014/main" id="{D61AD482-8330-C042-105F-1D63066837EF}"/>
              </a:ext>
            </a:extLst>
          </p:cNvPr>
          <p:cNvSpPr/>
          <p:nvPr/>
        </p:nvSpPr>
        <p:spPr>
          <a:xfrm>
            <a:off x="3486544" y="6540928"/>
            <a:ext cx="1648428" cy="62128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Python</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66" name="Rectangle 65">
            <a:extLst>
              <a:ext uri="{FF2B5EF4-FFF2-40B4-BE49-F238E27FC236}">
                <a16:creationId xmlns:a16="http://schemas.microsoft.com/office/drawing/2014/main" id="{10C08CD4-B805-DC83-BAD0-8153F07D2B0E}"/>
              </a:ext>
            </a:extLst>
          </p:cNvPr>
          <p:cNvSpPr/>
          <p:nvPr/>
        </p:nvSpPr>
        <p:spPr>
          <a:xfrm>
            <a:off x="9347458" y="6549985"/>
            <a:ext cx="5276185" cy="621290"/>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defTabSz="457200">
              <a:defRPr/>
            </a:pPr>
            <a:r>
              <a:rPr lang="fr-FR" sz="3200" b="1" kern="0" dirty="0">
                <a:solidFill>
                  <a:prstClr val="white"/>
                </a:solidFill>
                <a:latin typeface="Corbel" panose="020B0503020204020204"/>
              </a:rPr>
              <a:t>Web</a:t>
            </a: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 </a:t>
            </a:r>
            <a:r>
              <a:rPr kumimoji="0" lang="fr-FR" sz="3200" b="1" i="0" u="none" strike="noStrike" kern="0" cap="none" spc="0" normalizeH="0" baseline="0" noProof="0" dirty="0" err="1">
                <a:ln>
                  <a:noFill/>
                </a:ln>
                <a:solidFill>
                  <a:prstClr val="white"/>
                </a:solidFill>
                <a:effectLst/>
                <a:uLnTx/>
                <a:uFillTx/>
                <a:latin typeface="Corbel" panose="020B0503020204020204"/>
                <a:ea typeface="+mn-ea"/>
                <a:cs typeface="+mn-cs"/>
              </a:rPr>
              <a:t>Development</a:t>
            </a:r>
            <a:endPar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67" name="Rectangle 66">
            <a:extLst>
              <a:ext uri="{FF2B5EF4-FFF2-40B4-BE49-F238E27FC236}">
                <a16:creationId xmlns:a16="http://schemas.microsoft.com/office/drawing/2014/main" id="{B63DED81-4773-C9AF-A884-76E165E6E191}"/>
              </a:ext>
            </a:extLst>
          </p:cNvPr>
          <p:cNvSpPr/>
          <p:nvPr/>
        </p:nvSpPr>
        <p:spPr>
          <a:xfrm>
            <a:off x="5167493" y="6499987"/>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68" name="Rectangle 67">
            <a:extLst>
              <a:ext uri="{FF2B5EF4-FFF2-40B4-BE49-F238E27FC236}">
                <a16:creationId xmlns:a16="http://schemas.microsoft.com/office/drawing/2014/main" id="{122A7835-75DC-3594-8A6F-8088410FFF91}"/>
              </a:ext>
            </a:extLst>
          </p:cNvPr>
          <p:cNvSpPr/>
          <p:nvPr/>
        </p:nvSpPr>
        <p:spPr>
          <a:xfrm>
            <a:off x="8751772" y="6517778"/>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69" name="Rectangle 68">
            <a:extLst>
              <a:ext uri="{FF2B5EF4-FFF2-40B4-BE49-F238E27FC236}">
                <a16:creationId xmlns:a16="http://schemas.microsoft.com/office/drawing/2014/main" id="{B6CEC594-5FB0-018B-2ABD-D28A14940A49}"/>
              </a:ext>
            </a:extLst>
          </p:cNvPr>
          <p:cNvSpPr/>
          <p:nvPr/>
        </p:nvSpPr>
        <p:spPr>
          <a:xfrm>
            <a:off x="5626043" y="2143747"/>
            <a:ext cx="3005052" cy="621290"/>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Pandas</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70" name="Rectangle 69">
            <a:extLst>
              <a:ext uri="{FF2B5EF4-FFF2-40B4-BE49-F238E27FC236}">
                <a16:creationId xmlns:a16="http://schemas.microsoft.com/office/drawing/2014/main" id="{A41221EB-31B0-B513-8AEA-6F75F65474B7}"/>
              </a:ext>
            </a:extLst>
          </p:cNvPr>
          <p:cNvSpPr/>
          <p:nvPr/>
        </p:nvSpPr>
        <p:spPr>
          <a:xfrm>
            <a:off x="9347458" y="2131529"/>
            <a:ext cx="5276185" cy="621290"/>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Data Manipulation</a:t>
            </a:r>
          </a:p>
        </p:txBody>
      </p:sp>
      <p:sp>
        <p:nvSpPr>
          <p:cNvPr id="71" name="Rectangle 70">
            <a:extLst>
              <a:ext uri="{FF2B5EF4-FFF2-40B4-BE49-F238E27FC236}">
                <a16:creationId xmlns:a16="http://schemas.microsoft.com/office/drawing/2014/main" id="{458AD2D4-4EA5-AA62-2CEB-7937C61B344F}"/>
              </a:ext>
            </a:extLst>
          </p:cNvPr>
          <p:cNvSpPr/>
          <p:nvPr/>
        </p:nvSpPr>
        <p:spPr>
          <a:xfrm>
            <a:off x="3494773" y="2154680"/>
            <a:ext cx="1648428" cy="62128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solidFill>
                <a:effectLst/>
                <a:uLnTx/>
                <a:uFillTx/>
                <a:latin typeface="Corbel" panose="020B0503020204020204"/>
                <a:ea typeface="+mn-ea"/>
                <a:cs typeface="+mn-cs"/>
              </a:rPr>
              <a:t>Python</a:t>
            </a:r>
            <a:endParaRPr kumimoji="0" lang="fr-FR" sz="1800" b="1" i="0" u="none" strike="noStrike" kern="0" cap="none" spc="0" normalizeH="0" baseline="0" noProof="0" dirty="0">
              <a:ln>
                <a:noFill/>
              </a:ln>
              <a:solidFill>
                <a:prstClr val="white"/>
              </a:solidFill>
              <a:effectLst/>
              <a:uLnTx/>
              <a:uFillTx/>
              <a:latin typeface="Corbel" panose="020B0503020204020204"/>
              <a:ea typeface="+mn-ea"/>
              <a:cs typeface="+mn-cs"/>
            </a:endParaRPr>
          </a:p>
        </p:txBody>
      </p:sp>
      <p:sp>
        <p:nvSpPr>
          <p:cNvPr id="72" name="Rectangle 71">
            <a:extLst>
              <a:ext uri="{FF2B5EF4-FFF2-40B4-BE49-F238E27FC236}">
                <a16:creationId xmlns:a16="http://schemas.microsoft.com/office/drawing/2014/main" id="{72CF5E1A-4177-FB37-5ED2-BD65E57862A0}"/>
              </a:ext>
            </a:extLst>
          </p:cNvPr>
          <p:cNvSpPr/>
          <p:nvPr/>
        </p:nvSpPr>
        <p:spPr>
          <a:xfrm>
            <a:off x="5175722" y="2113739"/>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
        <p:nvSpPr>
          <p:cNvPr id="73" name="Rectangle 72">
            <a:extLst>
              <a:ext uri="{FF2B5EF4-FFF2-40B4-BE49-F238E27FC236}">
                <a16:creationId xmlns:a16="http://schemas.microsoft.com/office/drawing/2014/main" id="{248D3CD2-A03B-5FE3-CC90-6D14BB880FE2}"/>
              </a:ext>
            </a:extLst>
          </p:cNvPr>
          <p:cNvSpPr/>
          <p:nvPr/>
        </p:nvSpPr>
        <p:spPr>
          <a:xfrm>
            <a:off x="8760001" y="2131530"/>
            <a:ext cx="458550" cy="62128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rPr>
              <a:t>=</a:t>
            </a:r>
            <a:endParaRPr kumimoji="0" lang="fr-FR" sz="1800" b="1" i="0" u="none" strike="noStrike" kern="0" cap="none" spc="0" normalizeH="0" baseline="0" noProof="0" dirty="0">
              <a:ln>
                <a:noFill/>
              </a:ln>
              <a:solidFill>
                <a:prstClr val="white">
                  <a:lumMod val="85000"/>
                </a:prstClr>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541316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FEDE09D-D07F-A06E-B697-430E261884A8}"/>
            </a:ext>
          </a:extLst>
        </p:cNvPr>
        <p:cNvGrpSpPr/>
        <p:nvPr/>
      </p:nvGrpSpPr>
      <p:grpSpPr>
        <a:xfrm>
          <a:off x="0" y="0"/>
          <a:ext cx="0" cy="0"/>
          <a:chOff x="0" y="0"/>
          <a:chExt cx="0" cy="0"/>
        </a:xfrm>
      </p:grpSpPr>
      <p:sp>
        <p:nvSpPr>
          <p:cNvPr id="11" name="TextBox 11">
            <a:extLst>
              <a:ext uri="{FF2B5EF4-FFF2-40B4-BE49-F238E27FC236}">
                <a16:creationId xmlns:a16="http://schemas.microsoft.com/office/drawing/2014/main" id="{61EEE34B-0AD4-2F25-2067-7874F74853B0}"/>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12" name="TextBox 12">
            <a:extLst>
              <a:ext uri="{FF2B5EF4-FFF2-40B4-BE49-F238E27FC236}">
                <a16:creationId xmlns:a16="http://schemas.microsoft.com/office/drawing/2014/main" id="{78643464-FC56-848E-4B04-C1137F3FCE71}"/>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14" name="TextBox 14">
            <a:extLst>
              <a:ext uri="{FF2B5EF4-FFF2-40B4-BE49-F238E27FC236}">
                <a16:creationId xmlns:a16="http://schemas.microsoft.com/office/drawing/2014/main" id="{4E6DC87F-DD76-A1F4-094F-E3A9202B5361}"/>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16" name="TextBox 16">
            <a:extLst>
              <a:ext uri="{FF2B5EF4-FFF2-40B4-BE49-F238E27FC236}">
                <a16:creationId xmlns:a16="http://schemas.microsoft.com/office/drawing/2014/main" id="{155CEB9D-9BC6-D425-D3F3-43A71C86EA5B}"/>
              </a:ext>
            </a:extLst>
          </p:cNvPr>
          <p:cNvSpPr txBox="1"/>
          <p:nvPr/>
        </p:nvSpPr>
        <p:spPr>
          <a:xfrm>
            <a:off x="609600" y="800107"/>
            <a:ext cx="17297400" cy="8279190"/>
          </a:xfrm>
          <a:prstGeom prst="rect">
            <a:avLst/>
          </a:prstGeom>
        </p:spPr>
        <p:txBody>
          <a:bodyPr wrap="square" lIns="0" tIns="0" rIns="0" bIns="0" rtlCol="0" anchor="t">
            <a:spAutoFit/>
          </a:bodyPr>
          <a:lstStyle/>
          <a:p>
            <a:r>
              <a:rPr lang="en-US" sz="3600" dirty="0" err="1">
                <a:solidFill>
                  <a:schemeClr val="bg1"/>
                </a:solidFill>
                <a:latin typeface="+mj-lt"/>
                <a:hlinkClick r:id="rId2">
                  <a:extLst>
                    <a:ext uri="{A12FA001-AC4F-418D-AE19-62706E023703}">
                      <ahyp:hlinkClr xmlns:ahyp="http://schemas.microsoft.com/office/drawing/2018/hyperlinkcolor" val="tx"/>
                    </a:ext>
                  </a:extLst>
                </a:hlinkClick>
              </a:rPr>
              <a:t>Ressources</a:t>
            </a:r>
            <a:r>
              <a:rPr lang="en-US" sz="3600" dirty="0">
                <a:solidFill>
                  <a:schemeClr val="bg1"/>
                </a:solidFill>
                <a:latin typeface="+mj-lt"/>
                <a:hlinkClick r:id="rId2">
                  <a:extLst>
                    <a:ext uri="{A12FA001-AC4F-418D-AE19-62706E023703}">
                      <ahyp:hlinkClr xmlns:ahyp="http://schemas.microsoft.com/office/drawing/2018/hyperlinkcolor" val="tx"/>
                    </a:ext>
                  </a:extLst>
                </a:hlinkClick>
              </a:rPr>
              <a:t> (Tutorials): </a:t>
            </a:r>
          </a:p>
          <a:p>
            <a:endParaRPr lang="en-US" sz="2000" dirty="0">
              <a:solidFill>
                <a:schemeClr val="bg1"/>
              </a:solidFill>
              <a:latin typeface="+mj-lt"/>
              <a:hlinkClick r:id="rId2">
                <a:extLst>
                  <a:ext uri="{A12FA001-AC4F-418D-AE19-62706E023703}">
                    <ahyp:hlinkClr xmlns:ahyp="http://schemas.microsoft.com/office/drawing/2018/hyperlinkcolor" val="tx"/>
                  </a:ext>
                </a:extLst>
              </a:hlinkClick>
            </a:endParaRPr>
          </a:p>
          <a:p>
            <a:r>
              <a:rPr lang="en-US" sz="3200" b="1" dirty="0">
                <a:solidFill>
                  <a:srgbClr val="FFFF00"/>
                </a:solidFill>
                <a:latin typeface="+mj-lt"/>
                <a:hlinkClick r:id="rId2"/>
              </a:rPr>
              <a:t>https://www.youtube.com/watch?v=nLRL_NcnK-4</a:t>
            </a:r>
            <a:r>
              <a:rPr lang="en-US" sz="3200" b="1" dirty="0">
                <a:solidFill>
                  <a:srgbClr val="FFFF00"/>
                </a:solidFill>
                <a:latin typeface="+mj-lt"/>
              </a:rPr>
              <a:t>   (Harvard)</a:t>
            </a:r>
          </a:p>
          <a:p>
            <a:endParaRPr lang="en-US" b="1" dirty="0">
              <a:solidFill>
                <a:srgbClr val="FFFF00"/>
              </a:solidFill>
              <a:latin typeface="+mj-lt"/>
            </a:endParaRPr>
          </a:p>
          <a:p>
            <a:r>
              <a:rPr lang="en-US" sz="3200" b="1" dirty="0">
                <a:solidFill>
                  <a:srgbClr val="FFFF00"/>
                </a:solidFill>
                <a:latin typeface="+mj-lt"/>
                <a:hlinkClick r:id="rId3"/>
              </a:rPr>
              <a:t>https://ocw.mit.edu/courses/6-0001-introduction-to-computer-science-and-programming-in-python-fall-2016/</a:t>
            </a:r>
            <a:r>
              <a:rPr lang="en-US" sz="3200" b="1" dirty="0">
                <a:solidFill>
                  <a:srgbClr val="FFFF00"/>
                </a:solidFill>
                <a:latin typeface="+mj-lt"/>
              </a:rPr>
              <a:t>  (MIT)</a:t>
            </a:r>
          </a:p>
          <a:p>
            <a:endParaRPr lang="en-US" sz="1600" b="1" dirty="0">
              <a:solidFill>
                <a:srgbClr val="FFFF00"/>
              </a:solidFill>
              <a:latin typeface="+mj-lt"/>
            </a:endParaRPr>
          </a:p>
          <a:p>
            <a:r>
              <a:rPr lang="en-US" sz="3200" b="1" dirty="0">
                <a:solidFill>
                  <a:srgbClr val="FFFF00"/>
                </a:solidFill>
                <a:latin typeface="+mj-lt"/>
                <a:hlinkClick r:id="rId4"/>
              </a:rPr>
              <a:t>https://www.youtube.com/watch?v=LamjAFnybo0</a:t>
            </a:r>
          </a:p>
          <a:p>
            <a:endParaRPr lang="en-US" sz="3200" b="1" dirty="0">
              <a:solidFill>
                <a:srgbClr val="FFFF00"/>
              </a:solidFill>
              <a:latin typeface="+mj-lt"/>
              <a:hlinkClick r:id="rId4"/>
            </a:endParaRPr>
          </a:p>
          <a:p>
            <a:r>
              <a:rPr lang="en-US" sz="3200" b="1" dirty="0">
                <a:solidFill>
                  <a:srgbClr val="FFFF00"/>
                </a:solidFill>
                <a:latin typeface="+mj-lt"/>
                <a:hlinkClick r:id="rId4"/>
              </a:rPr>
              <a:t>https://www.youtube.com/watch?v=qgUd24sQjBc&amp;list=WL&amp;index=5</a:t>
            </a:r>
            <a:endParaRPr lang="en-US" sz="3200" b="1" dirty="0">
              <a:solidFill>
                <a:srgbClr val="FFFF00"/>
              </a:solidFill>
              <a:latin typeface="+mj-lt"/>
            </a:endParaRPr>
          </a:p>
          <a:p>
            <a:endParaRPr lang="en-US" sz="3200" b="1" dirty="0">
              <a:solidFill>
                <a:srgbClr val="FFFF00"/>
              </a:solidFill>
              <a:latin typeface="+mj-lt"/>
            </a:endParaRPr>
          </a:p>
          <a:p>
            <a:r>
              <a:rPr lang="en-US" sz="3200" b="1" dirty="0">
                <a:solidFill>
                  <a:srgbClr val="FFFF00"/>
                </a:solidFill>
                <a:latin typeface="+mj-lt"/>
                <a:hlinkClick r:id="rId5"/>
              </a:rPr>
              <a:t>https://www.youtube.com/watch?v=eWRfhZUzrAc&amp;list=PLWKjhJtqVAbnqBxcdjVGgT3uVR10bzTEB</a:t>
            </a:r>
            <a:endParaRPr lang="en-US" sz="3200" b="1" dirty="0">
              <a:solidFill>
                <a:srgbClr val="FFFF00"/>
              </a:solidFill>
              <a:latin typeface="+mj-lt"/>
            </a:endParaRPr>
          </a:p>
          <a:p>
            <a:endParaRPr lang="en-US" sz="3200" b="1" dirty="0">
              <a:solidFill>
                <a:srgbClr val="FFFF00"/>
              </a:solidFill>
              <a:latin typeface="+mj-lt"/>
            </a:endParaRPr>
          </a:p>
          <a:p>
            <a:r>
              <a:rPr lang="en-US" sz="3200" b="1" dirty="0">
                <a:solidFill>
                  <a:srgbClr val="FFFF00"/>
                </a:solidFill>
                <a:latin typeface="+mj-lt"/>
                <a:hlinkClick r:id="rId6"/>
              </a:rPr>
              <a:t>https://www.youtube.com/watch?v=ix9cRaBkVe0&amp;list=PLZPZq0r_RZON03iKBjYOsOKr1-TD7z2lH</a:t>
            </a:r>
            <a:endParaRPr lang="en-US" sz="3200" b="1" dirty="0">
              <a:solidFill>
                <a:srgbClr val="FFFF00"/>
              </a:solidFill>
              <a:latin typeface="+mj-lt"/>
            </a:endParaRPr>
          </a:p>
          <a:p>
            <a:endParaRPr lang="en-US" sz="3200" b="1" dirty="0">
              <a:solidFill>
                <a:srgbClr val="FFFF00"/>
              </a:solidFill>
              <a:latin typeface="+mj-lt"/>
              <a:hlinkClick r:id="rId7"/>
            </a:endParaRPr>
          </a:p>
          <a:p>
            <a:r>
              <a:rPr lang="en-US" sz="3200" b="1" dirty="0">
                <a:solidFill>
                  <a:srgbClr val="FFFF00"/>
                </a:solidFill>
                <a:latin typeface="+mj-lt"/>
                <a:hlinkClick r:id="rId7"/>
              </a:rPr>
              <a:t>https://www.youtube.com/watch?v=9OgOay9bRU8</a:t>
            </a:r>
            <a:endParaRPr lang="en-US" sz="3200" b="1" dirty="0">
              <a:solidFill>
                <a:srgbClr val="FFFF00"/>
              </a:solidFill>
              <a:latin typeface="+mj-lt"/>
            </a:endParaRPr>
          </a:p>
          <a:p>
            <a:endParaRPr lang="en-US" sz="3200" b="1" dirty="0">
              <a:solidFill>
                <a:srgbClr val="FFFF00"/>
              </a:solidFill>
              <a:latin typeface="+mj-lt"/>
            </a:endParaRPr>
          </a:p>
          <a:p>
            <a:r>
              <a:rPr lang="en-US" sz="3200" b="1" dirty="0">
                <a:solidFill>
                  <a:srgbClr val="FFFF00"/>
                </a:solidFill>
                <a:latin typeface="+mj-lt"/>
                <a:hlinkClick r:id="rId8"/>
              </a:rPr>
              <a:t>https://www.youtube.com/watch?v=37YPyDx7Zj8</a:t>
            </a:r>
            <a:endParaRPr lang="en-US" sz="3200" b="1" dirty="0">
              <a:solidFill>
                <a:srgbClr val="FFFF00"/>
              </a:solidFill>
              <a:latin typeface="+mj-lt"/>
            </a:endParaRPr>
          </a:p>
        </p:txBody>
      </p:sp>
      <p:sp>
        <p:nvSpPr>
          <p:cNvPr id="19" name="TextBox 14">
            <a:extLst>
              <a:ext uri="{FF2B5EF4-FFF2-40B4-BE49-F238E27FC236}">
                <a16:creationId xmlns:a16="http://schemas.microsoft.com/office/drawing/2014/main" id="{97B0CE5E-2EAE-6E50-4DA5-A47DE58C1879}"/>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 </a:t>
            </a:r>
            <a:r>
              <a:rPr lang="en-US" spc="3" dirty="0" err="1">
                <a:solidFill>
                  <a:srgbClr val="FFFFFF"/>
                </a:solidFill>
                <a:latin typeface="+mj-lt"/>
                <a:ea typeface="Open Sauce"/>
                <a:cs typeface="Open Sauce"/>
                <a:sym typeface="Open Sauce"/>
              </a:rPr>
              <a:t>Ressources</a:t>
            </a:r>
            <a:endParaRPr lang="en-US" spc="3" dirty="0">
              <a:solidFill>
                <a:srgbClr val="FFFFFF"/>
              </a:solidFill>
              <a:latin typeface="+mj-lt"/>
              <a:ea typeface="Open Sauce"/>
              <a:cs typeface="Open Sauce"/>
              <a:sym typeface="Open Sauce"/>
            </a:endParaRPr>
          </a:p>
        </p:txBody>
      </p:sp>
      <p:sp>
        <p:nvSpPr>
          <p:cNvPr id="20" name="TextBox 15">
            <a:extLst>
              <a:ext uri="{FF2B5EF4-FFF2-40B4-BE49-F238E27FC236}">
                <a16:creationId xmlns:a16="http://schemas.microsoft.com/office/drawing/2014/main" id="{6498AF1A-3D72-4790-4288-5E62646E3864}"/>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1" name="AutoShape 16">
            <a:extLst>
              <a:ext uri="{FF2B5EF4-FFF2-40B4-BE49-F238E27FC236}">
                <a16:creationId xmlns:a16="http://schemas.microsoft.com/office/drawing/2014/main" id="{F69AB7E5-4EF3-6232-45CC-F6E40431088F}"/>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latin typeface="+mj-lt"/>
            </a:endParaRPr>
          </a:p>
        </p:txBody>
      </p:sp>
    </p:spTree>
    <p:extLst>
      <p:ext uri="{BB962C8B-B14F-4D97-AF65-F5344CB8AC3E}">
        <p14:creationId xmlns:p14="http://schemas.microsoft.com/office/powerpoint/2010/main" val="2511731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7" name="TextBox 15">
            <a:extLst>
              <a:ext uri="{FF2B5EF4-FFF2-40B4-BE49-F238E27FC236}">
                <a16:creationId xmlns:a16="http://schemas.microsoft.com/office/drawing/2014/main" id="{D17F07E9-DC51-47CB-E7A5-E0BED5A0A646}"/>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8" name="AutoShape 16">
            <a:extLst>
              <a:ext uri="{FF2B5EF4-FFF2-40B4-BE49-F238E27FC236}">
                <a16:creationId xmlns:a16="http://schemas.microsoft.com/office/drawing/2014/main" id="{8052E414-0093-6F83-5509-F56486C95950}"/>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latin typeface="+mj-lt"/>
            </a:endParaRPr>
          </a:p>
        </p:txBody>
      </p:sp>
      <p:sp>
        <p:nvSpPr>
          <p:cNvPr id="30" name="TextBox 11">
            <a:extLst>
              <a:ext uri="{FF2B5EF4-FFF2-40B4-BE49-F238E27FC236}">
                <a16:creationId xmlns:a16="http://schemas.microsoft.com/office/drawing/2014/main" id="{8558015A-5F6C-454C-7233-8B53F395EC3D}"/>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31" name="TextBox 12">
            <a:extLst>
              <a:ext uri="{FF2B5EF4-FFF2-40B4-BE49-F238E27FC236}">
                <a16:creationId xmlns:a16="http://schemas.microsoft.com/office/drawing/2014/main" id="{2DE0018D-27C7-F871-5AE8-56290E864E80}"/>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Installation</a:t>
            </a:r>
          </a:p>
        </p:txBody>
      </p:sp>
      <p:sp>
        <p:nvSpPr>
          <p:cNvPr id="32" name="TextBox 14">
            <a:extLst>
              <a:ext uri="{FF2B5EF4-FFF2-40B4-BE49-F238E27FC236}">
                <a16:creationId xmlns:a16="http://schemas.microsoft.com/office/drawing/2014/main" id="{CA0D8E21-A73A-0E20-E54B-8736090E516F}"/>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33" name="TextBox 14">
            <a:extLst>
              <a:ext uri="{FF2B5EF4-FFF2-40B4-BE49-F238E27FC236}">
                <a16:creationId xmlns:a16="http://schemas.microsoft.com/office/drawing/2014/main" id="{AF40BE23-1841-361B-1759-35F7C7DB850D}"/>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 Installation</a:t>
            </a:r>
          </a:p>
        </p:txBody>
      </p:sp>
      <p:pic>
        <p:nvPicPr>
          <p:cNvPr id="3" name="Picture 2">
            <a:extLst>
              <a:ext uri="{FF2B5EF4-FFF2-40B4-BE49-F238E27FC236}">
                <a16:creationId xmlns:a16="http://schemas.microsoft.com/office/drawing/2014/main" id="{CE62BFDA-EF08-4507-B59B-60403C37F390}"/>
              </a:ext>
            </a:extLst>
          </p:cNvPr>
          <p:cNvPicPr>
            <a:picLocks noChangeAspect="1"/>
          </p:cNvPicPr>
          <p:nvPr/>
        </p:nvPicPr>
        <p:blipFill>
          <a:blip r:embed="rId2"/>
          <a:stretch>
            <a:fillRect/>
          </a:stretch>
        </p:blipFill>
        <p:spPr>
          <a:xfrm>
            <a:off x="152400" y="643441"/>
            <a:ext cx="17875975" cy="93006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5E85F46-2336-307B-3400-9CE66854E5C9}"/>
            </a:ext>
          </a:extLst>
        </p:cNvPr>
        <p:cNvGrpSpPr/>
        <p:nvPr/>
      </p:nvGrpSpPr>
      <p:grpSpPr>
        <a:xfrm>
          <a:off x="0" y="0"/>
          <a:ext cx="0" cy="0"/>
          <a:chOff x="0" y="0"/>
          <a:chExt cx="0" cy="0"/>
        </a:xfrm>
      </p:grpSpPr>
      <p:sp>
        <p:nvSpPr>
          <p:cNvPr id="27" name="TextBox 15">
            <a:extLst>
              <a:ext uri="{FF2B5EF4-FFF2-40B4-BE49-F238E27FC236}">
                <a16:creationId xmlns:a16="http://schemas.microsoft.com/office/drawing/2014/main" id="{F6332E24-1CA2-18F1-405A-0284BE542F70}"/>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8" name="AutoShape 16">
            <a:extLst>
              <a:ext uri="{FF2B5EF4-FFF2-40B4-BE49-F238E27FC236}">
                <a16:creationId xmlns:a16="http://schemas.microsoft.com/office/drawing/2014/main" id="{40D442A7-50C6-A342-520C-09D0501145FE}"/>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latin typeface="+mj-lt"/>
            </a:endParaRPr>
          </a:p>
        </p:txBody>
      </p:sp>
      <p:sp>
        <p:nvSpPr>
          <p:cNvPr id="30" name="TextBox 11">
            <a:extLst>
              <a:ext uri="{FF2B5EF4-FFF2-40B4-BE49-F238E27FC236}">
                <a16:creationId xmlns:a16="http://schemas.microsoft.com/office/drawing/2014/main" id="{A0E6C047-7092-86A2-B4F5-E2D4FC37EEC9}"/>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31" name="TextBox 12">
            <a:extLst>
              <a:ext uri="{FF2B5EF4-FFF2-40B4-BE49-F238E27FC236}">
                <a16:creationId xmlns:a16="http://schemas.microsoft.com/office/drawing/2014/main" id="{622697CF-A21B-37EE-E7CF-B54DDC673F4C}"/>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Installation</a:t>
            </a:r>
          </a:p>
        </p:txBody>
      </p:sp>
      <p:sp>
        <p:nvSpPr>
          <p:cNvPr id="32" name="TextBox 14">
            <a:extLst>
              <a:ext uri="{FF2B5EF4-FFF2-40B4-BE49-F238E27FC236}">
                <a16:creationId xmlns:a16="http://schemas.microsoft.com/office/drawing/2014/main" id="{8202F642-771F-45DB-E80F-6E964C2267AF}"/>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33" name="TextBox 14">
            <a:extLst>
              <a:ext uri="{FF2B5EF4-FFF2-40B4-BE49-F238E27FC236}">
                <a16:creationId xmlns:a16="http://schemas.microsoft.com/office/drawing/2014/main" id="{C3C2CA22-0336-8470-08ED-B5BAF6A5F826}"/>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 Installation</a:t>
            </a:r>
          </a:p>
        </p:txBody>
      </p:sp>
      <p:pic>
        <p:nvPicPr>
          <p:cNvPr id="2" name="Picture 2" descr="4. Using Python on Windows — Python 3.13.2 documentation">
            <a:extLst>
              <a:ext uri="{FF2B5EF4-FFF2-40B4-BE49-F238E27FC236}">
                <a16:creationId xmlns:a16="http://schemas.microsoft.com/office/drawing/2014/main" id="{CDAC9C9A-2291-89A8-6C93-749185F87B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723900"/>
            <a:ext cx="13613822" cy="8658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437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75804D8-753A-497A-2A23-A89B851109CB}"/>
            </a:ext>
          </a:extLst>
        </p:cNvPr>
        <p:cNvGrpSpPr/>
        <p:nvPr/>
      </p:nvGrpSpPr>
      <p:grpSpPr>
        <a:xfrm>
          <a:off x="0" y="0"/>
          <a:ext cx="0" cy="0"/>
          <a:chOff x="0" y="0"/>
          <a:chExt cx="0" cy="0"/>
        </a:xfrm>
      </p:grpSpPr>
      <p:sp>
        <p:nvSpPr>
          <p:cNvPr id="27" name="TextBox 15">
            <a:extLst>
              <a:ext uri="{FF2B5EF4-FFF2-40B4-BE49-F238E27FC236}">
                <a16:creationId xmlns:a16="http://schemas.microsoft.com/office/drawing/2014/main" id="{5C8DC0D7-6A16-8163-A0A4-65E9622A3EBE}"/>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8" name="AutoShape 16">
            <a:extLst>
              <a:ext uri="{FF2B5EF4-FFF2-40B4-BE49-F238E27FC236}">
                <a16:creationId xmlns:a16="http://schemas.microsoft.com/office/drawing/2014/main" id="{FD8FAAFF-90C0-A2E1-1064-3E9FB2C2C5E0}"/>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latin typeface="+mj-lt"/>
            </a:endParaRPr>
          </a:p>
        </p:txBody>
      </p:sp>
      <p:sp>
        <p:nvSpPr>
          <p:cNvPr id="30" name="TextBox 11">
            <a:extLst>
              <a:ext uri="{FF2B5EF4-FFF2-40B4-BE49-F238E27FC236}">
                <a16:creationId xmlns:a16="http://schemas.microsoft.com/office/drawing/2014/main" id="{87C6C62C-8058-B38F-F06E-CEE973A178DF}"/>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31" name="TextBox 12">
            <a:extLst>
              <a:ext uri="{FF2B5EF4-FFF2-40B4-BE49-F238E27FC236}">
                <a16:creationId xmlns:a16="http://schemas.microsoft.com/office/drawing/2014/main" id="{9EA0404D-5BA8-8DD3-0538-DAE837FDE28F}"/>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Installation</a:t>
            </a:r>
          </a:p>
        </p:txBody>
      </p:sp>
      <p:sp>
        <p:nvSpPr>
          <p:cNvPr id="32" name="TextBox 14">
            <a:extLst>
              <a:ext uri="{FF2B5EF4-FFF2-40B4-BE49-F238E27FC236}">
                <a16:creationId xmlns:a16="http://schemas.microsoft.com/office/drawing/2014/main" id="{FDE8100A-AC0E-F76A-526D-7A387D963948}"/>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33" name="TextBox 14">
            <a:extLst>
              <a:ext uri="{FF2B5EF4-FFF2-40B4-BE49-F238E27FC236}">
                <a16:creationId xmlns:a16="http://schemas.microsoft.com/office/drawing/2014/main" id="{303BD97E-688A-1851-4E4C-9590AA232088}"/>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 Editors</a:t>
            </a:r>
          </a:p>
        </p:txBody>
      </p:sp>
      <p:pic>
        <p:nvPicPr>
          <p:cNvPr id="3" name="Picture 2">
            <a:extLst>
              <a:ext uri="{FF2B5EF4-FFF2-40B4-BE49-F238E27FC236}">
                <a16:creationId xmlns:a16="http://schemas.microsoft.com/office/drawing/2014/main" id="{98BC353B-70C2-593D-DDC9-AF7F903A4F9B}"/>
              </a:ext>
            </a:extLst>
          </p:cNvPr>
          <p:cNvPicPr>
            <a:picLocks noChangeAspect="1"/>
          </p:cNvPicPr>
          <p:nvPr/>
        </p:nvPicPr>
        <p:blipFill>
          <a:blip r:embed="rId2"/>
          <a:stretch>
            <a:fillRect/>
          </a:stretch>
        </p:blipFill>
        <p:spPr>
          <a:xfrm>
            <a:off x="174859" y="990599"/>
            <a:ext cx="10698068" cy="5258534"/>
          </a:xfrm>
          <a:prstGeom prst="rect">
            <a:avLst/>
          </a:prstGeom>
        </p:spPr>
      </p:pic>
      <p:pic>
        <p:nvPicPr>
          <p:cNvPr id="4" name="Picture 3" descr="A blue and yellow snake logo&#10;&#10;AI-generated content may be incorrect.">
            <a:extLst>
              <a:ext uri="{FF2B5EF4-FFF2-40B4-BE49-F238E27FC236}">
                <a16:creationId xmlns:a16="http://schemas.microsoft.com/office/drawing/2014/main" id="{38B7AABD-6CBF-9DBC-AFEF-3B4A977C519C}"/>
              </a:ext>
            </a:extLst>
          </p:cNvPr>
          <p:cNvPicPr>
            <a:picLocks noChangeAspect="1"/>
          </p:cNvPicPr>
          <p:nvPr/>
        </p:nvPicPr>
        <p:blipFill>
          <a:blip r:embed="rId3"/>
          <a:stretch>
            <a:fillRect/>
          </a:stretch>
        </p:blipFill>
        <p:spPr>
          <a:xfrm>
            <a:off x="228600" y="7708090"/>
            <a:ext cx="2246249" cy="2237509"/>
          </a:xfrm>
          <a:prstGeom prst="rect">
            <a:avLst/>
          </a:prstGeom>
        </p:spPr>
      </p:pic>
      <p:pic>
        <p:nvPicPr>
          <p:cNvPr id="5" name="Picture 4" descr="A blue ribbon with a black background&#10;&#10;AI-generated content may be incorrect.">
            <a:extLst>
              <a:ext uri="{FF2B5EF4-FFF2-40B4-BE49-F238E27FC236}">
                <a16:creationId xmlns:a16="http://schemas.microsoft.com/office/drawing/2014/main" id="{108F79B4-CC0F-F145-AC4B-3E2DABF17186}"/>
              </a:ext>
            </a:extLst>
          </p:cNvPr>
          <p:cNvPicPr>
            <a:picLocks noChangeAspect="1"/>
          </p:cNvPicPr>
          <p:nvPr/>
        </p:nvPicPr>
        <p:blipFill>
          <a:blip r:embed="rId4"/>
          <a:stretch>
            <a:fillRect/>
          </a:stretch>
        </p:blipFill>
        <p:spPr>
          <a:xfrm>
            <a:off x="2590800" y="7678094"/>
            <a:ext cx="2246249" cy="2246249"/>
          </a:xfrm>
          <a:prstGeom prst="rect">
            <a:avLst/>
          </a:prstGeom>
        </p:spPr>
      </p:pic>
      <p:pic>
        <p:nvPicPr>
          <p:cNvPr id="6" name="Picture 5" descr="A spiral notebook with a clear cover&#10;&#10;AI-generated content may be incorrect.">
            <a:extLst>
              <a:ext uri="{FF2B5EF4-FFF2-40B4-BE49-F238E27FC236}">
                <a16:creationId xmlns:a16="http://schemas.microsoft.com/office/drawing/2014/main" id="{BAA98E60-5FFC-7D28-B0F3-AD412108F6DC}"/>
              </a:ext>
            </a:extLst>
          </p:cNvPr>
          <p:cNvPicPr>
            <a:picLocks noChangeAspect="1"/>
          </p:cNvPicPr>
          <p:nvPr/>
        </p:nvPicPr>
        <p:blipFill>
          <a:blip r:embed="rId5"/>
          <a:stretch>
            <a:fillRect/>
          </a:stretch>
        </p:blipFill>
        <p:spPr>
          <a:xfrm>
            <a:off x="12039600" y="990600"/>
            <a:ext cx="1714500" cy="1714500"/>
          </a:xfrm>
          <a:prstGeom prst="rect">
            <a:avLst/>
          </a:prstGeom>
        </p:spPr>
      </p:pic>
      <p:pic>
        <p:nvPicPr>
          <p:cNvPr id="7" name="Picture 6" descr="A close-up of a notepad&#10;&#10;AI-generated content may be incorrect.">
            <a:extLst>
              <a:ext uri="{FF2B5EF4-FFF2-40B4-BE49-F238E27FC236}">
                <a16:creationId xmlns:a16="http://schemas.microsoft.com/office/drawing/2014/main" id="{8373A96A-F398-8843-1AE0-217AC145C109}"/>
              </a:ext>
            </a:extLst>
          </p:cNvPr>
          <p:cNvPicPr>
            <a:picLocks noChangeAspect="1"/>
          </p:cNvPicPr>
          <p:nvPr/>
        </p:nvPicPr>
        <p:blipFill>
          <a:blip r:embed="rId6"/>
          <a:stretch>
            <a:fillRect/>
          </a:stretch>
        </p:blipFill>
        <p:spPr>
          <a:xfrm>
            <a:off x="13997436" y="990599"/>
            <a:ext cx="1714500" cy="1714500"/>
          </a:xfrm>
          <a:prstGeom prst="rect">
            <a:avLst/>
          </a:prstGeom>
        </p:spPr>
      </p:pic>
      <p:pic>
        <p:nvPicPr>
          <p:cNvPr id="8" name="Picture 7" descr="A green circle with a black background&#10;&#10;AI-generated content may be incorrect.">
            <a:extLst>
              <a:ext uri="{FF2B5EF4-FFF2-40B4-BE49-F238E27FC236}">
                <a16:creationId xmlns:a16="http://schemas.microsoft.com/office/drawing/2014/main" id="{E69C8245-D630-52F8-48BF-83DF5C1D0ED1}"/>
              </a:ext>
            </a:extLst>
          </p:cNvPr>
          <p:cNvPicPr>
            <a:picLocks noChangeAspect="1"/>
          </p:cNvPicPr>
          <p:nvPr/>
        </p:nvPicPr>
        <p:blipFill>
          <a:blip r:embed="rId7"/>
          <a:stretch>
            <a:fillRect/>
          </a:stretch>
        </p:blipFill>
        <p:spPr>
          <a:xfrm>
            <a:off x="8305800" y="7867417"/>
            <a:ext cx="3837708" cy="1918854"/>
          </a:xfrm>
          <a:prstGeom prst="rect">
            <a:avLst/>
          </a:prstGeom>
        </p:spPr>
      </p:pic>
      <p:pic>
        <p:nvPicPr>
          <p:cNvPr id="9" name="Picture 8" descr="A white text on a black background&#10;&#10;AI-generated content may be incorrect.">
            <a:extLst>
              <a:ext uri="{FF2B5EF4-FFF2-40B4-BE49-F238E27FC236}">
                <a16:creationId xmlns:a16="http://schemas.microsoft.com/office/drawing/2014/main" id="{CD5C89BE-3161-3A9D-7585-9EF46B237753}"/>
              </a:ext>
            </a:extLst>
          </p:cNvPr>
          <p:cNvPicPr>
            <a:picLocks noChangeAspect="1"/>
          </p:cNvPicPr>
          <p:nvPr/>
        </p:nvPicPr>
        <p:blipFill>
          <a:blip r:embed="rId8"/>
          <a:stretch>
            <a:fillRect/>
          </a:stretch>
        </p:blipFill>
        <p:spPr>
          <a:xfrm>
            <a:off x="12420600" y="8060433"/>
            <a:ext cx="4899973" cy="1842654"/>
          </a:xfrm>
          <a:prstGeom prst="rect">
            <a:avLst/>
          </a:prstGeom>
        </p:spPr>
      </p:pic>
      <p:pic>
        <p:nvPicPr>
          <p:cNvPr id="10" name="Picture 9" descr="A logo with colorful squares&#10;&#10;AI-generated content may be incorrect.">
            <a:extLst>
              <a:ext uri="{FF2B5EF4-FFF2-40B4-BE49-F238E27FC236}">
                <a16:creationId xmlns:a16="http://schemas.microsoft.com/office/drawing/2014/main" id="{18D1B16D-DD52-4F52-4E46-068D5556194D}"/>
              </a:ext>
            </a:extLst>
          </p:cNvPr>
          <p:cNvPicPr>
            <a:picLocks noChangeAspect="1"/>
          </p:cNvPicPr>
          <p:nvPr/>
        </p:nvPicPr>
        <p:blipFill>
          <a:blip r:embed="rId9"/>
          <a:stretch>
            <a:fillRect/>
          </a:stretch>
        </p:blipFill>
        <p:spPr>
          <a:xfrm>
            <a:off x="5181600" y="7491845"/>
            <a:ext cx="2604655" cy="2604655"/>
          </a:xfrm>
          <a:prstGeom prst="rect">
            <a:avLst/>
          </a:prstGeom>
        </p:spPr>
      </p:pic>
      <p:pic>
        <p:nvPicPr>
          <p:cNvPr id="3074" name="Picture 2" descr="Sublime Text - Wikipedia">
            <a:extLst>
              <a:ext uri="{FF2B5EF4-FFF2-40B4-BE49-F238E27FC236}">
                <a16:creationId xmlns:a16="http://schemas.microsoft.com/office/drawing/2014/main" id="{BEACB42B-2774-0E1A-51ED-3805F62829E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54864" y="1114995"/>
            <a:ext cx="1465709" cy="146570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roject Jupyter - Wikipedia">
            <a:extLst>
              <a:ext uri="{FF2B5EF4-FFF2-40B4-BE49-F238E27FC236}">
                <a16:creationId xmlns:a16="http://schemas.microsoft.com/office/drawing/2014/main" id="{93CEC13A-933B-A142-5F36-444762B5F7A7}"/>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673577" y="3819264"/>
            <a:ext cx="2804330" cy="325139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D09E9CA-FEFB-F75C-F8BB-531BE9D87C7A}"/>
              </a:ext>
            </a:extLst>
          </p:cNvPr>
          <p:cNvSpPr txBox="1"/>
          <p:nvPr/>
        </p:nvSpPr>
        <p:spPr>
          <a:xfrm>
            <a:off x="1378192" y="6693709"/>
            <a:ext cx="11271007" cy="707886"/>
          </a:xfrm>
          <a:prstGeom prst="rect">
            <a:avLst/>
          </a:prstGeom>
          <a:noFill/>
        </p:spPr>
        <p:txBody>
          <a:bodyPr wrap="square">
            <a:spAutoFit/>
          </a:bodyPr>
          <a:lstStyle/>
          <a:p>
            <a:r>
              <a:rPr lang="en-US" sz="4000" b="1" dirty="0">
                <a:solidFill>
                  <a:schemeClr val="bg1"/>
                </a:solidFill>
                <a:effectLst/>
                <a:latin typeface="Aptos" panose="020B0004020202020204" pitchFamily="34" charset="0"/>
                <a:ea typeface="Aptos" panose="020B0004020202020204" pitchFamily="34" charset="0"/>
                <a:cs typeface="Arial" panose="020B0604020202020204" pitchFamily="34" charset="0"/>
              </a:rPr>
              <a:t>https://www.online-python.com/</a:t>
            </a:r>
            <a:endParaRPr lang="en-US" sz="4000" b="1" dirty="0">
              <a:solidFill>
                <a:schemeClr val="bg1"/>
              </a:solidFill>
            </a:endParaRPr>
          </a:p>
        </p:txBody>
      </p:sp>
    </p:spTree>
    <p:extLst>
      <p:ext uri="{BB962C8B-B14F-4D97-AF65-F5344CB8AC3E}">
        <p14:creationId xmlns:p14="http://schemas.microsoft.com/office/powerpoint/2010/main" val="4020622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DEBB3CF-4B38-B3A1-7B57-412BA89245EA}"/>
            </a:ext>
          </a:extLst>
        </p:cNvPr>
        <p:cNvGrpSpPr/>
        <p:nvPr/>
      </p:nvGrpSpPr>
      <p:grpSpPr>
        <a:xfrm>
          <a:off x="0" y="0"/>
          <a:ext cx="0" cy="0"/>
          <a:chOff x="0" y="0"/>
          <a:chExt cx="0" cy="0"/>
        </a:xfrm>
      </p:grpSpPr>
      <p:sp>
        <p:nvSpPr>
          <p:cNvPr id="27" name="TextBox 15">
            <a:extLst>
              <a:ext uri="{FF2B5EF4-FFF2-40B4-BE49-F238E27FC236}">
                <a16:creationId xmlns:a16="http://schemas.microsoft.com/office/drawing/2014/main" id="{26D58D1D-D783-3513-1AD3-6F2C387D92BF}"/>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8" name="AutoShape 16">
            <a:extLst>
              <a:ext uri="{FF2B5EF4-FFF2-40B4-BE49-F238E27FC236}">
                <a16:creationId xmlns:a16="http://schemas.microsoft.com/office/drawing/2014/main" id="{236A1EBA-EB74-FD9C-2AD3-CF9CFF4E0CBE}"/>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latin typeface="+mj-lt"/>
            </a:endParaRPr>
          </a:p>
        </p:txBody>
      </p:sp>
      <p:sp>
        <p:nvSpPr>
          <p:cNvPr id="30" name="TextBox 11">
            <a:extLst>
              <a:ext uri="{FF2B5EF4-FFF2-40B4-BE49-F238E27FC236}">
                <a16:creationId xmlns:a16="http://schemas.microsoft.com/office/drawing/2014/main" id="{9DBBFE0B-68FC-ACE1-BCC2-B10FFE230E5F}"/>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31" name="TextBox 12">
            <a:extLst>
              <a:ext uri="{FF2B5EF4-FFF2-40B4-BE49-F238E27FC236}">
                <a16:creationId xmlns:a16="http://schemas.microsoft.com/office/drawing/2014/main" id="{D47AEDA9-0113-1BE3-40BA-551CE525E74A}"/>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Installation</a:t>
            </a:r>
          </a:p>
        </p:txBody>
      </p:sp>
      <p:sp>
        <p:nvSpPr>
          <p:cNvPr id="32" name="TextBox 14">
            <a:extLst>
              <a:ext uri="{FF2B5EF4-FFF2-40B4-BE49-F238E27FC236}">
                <a16:creationId xmlns:a16="http://schemas.microsoft.com/office/drawing/2014/main" id="{A01B2B49-F012-D79C-0939-72B30944DFA9}"/>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33" name="TextBox 14">
            <a:extLst>
              <a:ext uri="{FF2B5EF4-FFF2-40B4-BE49-F238E27FC236}">
                <a16:creationId xmlns:a16="http://schemas.microsoft.com/office/drawing/2014/main" id="{3613E430-AAA6-6294-5877-FFD48FDDA484}"/>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Editors</a:t>
            </a:r>
          </a:p>
        </p:txBody>
      </p:sp>
      <p:pic>
        <p:nvPicPr>
          <p:cNvPr id="13" name="Picture 12" descr="A logo with colorful squares&#10;&#10;AI-generated content may be incorrect.">
            <a:extLst>
              <a:ext uri="{FF2B5EF4-FFF2-40B4-BE49-F238E27FC236}">
                <a16:creationId xmlns:a16="http://schemas.microsoft.com/office/drawing/2014/main" id="{4C402267-1728-6DD5-6107-6A54C0E16A1E}"/>
              </a:ext>
            </a:extLst>
          </p:cNvPr>
          <p:cNvPicPr>
            <a:picLocks noChangeAspect="1"/>
          </p:cNvPicPr>
          <p:nvPr/>
        </p:nvPicPr>
        <p:blipFill>
          <a:blip r:embed="rId2"/>
          <a:stretch>
            <a:fillRect/>
          </a:stretch>
        </p:blipFill>
        <p:spPr>
          <a:xfrm>
            <a:off x="2743200" y="4228887"/>
            <a:ext cx="2145164" cy="2145164"/>
          </a:xfrm>
          <a:prstGeom prst="rect">
            <a:avLst/>
          </a:prstGeom>
        </p:spPr>
      </p:pic>
      <p:pic>
        <p:nvPicPr>
          <p:cNvPr id="14" name="Picture 13" descr="A blue ribbon with a black background&#10;&#10;AI-generated content may be incorrect.">
            <a:extLst>
              <a:ext uri="{FF2B5EF4-FFF2-40B4-BE49-F238E27FC236}">
                <a16:creationId xmlns:a16="http://schemas.microsoft.com/office/drawing/2014/main" id="{A17A069E-174C-C651-EDFB-DF88F2FB9528}"/>
              </a:ext>
            </a:extLst>
          </p:cNvPr>
          <p:cNvPicPr>
            <a:picLocks noChangeAspect="1"/>
          </p:cNvPicPr>
          <p:nvPr/>
        </p:nvPicPr>
        <p:blipFill>
          <a:blip r:embed="rId3"/>
          <a:stretch>
            <a:fillRect/>
          </a:stretch>
        </p:blipFill>
        <p:spPr>
          <a:xfrm>
            <a:off x="2590800" y="1399392"/>
            <a:ext cx="2145164" cy="2145164"/>
          </a:xfrm>
          <a:prstGeom prst="rect">
            <a:avLst/>
          </a:prstGeom>
        </p:spPr>
      </p:pic>
      <p:sp>
        <p:nvSpPr>
          <p:cNvPr id="15" name="TextBox 14">
            <a:extLst>
              <a:ext uri="{FF2B5EF4-FFF2-40B4-BE49-F238E27FC236}">
                <a16:creationId xmlns:a16="http://schemas.microsoft.com/office/drawing/2014/main" id="{6318C024-88FD-DA76-9D76-56CF5DF120CA}"/>
              </a:ext>
            </a:extLst>
          </p:cNvPr>
          <p:cNvSpPr txBox="1"/>
          <p:nvPr/>
        </p:nvSpPr>
        <p:spPr>
          <a:xfrm>
            <a:off x="5105400" y="1961673"/>
            <a:ext cx="9196815" cy="830997"/>
          </a:xfrm>
          <a:prstGeom prst="rect">
            <a:avLst/>
          </a:prstGeom>
          <a:noFill/>
        </p:spPr>
        <p:txBody>
          <a:bodyPr wrap="square">
            <a:spAutoFit/>
          </a:bodyPr>
          <a:lstStyle/>
          <a:p>
            <a:r>
              <a:rPr lang="en-US" sz="4000" dirty="0">
                <a:solidFill>
                  <a:schemeClr val="bg1"/>
                </a:solidFill>
              </a:rPr>
              <a:t>https://</a:t>
            </a:r>
            <a:r>
              <a:rPr lang="en-US" sz="4800" dirty="0">
                <a:solidFill>
                  <a:schemeClr val="bg1"/>
                </a:solidFill>
              </a:rPr>
              <a:t>code</a:t>
            </a:r>
            <a:r>
              <a:rPr lang="en-US" sz="4000" dirty="0">
                <a:solidFill>
                  <a:schemeClr val="bg1"/>
                </a:solidFill>
              </a:rPr>
              <a:t>.visualstudio.com/download</a:t>
            </a:r>
          </a:p>
        </p:txBody>
      </p:sp>
      <p:sp>
        <p:nvSpPr>
          <p:cNvPr id="16" name="TextBox 15">
            <a:extLst>
              <a:ext uri="{FF2B5EF4-FFF2-40B4-BE49-F238E27FC236}">
                <a16:creationId xmlns:a16="http://schemas.microsoft.com/office/drawing/2014/main" id="{143084A9-000E-28EF-010E-5218F1447CA0}"/>
              </a:ext>
            </a:extLst>
          </p:cNvPr>
          <p:cNvSpPr txBox="1"/>
          <p:nvPr/>
        </p:nvSpPr>
        <p:spPr>
          <a:xfrm>
            <a:off x="4974272" y="5143500"/>
            <a:ext cx="10832122" cy="707886"/>
          </a:xfrm>
          <a:prstGeom prst="rect">
            <a:avLst/>
          </a:prstGeom>
          <a:noFill/>
        </p:spPr>
        <p:txBody>
          <a:bodyPr wrap="square">
            <a:spAutoFit/>
          </a:bodyPr>
          <a:lstStyle/>
          <a:p>
            <a:r>
              <a:rPr lang="en-US" sz="4000" dirty="0">
                <a:solidFill>
                  <a:schemeClr val="bg1"/>
                </a:solidFill>
              </a:rPr>
              <a:t>https://www.jetbrains.com/pycharm/download</a:t>
            </a:r>
          </a:p>
        </p:txBody>
      </p:sp>
      <p:sp>
        <p:nvSpPr>
          <p:cNvPr id="17" name="TextBox 16">
            <a:extLst>
              <a:ext uri="{FF2B5EF4-FFF2-40B4-BE49-F238E27FC236}">
                <a16:creationId xmlns:a16="http://schemas.microsoft.com/office/drawing/2014/main" id="{1405E64D-ADD8-8A58-0969-3B08DB68F65E}"/>
              </a:ext>
            </a:extLst>
          </p:cNvPr>
          <p:cNvSpPr txBox="1"/>
          <p:nvPr/>
        </p:nvSpPr>
        <p:spPr>
          <a:xfrm>
            <a:off x="4978283" y="7617441"/>
            <a:ext cx="10112681" cy="707886"/>
          </a:xfrm>
          <a:prstGeom prst="rect">
            <a:avLst/>
          </a:prstGeom>
          <a:noFill/>
        </p:spPr>
        <p:txBody>
          <a:bodyPr wrap="square">
            <a:spAutoFit/>
          </a:bodyPr>
          <a:lstStyle/>
          <a:p>
            <a:r>
              <a:rPr lang="en-US" sz="4000" b="1" dirty="0">
                <a:solidFill>
                  <a:schemeClr val="bg1"/>
                </a:solidFill>
                <a:effectLst/>
                <a:latin typeface="Aptos" panose="020B0004020202020204" pitchFamily="34" charset="0"/>
                <a:ea typeface="Aptos" panose="020B0004020202020204" pitchFamily="34" charset="0"/>
                <a:cs typeface="Arial" panose="020B0604020202020204" pitchFamily="34" charset="0"/>
              </a:rPr>
              <a:t>https://www.online-python.com/</a:t>
            </a:r>
            <a:endParaRPr lang="en-US" sz="4000" b="1" dirty="0">
              <a:solidFill>
                <a:schemeClr val="bg1"/>
              </a:solidFill>
            </a:endParaRPr>
          </a:p>
        </p:txBody>
      </p:sp>
      <p:pic>
        <p:nvPicPr>
          <p:cNvPr id="18" name="Picture 17" descr="A logo with a magnifying glass and a book&#10;&#10;AI-generated content may be incorrect.">
            <a:extLst>
              <a:ext uri="{FF2B5EF4-FFF2-40B4-BE49-F238E27FC236}">
                <a16:creationId xmlns:a16="http://schemas.microsoft.com/office/drawing/2014/main" id="{35B991E2-0B83-82B8-AAB2-00B33DDDFD5B}"/>
              </a:ext>
            </a:extLst>
          </p:cNvPr>
          <p:cNvPicPr>
            <a:picLocks noChangeAspect="1"/>
          </p:cNvPicPr>
          <p:nvPr/>
        </p:nvPicPr>
        <p:blipFill>
          <a:blip r:embed="rId4"/>
          <a:stretch>
            <a:fillRect/>
          </a:stretch>
        </p:blipFill>
        <p:spPr>
          <a:xfrm>
            <a:off x="0" y="8831526"/>
            <a:ext cx="1828800" cy="1455474"/>
          </a:xfrm>
          <a:prstGeom prst="rect">
            <a:avLst/>
          </a:prstGeom>
        </p:spPr>
      </p:pic>
    </p:spTree>
    <p:extLst>
      <p:ext uri="{BB962C8B-B14F-4D97-AF65-F5344CB8AC3E}">
        <p14:creationId xmlns:p14="http://schemas.microsoft.com/office/powerpoint/2010/main" val="3247863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7B2579F-ED36-0CE7-1DAF-D26A52AC757F}"/>
            </a:ext>
          </a:extLst>
        </p:cNvPr>
        <p:cNvGrpSpPr/>
        <p:nvPr/>
      </p:nvGrpSpPr>
      <p:grpSpPr>
        <a:xfrm>
          <a:off x="0" y="0"/>
          <a:ext cx="0" cy="0"/>
          <a:chOff x="0" y="0"/>
          <a:chExt cx="0" cy="0"/>
        </a:xfrm>
      </p:grpSpPr>
      <p:sp>
        <p:nvSpPr>
          <p:cNvPr id="27" name="TextBox 15">
            <a:extLst>
              <a:ext uri="{FF2B5EF4-FFF2-40B4-BE49-F238E27FC236}">
                <a16:creationId xmlns:a16="http://schemas.microsoft.com/office/drawing/2014/main" id="{8F642729-5BC7-4266-D9B5-DB0E8E5B8A07}"/>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8" name="AutoShape 16">
            <a:extLst>
              <a:ext uri="{FF2B5EF4-FFF2-40B4-BE49-F238E27FC236}">
                <a16:creationId xmlns:a16="http://schemas.microsoft.com/office/drawing/2014/main" id="{742CBF0D-D5A2-B50D-4193-55B6E9155B10}"/>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latin typeface="+mj-lt"/>
            </a:endParaRPr>
          </a:p>
        </p:txBody>
      </p:sp>
      <p:sp>
        <p:nvSpPr>
          <p:cNvPr id="30" name="TextBox 11">
            <a:extLst>
              <a:ext uri="{FF2B5EF4-FFF2-40B4-BE49-F238E27FC236}">
                <a16:creationId xmlns:a16="http://schemas.microsoft.com/office/drawing/2014/main" id="{07C986B8-D1A2-C51E-5079-5D9B84C7ABDA}"/>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31" name="TextBox 12">
            <a:extLst>
              <a:ext uri="{FF2B5EF4-FFF2-40B4-BE49-F238E27FC236}">
                <a16:creationId xmlns:a16="http://schemas.microsoft.com/office/drawing/2014/main" id="{37EF0B34-A5C5-E2E9-6EC1-7C27CD136318}"/>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Installation</a:t>
            </a:r>
          </a:p>
        </p:txBody>
      </p:sp>
      <p:sp>
        <p:nvSpPr>
          <p:cNvPr id="32" name="TextBox 14">
            <a:extLst>
              <a:ext uri="{FF2B5EF4-FFF2-40B4-BE49-F238E27FC236}">
                <a16:creationId xmlns:a16="http://schemas.microsoft.com/office/drawing/2014/main" id="{97559602-C56C-B540-30C5-DC275B978FDF}"/>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33" name="TextBox 14">
            <a:extLst>
              <a:ext uri="{FF2B5EF4-FFF2-40B4-BE49-F238E27FC236}">
                <a16:creationId xmlns:a16="http://schemas.microsoft.com/office/drawing/2014/main" id="{DBDADAE7-FDC6-21AF-7776-E665695C4C8A}"/>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 Visual Studio Code</a:t>
            </a:r>
          </a:p>
        </p:txBody>
      </p:sp>
      <p:pic>
        <p:nvPicPr>
          <p:cNvPr id="2" name="Picture 1">
            <a:extLst>
              <a:ext uri="{FF2B5EF4-FFF2-40B4-BE49-F238E27FC236}">
                <a16:creationId xmlns:a16="http://schemas.microsoft.com/office/drawing/2014/main" id="{FE4B7490-7A35-0C3C-A65B-18848619F4B1}"/>
              </a:ext>
            </a:extLst>
          </p:cNvPr>
          <p:cNvPicPr>
            <a:picLocks noChangeAspect="1"/>
          </p:cNvPicPr>
          <p:nvPr/>
        </p:nvPicPr>
        <p:blipFill>
          <a:blip r:embed="rId2"/>
          <a:stretch>
            <a:fillRect/>
          </a:stretch>
        </p:blipFill>
        <p:spPr>
          <a:xfrm>
            <a:off x="2057400" y="667104"/>
            <a:ext cx="13792200" cy="9194801"/>
          </a:xfrm>
          <a:prstGeom prst="rect">
            <a:avLst/>
          </a:prstGeom>
        </p:spPr>
      </p:pic>
    </p:spTree>
    <p:extLst>
      <p:ext uri="{BB962C8B-B14F-4D97-AF65-F5344CB8AC3E}">
        <p14:creationId xmlns:p14="http://schemas.microsoft.com/office/powerpoint/2010/main" val="3817136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C73199B-13D1-DA2E-5F68-4E20189EFE16}"/>
            </a:ext>
          </a:extLst>
        </p:cNvPr>
        <p:cNvGrpSpPr/>
        <p:nvPr/>
      </p:nvGrpSpPr>
      <p:grpSpPr>
        <a:xfrm>
          <a:off x="0" y="0"/>
          <a:ext cx="0" cy="0"/>
          <a:chOff x="0" y="0"/>
          <a:chExt cx="0" cy="0"/>
        </a:xfrm>
      </p:grpSpPr>
      <p:sp>
        <p:nvSpPr>
          <p:cNvPr id="27" name="TextBox 15">
            <a:extLst>
              <a:ext uri="{FF2B5EF4-FFF2-40B4-BE49-F238E27FC236}">
                <a16:creationId xmlns:a16="http://schemas.microsoft.com/office/drawing/2014/main" id="{CA9DEC58-3AAC-EE2F-CEC2-373312273036}"/>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8" name="AutoShape 16">
            <a:extLst>
              <a:ext uri="{FF2B5EF4-FFF2-40B4-BE49-F238E27FC236}">
                <a16:creationId xmlns:a16="http://schemas.microsoft.com/office/drawing/2014/main" id="{C9F7E04E-5F3F-EA46-65CA-456E4788EC7C}"/>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latin typeface="+mj-lt"/>
            </a:endParaRPr>
          </a:p>
        </p:txBody>
      </p:sp>
      <p:sp>
        <p:nvSpPr>
          <p:cNvPr id="30" name="TextBox 11">
            <a:extLst>
              <a:ext uri="{FF2B5EF4-FFF2-40B4-BE49-F238E27FC236}">
                <a16:creationId xmlns:a16="http://schemas.microsoft.com/office/drawing/2014/main" id="{A5F9C20D-5FF1-2DCE-7AC0-8543F7B79843}"/>
              </a:ext>
            </a:extLst>
          </p:cNvPr>
          <p:cNvSpPr txBox="1"/>
          <p:nvPr/>
        </p:nvSpPr>
        <p:spPr>
          <a:xfrm>
            <a:off x="9479195" y="266700"/>
            <a:ext cx="911138" cy="291747"/>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mj-lt"/>
                <a:ea typeface="Open Sauce"/>
                <a:cs typeface="Open Sauce"/>
                <a:sym typeface="Open Sauce"/>
              </a:rPr>
              <a:t>1. </a:t>
            </a:r>
          </a:p>
        </p:txBody>
      </p:sp>
      <p:sp>
        <p:nvSpPr>
          <p:cNvPr id="31" name="TextBox 12">
            <a:extLst>
              <a:ext uri="{FF2B5EF4-FFF2-40B4-BE49-F238E27FC236}">
                <a16:creationId xmlns:a16="http://schemas.microsoft.com/office/drawing/2014/main" id="{E7E02A6F-5F7B-F7D2-D7A2-57C7C1BCA6EA}"/>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Installation</a:t>
            </a:r>
          </a:p>
        </p:txBody>
      </p:sp>
      <p:sp>
        <p:nvSpPr>
          <p:cNvPr id="32" name="TextBox 14">
            <a:extLst>
              <a:ext uri="{FF2B5EF4-FFF2-40B4-BE49-F238E27FC236}">
                <a16:creationId xmlns:a16="http://schemas.microsoft.com/office/drawing/2014/main" id="{A5F07E2B-158C-49F4-56D9-876CED53EC79}"/>
              </a:ext>
            </a:extLst>
          </p:cNvPr>
          <p:cNvSpPr txBox="1"/>
          <p:nvPr/>
        </p:nvSpPr>
        <p:spPr>
          <a:xfrm>
            <a:off x="13716000" y="266700"/>
            <a:ext cx="304800" cy="291747"/>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mj-lt"/>
                <a:ea typeface="Open Sauce"/>
                <a:cs typeface="Open Sauce"/>
                <a:sym typeface="Open Sauce"/>
              </a:rPr>
              <a:t>-</a:t>
            </a:r>
          </a:p>
        </p:txBody>
      </p:sp>
      <p:sp>
        <p:nvSpPr>
          <p:cNvPr id="33" name="TextBox 14">
            <a:extLst>
              <a:ext uri="{FF2B5EF4-FFF2-40B4-BE49-F238E27FC236}">
                <a16:creationId xmlns:a16="http://schemas.microsoft.com/office/drawing/2014/main" id="{43A02E4B-009F-F4A4-2FD0-72AEB8F75B6B}"/>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PyCharm</a:t>
            </a:r>
          </a:p>
        </p:txBody>
      </p:sp>
      <p:pic>
        <p:nvPicPr>
          <p:cNvPr id="3" name="Picture 2">
            <a:extLst>
              <a:ext uri="{FF2B5EF4-FFF2-40B4-BE49-F238E27FC236}">
                <a16:creationId xmlns:a16="http://schemas.microsoft.com/office/drawing/2014/main" id="{68E854D7-AD95-8FD7-9A72-B6AB6934E1BC}"/>
              </a:ext>
            </a:extLst>
          </p:cNvPr>
          <p:cNvPicPr>
            <a:picLocks noChangeAspect="1"/>
          </p:cNvPicPr>
          <p:nvPr/>
        </p:nvPicPr>
        <p:blipFill>
          <a:blip r:embed="rId2"/>
          <a:stretch>
            <a:fillRect/>
          </a:stretch>
        </p:blipFill>
        <p:spPr>
          <a:xfrm>
            <a:off x="1219200" y="630387"/>
            <a:ext cx="14859000" cy="949252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3F2CAD63-446C-C492-CBE1-EE54CA32FE51}"/>
              </a:ext>
            </a:extLst>
          </p:cNvPr>
          <p:cNvPicPr>
            <a:picLocks noChangeAspect="1"/>
          </p:cNvPicPr>
          <p:nvPr/>
        </p:nvPicPr>
        <p:blipFill>
          <a:blip r:embed="rId3"/>
          <a:stretch>
            <a:fillRect/>
          </a:stretch>
        </p:blipFill>
        <p:spPr>
          <a:xfrm>
            <a:off x="10631802" y="4076700"/>
            <a:ext cx="7545310" cy="4071545"/>
          </a:xfrm>
          <a:prstGeom prst="rect">
            <a:avLst/>
          </a:prstGeom>
        </p:spPr>
      </p:pic>
    </p:spTree>
    <p:extLst>
      <p:ext uri="{BB962C8B-B14F-4D97-AF65-F5344CB8AC3E}">
        <p14:creationId xmlns:p14="http://schemas.microsoft.com/office/powerpoint/2010/main" val="1240132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BD0E19D-F8B7-1571-C0F9-6868D806C3B3}"/>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9D06BD32-9982-14F3-748E-8527719C625F}"/>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DE946061-F79D-3163-2C23-2AF4D6805A37}"/>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861935E3-72DD-461F-3260-A6A206D48844}"/>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162EAAB5-EE9D-43B1-4005-BAE7A6E04F40}"/>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13950917-9C92-1F8B-A04D-FE7271BF87D7}"/>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CEFAF369-A108-B726-F8E3-C47FCEC28685}"/>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 Practice</a:t>
            </a:r>
          </a:p>
        </p:txBody>
      </p:sp>
      <p:pic>
        <p:nvPicPr>
          <p:cNvPr id="4" name="Picture 3">
            <a:extLst>
              <a:ext uri="{FF2B5EF4-FFF2-40B4-BE49-F238E27FC236}">
                <a16:creationId xmlns:a16="http://schemas.microsoft.com/office/drawing/2014/main" id="{6DD03F8D-3D0F-FBBE-C6FB-5DBF135BD215}"/>
              </a:ext>
            </a:extLst>
          </p:cNvPr>
          <p:cNvPicPr>
            <a:picLocks noChangeAspect="1"/>
          </p:cNvPicPr>
          <p:nvPr/>
        </p:nvPicPr>
        <p:blipFill>
          <a:blip r:embed="rId2"/>
          <a:stretch>
            <a:fillRect/>
          </a:stretch>
        </p:blipFill>
        <p:spPr>
          <a:xfrm>
            <a:off x="833217" y="1257300"/>
            <a:ext cx="15242525" cy="5334000"/>
          </a:xfrm>
          <a:prstGeom prst="rect">
            <a:avLst/>
          </a:prstGeom>
        </p:spPr>
      </p:pic>
    </p:spTree>
    <p:extLst>
      <p:ext uri="{BB962C8B-B14F-4D97-AF65-F5344CB8AC3E}">
        <p14:creationId xmlns:p14="http://schemas.microsoft.com/office/powerpoint/2010/main" val="1134149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4" name="TextBox 14"/>
          <p:cNvSpPr txBox="1"/>
          <p:nvPr/>
        </p:nvSpPr>
        <p:spPr>
          <a:xfrm>
            <a:off x="10249404" y="626097"/>
            <a:ext cx="4224585" cy="987450"/>
          </a:xfrm>
          <a:prstGeom prst="rect">
            <a:avLst/>
          </a:prstGeom>
        </p:spPr>
        <p:txBody>
          <a:bodyPr wrap="square" lIns="0" tIns="0" rIns="0" bIns="0" rtlCol="0" anchor="t">
            <a:spAutoFit/>
          </a:bodyPr>
          <a:lstStyle/>
          <a:p>
            <a:pPr marL="0" lvl="0" indent="0" algn="just">
              <a:lnSpc>
                <a:spcPts val="7704"/>
              </a:lnSpc>
            </a:pPr>
            <a:r>
              <a:rPr lang="en-US" sz="6641" b="1" spc="-312" dirty="0">
                <a:solidFill>
                  <a:srgbClr val="FFFFFF"/>
                </a:solidFill>
                <a:latin typeface="Montserrat Bold"/>
                <a:ea typeface="Montserrat Bold"/>
                <a:cs typeface="Montserrat Bold"/>
                <a:sym typeface="Montserrat Bold"/>
              </a:rPr>
              <a:t>Practice</a:t>
            </a:r>
          </a:p>
        </p:txBody>
      </p:sp>
      <p:sp>
        <p:nvSpPr>
          <p:cNvPr id="21" name="TextBox 15">
            <a:extLst>
              <a:ext uri="{FF2B5EF4-FFF2-40B4-BE49-F238E27FC236}">
                <a16:creationId xmlns:a16="http://schemas.microsoft.com/office/drawing/2014/main" id="{7E788F11-680A-2886-80DE-974BC5335085}"/>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C5F91209-D0C5-69BB-90FF-9C465C3ED041}"/>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BCD6D4F7-2284-7B46-16CC-6BFF6811570E}"/>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CB3F1BF9-89FA-D474-B51D-581D8A14A8BD}"/>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DFECDDF5-A626-C9AA-79CC-B61A4E1BA411}"/>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F474FB6E-5EAD-2DBF-CFFF-143333439B4C}"/>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 Practice</a:t>
            </a:r>
          </a:p>
        </p:txBody>
      </p:sp>
      <p:pic>
        <p:nvPicPr>
          <p:cNvPr id="2" name="Picture 1">
            <a:extLst>
              <a:ext uri="{FF2B5EF4-FFF2-40B4-BE49-F238E27FC236}">
                <a16:creationId xmlns:a16="http://schemas.microsoft.com/office/drawing/2014/main" id="{0CADFB86-DFCE-8467-44FF-8026ECFF3A78}"/>
              </a:ext>
            </a:extLst>
          </p:cNvPr>
          <p:cNvPicPr>
            <a:picLocks noChangeAspect="1"/>
          </p:cNvPicPr>
          <p:nvPr/>
        </p:nvPicPr>
        <p:blipFill>
          <a:blip r:embed="rId2"/>
          <a:stretch>
            <a:fillRect/>
          </a:stretch>
        </p:blipFill>
        <p:spPr>
          <a:xfrm>
            <a:off x="3048000" y="1866900"/>
            <a:ext cx="12649200" cy="75401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0935038-1025-07FC-7AFD-6CC4DB2A9DE3}"/>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C13DFCF6-4BCF-BDDF-E7E5-844815B65A5E}"/>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8714A2A0-68C2-69CA-284F-03552AF3D7AC}"/>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5CE0B643-A72B-5E6F-4F70-AB0C7B7D444A}"/>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B882AADF-DABB-CD90-8628-7A83B593B428}"/>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858AD283-DFBD-46BE-2104-0D60AB386BDA}"/>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53B9CBA9-5C49-2A70-8E52-9CED7C7D644D}"/>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data types</a:t>
            </a:r>
          </a:p>
        </p:txBody>
      </p:sp>
      <p:pic>
        <p:nvPicPr>
          <p:cNvPr id="2" name="Picture 1">
            <a:extLst>
              <a:ext uri="{FF2B5EF4-FFF2-40B4-BE49-F238E27FC236}">
                <a16:creationId xmlns:a16="http://schemas.microsoft.com/office/drawing/2014/main" id="{CC4BF9C8-4C02-9153-A8A8-2277BE72FCB7}"/>
              </a:ext>
            </a:extLst>
          </p:cNvPr>
          <p:cNvPicPr>
            <a:picLocks noChangeAspect="1"/>
          </p:cNvPicPr>
          <p:nvPr/>
        </p:nvPicPr>
        <p:blipFill>
          <a:blip r:embed="rId3"/>
          <a:stretch>
            <a:fillRect/>
          </a:stretch>
        </p:blipFill>
        <p:spPr>
          <a:xfrm>
            <a:off x="304800" y="952500"/>
            <a:ext cx="8305800" cy="4488522"/>
          </a:xfrm>
          <a:prstGeom prst="rect">
            <a:avLst/>
          </a:prstGeom>
        </p:spPr>
      </p:pic>
      <p:pic>
        <p:nvPicPr>
          <p:cNvPr id="3" name="Picture 2">
            <a:extLst>
              <a:ext uri="{FF2B5EF4-FFF2-40B4-BE49-F238E27FC236}">
                <a16:creationId xmlns:a16="http://schemas.microsoft.com/office/drawing/2014/main" id="{7F3345E8-AE9C-4AF3-D2A3-9FBF8E840B27}"/>
              </a:ext>
            </a:extLst>
          </p:cNvPr>
          <p:cNvPicPr>
            <a:picLocks noChangeAspect="1"/>
          </p:cNvPicPr>
          <p:nvPr/>
        </p:nvPicPr>
        <p:blipFill>
          <a:blip r:embed="rId4"/>
          <a:stretch>
            <a:fillRect/>
          </a:stretch>
        </p:blipFill>
        <p:spPr>
          <a:xfrm>
            <a:off x="8775052" y="952500"/>
            <a:ext cx="9192908" cy="4391638"/>
          </a:xfrm>
          <a:prstGeom prst="rect">
            <a:avLst/>
          </a:prstGeom>
        </p:spPr>
      </p:pic>
    </p:spTree>
    <p:extLst>
      <p:ext uri="{BB962C8B-B14F-4D97-AF65-F5344CB8AC3E}">
        <p14:creationId xmlns:p14="http://schemas.microsoft.com/office/powerpoint/2010/main" val="3803446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DE1CFCB-E83C-82E3-E8F4-1AE0DE0AF76C}"/>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26264D58-B69B-D351-AAAD-BA80FEBF990C}"/>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43A6D8B5-CB05-D130-38A1-EF4E5E94C68B}"/>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06B34E1D-866F-C527-B714-EA927AD53C65}"/>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1407F24F-F12C-D836-95E2-A3737099DCDE}"/>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AA9DF4C4-95D0-68AC-6827-009323D00454}"/>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F507A955-6C01-663C-9A81-5076F8689C03}"/>
              </a:ext>
            </a:extLst>
          </p:cNvPr>
          <p:cNvSpPr txBox="1"/>
          <p:nvPr/>
        </p:nvSpPr>
        <p:spPr>
          <a:xfrm>
            <a:off x="14015884" y="266700"/>
            <a:ext cx="4119716" cy="291747"/>
          </a:xfrm>
          <a:prstGeom prst="rect">
            <a:avLst/>
          </a:prstGeom>
        </p:spPr>
        <p:txBody>
          <a:bodyPr wrap="square" lIns="0" tIns="0" rIns="0" bIns="0" rtlCol="0" anchor="t">
            <a:spAutoFit/>
          </a:bodyPr>
          <a:lstStyle/>
          <a:p>
            <a:pPr marL="0" lvl="0" indent="0">
              <a:lnSpc>
                <a:spcPts val="2380"/>
              </a:lnSpc>
              <a:spcBef>
                <a:spcPct val="0"/>
              </a:spcBef>
            </a:pPr>
            <a:r>
              <a:rPr lang="en-US" spc="3" dirty="0">
                <a:solidFill>
                  <a:srgbClr val="FFFFFF"/>
                </a:solidFill>
                <a:latin typeface="+mj-lt"/>
                <a:ea typeface="Open Sauce"/>
                <a:cs typeface="Open Sauce"/>
                <a:sym typeface="Open Sauce"/>
              </a:rPr>
              <a:t>String data type</a:t>
            </a:r>
          </a:p>
        </p:txBody>
      </p:sp>
      <p:graphicFrame>
        <p:nvGraphicFramePr>
          <p:cNvPr id="7" name="Table 2">
            <a:extLst>
              <a:ext uri="{FF2B5EF4-FFF2-40B4-BE49-F238E27FC236}">
                <a16:creationId xmlns:a16="http://schemas.microsoft.com/office/drawing/2014/main" id="{237E8684-8616-F578-8FB1-964398721CA2}"/>
              </a:ext>
            </a:extLst>
          </p:cNvPr>
          <p:cNvGraphicFramePr>
            <a:graphicFrameLocks noGrp="1"/>
          </p:cNvGraphicFramePr>
          <p:nvPr>
            <p:extLst>
              <p:ext uri="{D42A27DB-BD31-4B8C-83A1-F6EECF244321}">
                <p14:modId xmlns:p14="http://schemas.microsoft.com/office/powerpoint/2010/main" val="3633277367"/>
              </p:ext>
            </p:extLst>
          </p:nvPr>
        </p:nvGraphicFramePr>
        <p:xfrm>
          <a:off x="2209800" y="1516226"/>
          <a:ext cx="12725400" cy="7467599"/>
        </p:xfrm>
        <a:graphic>
          <a:graphicData uri="http://schemas.openxmlformats.org/drawingml/2006/table">
            <a:tbl>
              <a:tblPr firstRow="1" bandRow="1">
                <a:tableStyleId>{5C22544A-7EE6-4342-B048-85BDC9FD1C3A}</a:tableStyleId>
              </a:tblPr>
              <a:tblGrid>
                <a:gridCol w="4271934">
                  <a:extLst>
                    <a:ext uri="{9D8B030D-6E8A-4147-A177-3AD203B41FA5}">
                      <a16:colId xmlns:a16="http://schemas.microsoft.com/office/drawing/2014/main" val="3320023501"/>
                    </a:ext>
                  </a:extLst>
                </a:gridCol>
                <a:gridCol w="3529130">
                  <a:extLst>
                    <a:ext uri="{9D8B030D-6E8A-4147-A177-3AD203B41FA5}">
                      <a16:colId xmlns:a16="http://schemas.microsoft.com/office/drawing/2014/main" val="4132873731"/>
                    </a:ext>
                  </a:extLst>
                </a:gridCol>
                <a:gridCol w="4924336">
                  <a:extLst>
                    <a:ext uri="{9D8B030D-6E8A-4147-A177-3AD203B41FA5}">
                      <a16:colId xmlns:a16="http://schemas.microsoft.com/office/drawing/2014/main" val="10108706"/>
                    </a:ext>
                  </a:extLst>
                </a:gridCol>
              </a:tblGrid>
              <a:tr h="659567">
                <a:tc>
                  <a:txBody>
                    <a:bodyPr/>
                    <a:lstStyle/>
                    <a:p>
                      <a:pPr algn="ctr"/>
                      <a:r>
                        <a:rPr lang="fr-FR" sz="3200" dirty="0">
                          <a:solidFill>
                            <a:schemeClr val="bg1">
                              <a:lumMod val="95000"/>
                            </a:schemeClr>
                          </a:solidFill>
                        </a:rPr>
                        <a:t>input</a:t>
                      </a:r>
                      <a:endParaRPr lang="fr-FR" sz="3200" dirty="0">
                        <a:solidFill>
                          <a:schemeClr val="bg1">
                            <a:lumMod val="95000"/>
                          </a:schemeClr>
                        </a:solidFill>
                        <a:latin typeface="+mn-lt"/>
                      </a:endParaRPr>
                    </a:p>
                  </a:txBody>
                  <a:tcPr anchor="ctr">
                    <a:noFill/>
                  </a:tcPr>
                </a:tc>
                <a:tc>
                  <a:txBody>
                    <a:bodyPr/>
                    <a:lstStyle/>
                    <a:p>
                      <a:pPr algn="ctr"/>
                      <a:r>
                        <a:rPr lang="fr-FR" sz="3200" dirty="0">
                          <a:solidFill>
                            <a:schemeClr val="bg1">
                              <a:lumMod val="95000"/>
                            </a:schemeClr>
                          </a:solidFill>
                        </a:rPr>
                        <a:t>Method</a:t>
                      </a:r>
                      <a:endParaRPr lang="fr-FR" sz="3200" dirty="0">
                        <a:solidFill>
                          <a:schemeClr val="bg1">
                            <a:lumMod val="95000"/>
                          </a:schemeClr>
                        </a:solidFill>
                        <a:latin typeface="+mn-lt"/>
                      </a:endParaRPr>
                    </a:p>
                  </a:txBody>
                  <a:tcPr anchor="ctr">
                    <a:noFill/>
                  </a:tcPr>
                </a:tc>
                <a:tc>
                  <a:txBody>
                    <a:bodyPr/>
                    <a:lstStyle/>
                    <a:p>
                      <a:pPr algn="ctr"/>
                      <a:r>
                        <a:rPr lang="fr-FR" sz="3200" dirty="0">
                          <a:solidFill>
                            <a:schemeClr val="bg1">
                              <a:lumMod val="95000"/>
                            </a:schemeClr>
                          </a:solidFill>
                        </a:rPr>
                        <a:t>output</a:t>
                      </a:r>
                      <a:endParaRPr lang="fr-FR" sz="3200" dirty="0">
                        <a:solidFill>
                          <a:schemeClr val="bg1">
                            <a:lumMod val="95000"/>
                          </a:schemeClr>
                        </a:solidFill>
                        <a:latin typeface="+mn-lt"/>
                      </a:endParaRPr>
                    </a:p>
                  </a:txBody>
                  <a:tcPr anchor="ctr">
                    <a:noFill/>
                  </a:tcPr>
                </a:tc>
                <a:extLst>
                  <a:ext uri="{0D108BD9-81ED-4DB2-BD59-A6C34878D82A}">
                    <a16:rowId xmlns:a16="http://schemas.microsoft.com/office/drawing/2014/main" val="815316928"/>
                  </a:ext>
                </a:extLst>
              </a:tr>
              <a:tr h="520711">
                <a:tc>
                  <a:txBody>
                    <a:bodyPr/>
                    <a:lstStyle/>
                    <a:p>
                      <a:r>
                        <a:rPr lang="fr-FR" sz="2400" dirty="0">
                          <a:solidFill>
                            <a:schemeClr val="bg1">
                              <a:lumMod val="95000"/>
                            </a:schemeClr>
                          </a:solidFill>
                        </a:rPr>
                        <a:t>"Hello WORLD"</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a:t>
                      </a:r>
                      <a:r>
                        <a:rPr lang="fr-FR" sz="2400" dirty="0" err="1">
                          <a:solidFill>
                            <a:schemeClr val="bg1">
                              <a:lumMod val="95000"/>
                            </a:schemeClr>
                          </a:solidFill>
                        </a:rPr>
                        <a:t>capitalize</a:t>
                      </a:r>
                      <a:r>
                        <a:rPr lang="fr-FR" sz="2400" dirty="0">
                          <a:solidFill>
                            <a:schemeClr val="bg1">
                              <a:lumMod val="95000"/>
                            </a:schemeClr>
                          </a:solidFill>
                        </a:rPr>
                        <a:t>()</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Hello World</a:t>
                      </a:r>
                      <a:endParaRPr lang="fr-FR" sz="2400" dirty="0">
                        <a:solidFill>
                          <a:schemeClr val="bg1">
                            <a:lumMod val="95000"/>
                          </a:schemeClr>
                        </a:solidFill>
                        <a:latin typeface="+mn-lt"/>
                      </a:endParaRPr>
                    </a:p>
                  </a:txBody>
                  <a:tcPr anchor="ctr">
                    <a:noFill/>
                  </a:tcPr>
                </a:tc>
                <a:extLst>
                  <a:ext uri="{0D108BD9-81ED-4DB2-BD59-A6C34878D82A}">
                    <a16:rowId xmlns:a16="http://schemas.microsoft.com/office/drawing/2014/main" val="544905414"/>
                  </a:ext>
                </a:extLst>
              </a:tr>
              <a:tr h="520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dirty="0">
                          <a:solidFill>
                            <a:schemeClr val="bg1">
                              <a:lumMod val="95000"/>
                            </a:schemeClr>
                          </a:solidFill>
                        </a:rPr>
                        <a:t>"HELLO WORLD"</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a:t>
                      </a:r>
                      <a:r>
                        <a:rPr lang="fr-FR" sz="2400" dirty="0" err="1">
                          <a:solidFill>
                            <a:schemeClr val="bg1">
                              <a:lumMod val="95000"/>
                            </a:schemeClr>
                          </a:solidFill>
                        </a:rPr>
                        <a:t>lower</a:t>
                      </a:r>
                      <a:r>
                        <a:rPr lang="fr-FR" sz="2400" dirty="0">
                          <a:solidFill>
                            <a:schemeClr val="bg1">
                              <a:lumMod val="95000"/>
                            </a:schemeClr>
                          </a:solidFill>
                        </a:rPr>
                        <a:t>()</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hello world</a:t>
                      </a:r>
                      <a:endParaRPr lang="fr-FR" sz="2400" dirty="0">
                        <a:solidFill>
                          <a:schemeClr val="bg1">
                            <a:lumMod val="95000"/>
                          </a:schemeClr>
                        </a:solidFill>
                        <a:latin typeface="+mn-lt"/>
                      </a:endParaRPr>
                    </a:p>
                  </a:txBody>
                  <a:tcPr anchor="ctr">
                    <a:noFill/>
                  </a:tcPr>
                </a:tc>
                <a:extLst>
                  <a:ext uri="{0D108BD9-81ED-4DB2-BD59-A6C34878D82A}">
                    <a16:rowId xmlns:a16="http://schemas.microsoft.com/office/drawing/2014/main" val="3780135251"/>
                  </a:ext>
                </a:extLst>
              </a:tr>
              <a:tr h="520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dirty="0">
                          <a:solidFill>
                            <a:schemeClr val="bg1">
                              <a:lumMod val="95000"/>
                            </a:schemeClr>
                          </a:solidFill>
                        </a:rPr>
                        <a:t>"hello world"</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a:t>
                      </a:r>
                      <a:r>
                        <a:rPr lang="fr-FR" sz="2400" dirty="0" err="1">
                          <a:solidFill>
                            <a:schemeClr val="bg1">
                              <a:lumMod val="95000"/>
                            </a:schemeClr>
                          </a:solidFill>
                        </a:rPr>
                        <a:t>upper</a:t>
                      </a:r>
                      <a:r>
                        <a:rPr lang="fr-FR" sz="2400" dirty="0">
                          <a:solidFill>
                            <a:schemeClr val="bg1">
                              <a:lumMod val="95000"/>
                            </a:schemeClr>
                          </a:solidFill>
                        </a:rPr>
                        <a:t>()</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HELLO WORLD</a:t>
                      </a:r>
                      <a:endParaRPr lang="fr-FR" sz="2400" dirty="0">
                        <a:solidFill>
                          <a:schemeClr val="bg1">
                            <a:lumMod val="95000"/>
                          </a:schemeClr>
                        </a:solidFill>
                        <a:latin typeface="+mn-lt"/>
                      </a:endParaRPr>
                    </a:p>
                  </a:txBody>
                  <a:tcPr anchor="ctr">
                    <a:noFill/>
                  </a:tcPr>
                </a:tc>
                <a:extLst>
                  <a:ext uri="{0D108BD9-81ED-4DB2-BD59-A6C34878D82A}">
                    <a16:rowId xmlns:a16="http://schemas.microsoft.com/office/drawing/2014/main" val="4056949337"/>
                  </a:ext>
                </a:extLst>
              </a:tr>
              <a:tr h="520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dirty="0">
                          <a:solidFill>
                            <a:schemeClr val="bg1">
                              <a:lumMod val="95000"/>
                            </a:schemeClr>
                          </a:solidFill>
                        </a:rPr>
                        <a:t>‘Python’</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.center(10,’*’)</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**Python**</a:t>
                      </a:r>
                      <a:endParaRPr lang="fr-FR" sz="2400" dirty="0">
                        <a:solidFill>
                          <a:schemeClr val="bg1">
                            <a:lumMod val="95000"/>
                          </a:schemeClr>
                        </a:solidFill>
                        <a:latin typeface="+mn-lt"/>
                      </a:endParaRPr>
                    </a:p>
                  </a:txBody>
                  <a:tcPr anchor="ctr">
                    <a:noFill/>
                  </a:tcPr>
                </a:tc>
                <a:extLst>
                  <a:ext uri="{0D108BD9-81ED-4DB2-BD59-A6C34878D82A}">
                    <a16:rowId xmlns:a16="http://schemas.microsoft.com/office/drawing/2014/main" val="1362476349"/>
                  </a:ext>
                </a:extLst>
              </a:tr>
              <a:tr h="520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dirty="0">
                          <a:solidFill>
                            <a:schemeClr val="bg1">
                              <a:lumMod val="95000"/>
                            </a:schemeClr>
                          </a:solidFill>
                        </a:rPr>
                        <a:t>"HELLO WORLD"</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.count(‘L’)</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3</a:t>
                      </a:r>
                      <a:endParaRPr lang="fr-FR" sz="2400" dirty="0">
                        <a:solidFill>
                          <a:schemeClr val="bg1">
                            <a:lumMod val="95000"/>
                          </a:schemeClr>
                        </a:solidFill>
                        <a:latin typeface="+mn-lt"/>
                      </a:endParaRPr>
                    </a:p>
                  </a:txBody>
                  <a:tcPr anchor="ctr">
                    <a:noFill/>
                  </a:tcPr>
                </a:tc>
                <a:extLst>
                  <a:ext uri="{0D108BD9-81ED-4DB2-BD59-A6C34878D82A}">
                    <a16:rowId xmlns:a16="http://schemas.microsoft.com/office/drawing/2014/main" val="172546240"/>
                  </a:ext>
                </a:extLst>
              </a:tr>
              <a:tr h="520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dirty="0">
                          <a:solidFill>
                            <a:schemeClr val="bg1">
                              <a:lumMod val="95000"/>
                            </a:schemeClr>
                          </a:solidFill>
                        </a:rPr>
                        <a:t>"HELLO WORLD"</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.index(‘O’)</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4</a:t>
                      </a:r>
                      <a:endParaRPr lang="fr-FR" sz="2400" dirty="0">
                        <a:solidFill>
                          <a:schemeClr val="bg1">
                            <a:lumMod val="95000"/>
                          </a:schemeClr>
                        </a:solidFill>
                        <a:latin typeface="+mn-lt"/>
                      </a:endParaRPr>
                    </a:p>
                  </a:txBody>
                  <a:tcPr anchor="ctr">
                    <a:noFill/>
                  </a:tcPr>
                </a:tc>
                <a:extLst>
                  <a:ext uri="{0D108BD9-81ED-4DB2-BD59-A6C34878D82A}">
                    <a16:rowId xmlns:a16="http://schemas.microsoft.com/office/drawing/2014/main" val="3095144753"/>
                  </a:ext>
                </a:extLst>
              </a:tr>
              <a:tr h="520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dirty="0">
                          <a:solidFill>
                            <a:schemeClr val="bg1">
                              <a:lumMod val="95000"/>
                            </a:schemeClr>
                          </a:solidFill>
                        </a:rPr>
                        <a:t>"HELLO WORLD"</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a:t>
                      </a:r>
                      <a:r>
                        <a:rPr lang="fr-FR" sz="2400" dirty="0" err="1">
                          <a:solidFill>
                            <a:schemeClr val="bg1">
                              <a:lumMod val="95000"/>
                            </a:schemeClr>
                          </a:solidFill>
                        </a:rPr>
                        <a:t>find</a:t>
                      </a:r>
                      <a:r>
                        <a:rPr lang="fr-FR" sz="2400" dirty="0">
                          <a:solidFill>
                            <a:schemeClr val="bg1">
                              <a:lumMod val="95000"/>
                            </a:schemeClr>
                          </a:solidFill>
                        </a:rPr>
                        <a:t>(‘OR’)</a:t>
                      </a:r>
                      <a:endParaRPr lang="fr-FR" sz="2400" dirty="0">
                        <a:solidFill>
                          <a:schemeClr val="bg1">
                            <a:lumMod val="95000"/>
                          </a:schemeClr>
                        </a:solidFill>
                        <a:latin typeface="+mn-lt"/>
                      </a:endParaRPr>
                    </a:p>
                  </a:txBody>
                  <a:tcPr anchor="ctr">
                    <a:noFill/>
                  </a:tcPr>
                </a:tc>
                <a:tc>
                  <a:txBody>
                    <a:bodyPr/>
                    <a:lstStyle/>
                    <a:p>
                      <a:r>
                        <a:rPr lang="fr-FR" sz="2400" dirty="0">
                          <a:solidFill>
                            <a:schemeClr val="bg1">
                              <a:lumMod val="95000"/>
                            </a:schemeClr>
                          </a:solidFill>
                        </a:rPr>
                        <a:t>7</a:t>
                      </a:r>
                      <a:endParaRPr lang="fr-FR" sz="2400" dirty="0">
                        <a:solidFill>
                          <a:schemeClr val="bg1">
                            <a:lumMod val="95000"/>
                          </a:schemeClr>
                        </a:solidFill>
                        <a:latin typeface="+mn-lt"/>
                      </a:endParaRPr>
                    </a:p>
                  </a:txBody>
                  <a:tcPr anchor="ctr">
                    <a:noFill/>
                  </a:tcPr>
                </a:tc>
                <a:extLst>
                  <a:ext uri="{0D108BD9-81ED-4DB2-BD59-A6C34878D82A}">
                    <a16:rowId xmlns:a16="http://schemas.microsoft.com/office/drawing/2014/main" val="750998791"/>
                  </a:ext>
                </a:extLst>
              </a:tr>
              <a:tr h="520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’31/01/2025’</a:t>
                      </a:r>
                      <a:endParaRPr lang="fr-FR" sz="2400" kern="1200" dirty="0">
                        <a:solidFill>
                          <a:schemeClr val="bg1">
                            <a:lumMod val="95000"/>
                          </a:schemeClr>
                        </a:solidFill>
                        <a:latin typeface="+mn-lt"/>
                        <a:ea typeface="+mn-ea"/>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.replace(‘/’, ’-’)</a:t>
                      </a:r>
                      <a:endParaRPr lang="fr-FR" sz="2400" kern="1200" dirty="0">
                        <a:solidFill>
                          <a:schemeClr val="bg1">
                            <a:lumMod val="95000"/>
                          </a:schemeClr>
                        </a:solidFill>
                        <a:latin typeface="+mn-lt"/>
                        <a:ea typeface="+mn-ea"/>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’31-01-2025’</a:t>
                      </a:r>
                      <a:endParaRPr lang="fr-FR" sz="2400" kern="1200" dirty="0">
                        <a:solidFill>
                          <a:schemeClr val="bg1">
                            <a:lumMod val="95000"/>
                          </a:schemeClr>
                        </a:solidFill>
                        <a:latin typeface="+mn-lt"/>
                        <a:ea typeface="+mn-ea"/>
                        <a:cs typeface="+mn-cs"/>
                      </a:endParaRPr>
                    </a:p>
                  </a:txBody>
                  <a:tcPr anchor="ctr">
                    <a:noFill/>
                  </a:tcPr>
                </a:tc>
                <a:extLst>
                  <a:ext uri="{0D108BD9-81ED-4DB2-BD59-A6C34878D82A}">
                    <a16:rowId xmlns:a16="http://schemas.microsoft.com/office/drawing/2014/main" val="1875375656"/>
                  </a:ext>
                </a:extLst>
              </a:tr>
              <a:tr h="520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’31/01/2025’</a:t>
                      </a:r>
                      <a:endParaRPr lang="fr-FR" sz="2400" kern="1200" dirty="0">
                        <a:solidFill>
                          <a:schemeClr val="bg1">
                            <a:lumMod val="95000"/>
                          </a:schemeClr>
                        </a:solidFill>
                        <a:latin typeface="+mn-lt"/>
                        <a:ea typeface="+mn-ea"/>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.split(‘/’)</a:t>
                      </a:r>
                      <a:endParaRPr lang="fr-FR" sz="2400" kern="1200" dirty="0">
                        <a:solidFill>
                          <a:schemeClr val="bg1">
                            <a:lumMod val="95000"/>
                          </a:schemeClr>
                        </a:solidFill>
                        <a:latin typeface="+mn-lt"/>
                        <a:ea typeface="+mn-ea"/>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[’31’, ‘01’, ‘2025’]</a:t>
                      </a:r>
                      <a:endParaRPr lang="fr-FR" sz="2400" kern="1200" dirty="0">
                        <a:solidFill>
                          <a:schemeClr val="bg1">
                            <a:lumMod val="95000"/>
                          </a:schemeClr>
                        </a:solidFill>
                        <a:latin typeface="+mn-lt"/>
                        <a:ea typeface="+mn-ea"/>
                        <a:cs typeface="+mn-cs"/>
                      </a:endParaRPr>
                    </a:p>
                  </a:txBody>
                  <a:tcPr anchor="ctr">
                    <a:noFill/>
                  </a:tcPr>
                </a:tc>
                <a:extLst>
                  <a:ext uri="{0D108BD9-81ED-4DB2-BD59-A6C34878D82A}">
                    <a16:rowId xmlns:a16="http://schemas.microsoft.com/office/drawing/2014/main" val="1913157396"/>
                  </a:ext>
                </a:extLst>
              </a:tr>
              <a:tr h="520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‘abc123’</a:t>
                      </a:r>
                      <a:endParaRPr lang="fr-FR" sz="2400" kern="1200" dirty="0">
                        <a:solidFill>
                          <a:schemeClr val="bg1">
                            <a:lumMod val="95000"/>
                          </a:schemeClr>
                        </a:solidFill>
                        <a:latin typeface="+mn-lt"/>
                        <a:ea typeface="+mn-ea"/>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a:t>
                      </a:r>
                      <a:r>
                        <a:rPr lang="fr-FR" sz="2400" kern="1200" dirty="0" err="1">
                          <a:solidFill>
                            <a:schemeClr val="bg1">
                              <a:lumMod val="95000"/>
                            </a:schemeClr>
                          </a:solidFill>
                        </a:rPr>
                        <a:t>isalnum</a:t>
                      </a:r>
                      <a:r>
                        <a:rPr lang="fr-FR" sz="2400" kern="1200" dirty="0">
                          <a:solidFill>
                            <a:schemeClr val="bg1">
                              <a:lumMod val="95000"/>
                            </a:schemeClr>
                          </a:solidFill>
                        </a:rPr>
                        <a:t>()</a:t>
                      </a:r>
                      <a:endParaRPr lang="fr-FR" sz="2400" kern="1200" dirty="0">
                        <a:solidFill>
                          <a:schemeClr val="bg1">
                            <a:lumMod val="95000"/>
                          </a:schemeClr>
                        </a:solidFill>
                        <a:latin typeface="+mn-lt"/>
                        <a:ea typeface="+mn-ea"/>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err="1">
                          <a:solidFill>
                            <a:schemeClr val="bg1">
                              <a:lumMod val="95000"/>
                            </a:schemeClr>
                          </a:solidFill>
                        </a:rPr>
                        <a:t>True</a:t>
                      </a:r>
                      <a:endParaRPr lang="fr-FR" sz="2400" kern="1200" dirty="0">
                        <a:solidFill>
                          <a:schemeClr val="bg1">
                            <a:lumMod val="95000"/>
                          </a:schemeClr>
                        </a:solidFill>
                        <a:latin typeface="+mn-lt"/>
                        <a:ea typeface="+mn-ea"/>
                        <a:cs typeface="+mn-cs"/>
                      </a:endParaRPr>
                    </a:p>
                  </a:txBody>
                  <a:tcPr anchor="ctr">
                    <a:noFill/>
                  </a:tcPr>
                </a:tc>
                <a:extLst>
                  <a:ext uri="{0D108BD9-81ED-4DB2-BD59-A6C34878D82A}">
                    <a16:rowId xmlns:a16="http://schemas.microsoft.com/office/drawing/2014/main" val="200873704"/>
                  </a:ext>
                </a:extLst>
              </a:tr>
              <a:tr h="520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‘12345’</a:t>
                      </a:r>
                      <a:endParaRPr lang="fr-FR" sz="2400" kern="1200" dirty="0">
                        <a:solidFill>
                          <a:schemeClr val="bg1">
                            <a:lumMod val="95000"/>
                          </a:schemeClr>
                        </a:solidFill>
                        <a:latin typeface="+mn-lt"/>
                        <a:ea typeface="+mn-ea"/>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a:t>
                      </a:r>
                      <a:r>
                        <a:rPr lang="fr-FR" sz="2400" kern="1200" dirty="0" err="1">
                          <a:solidFill>
                            <a:schemeClr val="bg1">
                              <a:lumMod val="95000"/>
                            </a:schemeClr>
                          </a:solidFill>
                        </a:rPr>
                        <a:t>isnumeric</a:t>
                      </a:r>
                      <a:r>
                        <a:rPr lang="fr-FR" sz="2400" kern="1200" dirty="0">
                          <a:solidFill>
                            <a:schemeClr val="bg1">
                              <a:lumMod val="95000"/>
                            </a:schemeClr>
                          </a:solidFill>
                        </a:rPr>
                        <a:t>()</a:t>
                      </a:r>
                      <a:endParaRPr lang="fr-FR" sz="2400" kern="1200" dirty="0">
                        <a:solidFill>
                          <a:schemeClr val="bg1">
                            <a:lumMod val="95000"/>
                          </a:schemeClr>
                        </a:solidFill>
                        <a:latin typeface="+mn-lt"/>
                        <a:ea typeface="+mn-ea"/>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err="1">
                          <a:solidFill>
                            <a:schemeClr val="bg1">
                              <a:lumMod val="95000"/>
                            </a:schemeClr>
                          </a:solidFill>
                        </a:rPr>
                        <a:t>True</a:t>
                      </a:r>
                      <a:endParaRPr lang="fr-FR" sz="2400" kern="1200" dirty="0">
                        <a:solidFill>
                          <a:schemeClr val="bg1">
                            <a:lumMod val="95000"/>
                          </a:schemeClr>
                        </a:solidFill>
                        <a:latin typeface="+mn-lt"/>
                        <a:ea typeface="+mn-ea"/>
                        <a:cs typeface="+mn-cs"/>
                      </a:endParaRPr>
                    </a:p>
                  </a:txBody>
                  <a:tcPr anchor="ctr">
                    <a:noFill/>
                  </a:tcPr>
                </a:tc>
                <a:extLst>
                  <a:ext uri="{0D108BD9-81ED-4DB2-BD59-A6C34878D82A}">
                    <a16:rowId xmlns:a16="http://schemas.microsoft.com/office/drawing/2014/main" val="1541972932"/>
                  </a:ext>
                </a:extLst>
              </a:tr>
              <a:tr h="520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‘hello world’</a:t>
                      </a:r>
                      <a:endParaRPr lang="fr-FR" sz="2400" kern="1200" dirty="0">
                        <a:solidFill>
                          <a:schemeClr val="bg1">
                            <a:lumMod val="95000"/>
                          </a:schemeClr>
                        </a:solidFill>
                        <a:latin typeface="+mn-lt"/>
                        <a:ea typeface="+mn-ea"/>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a:t>
                      </a:r>
                      <a:r>
                        <a:rPr lang="fr-FR" sz="2400" kern="1200" dirty="0" err="1">
                          <a:solidFill>
                            <a:schemeClr val="bg1">
                              <a:lumMod val="95000"/>
                            </a:schemeClr>
                          </a:solidFill>
                        </a:rPr>
                        <a:t>islower</a:t>
                      </a:r>
                      <a:r>
                        <a:rPr lang="fr-FR" sz="2400" kern="1200" dirty="0">
                          <a:solidFill>
                            <a:schemeClr val="bg1">
                              <a:lumMod val="95000"/>
                            </a:schemeClr>
                          </a:solidFill>
                        </a:rPr>
                        <a:t>()</a:t>
                      </a:r>
                      <a:endParaRPr lang="fr-FR" sz="2400" kern="1200" dirty="0">
                        <a:solidFill>
                          <a:schemeClr val="bg1">
                            <a:lumMod val="95000"/>
                          </a:schemeClr>
                        </a:solidFill>
                        <a:latin typeface="+mn-lt"/>
                        <a:ea typeface="+mn-ea"/>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err="1">
                          <a:solidFill>
                            <a:schemeClr val="bg1">
                              <a:lumMod val="95000"/>
                            </a:schemeClr>
                          </a:solidFill>
                        </a:rPr>
                        <a:t>True</a:t>
                      </a:r>
                      <a:endParaRPr lang="fr-FR" sz="2400" kern="1200" dirty="0">
                        <a:solidFill>
                          <a:schemeClr val="bg1">
                            <a:lumMod val="95000"/>
                          </a:schemeClr>
                        </a:solidFill>
                        <a:latin typeface="+mn-lt"/>
                        <a:ea typeface="+mn-ea"/>
                        <a:cs typeface="+mn-cs"/>
                      </a:endParaRPr>
                    </a:p>
                  </a:txBody>
                  <a:tcPr anchor="ctr">
                    <a:noFill/>
                  </a:tcPr>
                </a:tc>
                <a:extLst>
                  <a:ext uri="{0D108BD9-81ED-4DB2-BD59-A6C34878D82A}">
                    <a16:rowId xmlns:a16="http://schemas.microsoft.com/office/drawing/2014/main" val="1560657996"/>
                  </a:ext>
                </a:extLst>
              </a:tr>
              <a:tr h="559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‘HELLO WORLD’</a:t>
                      </a:r>
                      <a:endParaRPr lang="fr-FR" sz="2400" kern="1200" dirty="0">
                        <a:solidFill>
                          <a:schemeClr val="bg1">
                            <a:lumMod val="95000"/>
                          </a:schemeClr>
                        </a:solidFill>
                        <a:latin typeface="+mn-lt"/>
                        <a:ea typeface="+mn-ea"/>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a:solidFill>
                            <a:schemeClr val="bg1">
                              <a:lumMod val="95000"/>
                            </a:schemeClr>
                          </a:solidFill>
                        </a:rPr>
                        <a:t>.</a:t>
                      </a:r>
                      <a:r>
                        <a:rPr lang="fr-FR" sz="2400" kern="1200" dirty="0" err="1">
                          <a:solidFill>
                            <a:schemeClr val="bg1">
                              <a:lumMod val="95000"/>
                            </a:schemeClr>
                          </a:solidFill>
                        </a:rPr>
                        <a:t>isupper</a:t>
                      </a:r>
                      <a:r>
                        <a:rPr lang="fr-FR" sz="2400" kern="1200" dirty="0">
                          <a:solidFill>
                            <a:schemeClr val="bg1">
                              <a:lumMod val="95000"/>
                            </a:schemeClr>
                          </a:solidFill>
                        </a:rPr>
                        <a:t>()</a:t>
                      </a:r>
                      <a:endParaRPr lang="fr-FR" sz="2400" kern="1200" dirty="0">
                        <a:solidFill>
                          <a:schemeClr val="bg1">
                            <a:lumMod val="95000"/>
                          </a:schemeClr>
                        </a:solidFill>
                        <a:latin typeface="+mn-lt"/>
                        <a:ea typeface="+mn-ea"/>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kern="1200" dirty="0" err="1">
                          <a:solidFill>
                            <a:schemeClr val="bg1">
                              <a:lumMod val="95000"/>
                            </a:schemeClr>
                          </a:solidFill>
                        </a:rPr>
                        <a:t>True</a:t>
                      </a:r>
                      <a:endParaRPr lang="fr-FR" sz="2400" kern="1200" dirty="0">
                        <a:solidFill>
                          <a:schemeClr val="bg1">
                            <a:lumMod val="95000"/>
                          </a:schemeClr>
                        </a:solidFill>
                        <a:latin typeface="+mn-lt"/>
                        <a:ea typeface="+mn-ea"/>
                        <a:cs typeface="+mn-cs"/>
                      </a:endParaRPr>
                    </a:p>
                  </a:txBody>
                  <a:tcPr anchor="ctr">
                    <a:noFill/>
                  </a:tcPr>
                </a:tc>
                <a:extLst>
                  <a:ext uri="{0D108BD9-81ED-4DB2-BD59-A6C34878D82A}">
                    <a16:rowId xmlns:a16="http://schemas.microsoft.com/office/drawing/2014/main" val="3740888770"/>
                  </a:ext>
                </a:extLst>
              </a:tr>
            </a:tbl>
          </a:graphicData>
        </a:graphic>
      </p:graphicFrame>
    </p:spTree>
    <p:extLst>
      <p:ext uri="{BB962C8B-B14F-4D97-AF65-F5344CB8AC3E}">
        <p14:creationId xmlns:p14="http://schemas.microsoft.com/office/powerpoint/2010/main" val="1877719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ABA4066-C63A-AF9A-646B-EC8AF35C1BD3}"/>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B878FB28-DC1C-96F4-E2E6-D5D6C6522459}"/>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16A7D440-BEE3-4F46-2395-E4A62188EFB5}"/>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3E8A04D0-33DA-D4D1-BE6C-05BDB7D61065}"/>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A2D0B7DA-2E9F-C847-16F5-C2082BFDD7C6}"/>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43818B54-E809-8395-6224-1CFA24E1DC19}"/>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922FB27B-61BF-2862-5152-839DC4F9BD58}"/>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 numeric data types</a:t>
            </a:r>
          </a:p>
        </p:txBody>
      </p:sp>
      <p:pic>
        <p:nvPicPr>
          <p:cNvPr id="5" name="Picture 4">
            <a:extLst>
              <a:ext uri="{FF2B5EF4-FFF2-40B4-BE49-F238E27FC236}">
                <a16:creationId xmlns:a16="http://schemas.microsoft.com/office/drawing/2014/main" id="{9CA868CF-3C99-8F2C-E298-C5E6D8F9C976}"/>
              </a:ext>
            </a:extLst>
          </p:cNvPr>
          <p:cNvPicPr>
            <a:picLocks noChangeAspect="1"/>
          </p:cNvPicPr>
          <p:nvPr/>
        </p:nvPicPr>
        <p:blipFill>
          <a:blip r:embed="rId3"/>
          <a:stretch>
            <a:fillRect/>
          </a:stretch>
        </p:blipFill>
        <p:spPr>
          <a:xfrm>
            <a:off x="5181600" y="1008929"/>
            <a:ext cx="8229600" cy="3445431"/>
          </a:xfrm>
          <a:prstGeom prst="rect">
            <a:avLst/>
          </a:prstGeom>
        </p:spPr>
      </p:pic>
      <p:pic>
        <p:nvPicPr>
          <p:cNvPr id="6" name="Picture 5">
            <a:extLst>
              <a:ext uri="{FF2B5EF4-FFF2-40B4-BE49-F238E27FC236}">
                <a16:creationId xmlns:a16="http://schemas.microsoft.com/office/drawing/2014/main" id="{90C14460-56DF-8AA5-0E7D-8025B33E5F4C}"/>
              </a:ext>
            </a:extLst>
          </p:cNvPr>
          <p:cNvPicPr>
            <a:picLocks noChangeAspect="1"/>
          </p:cNvPicPr>
          <p:nvPr/>
        </p:nvPicPr>
        <p:blipFill>
          <a:blip r:embed="rId4"/>
          <a:stretch>
            <a:fillRect/>
          </a:stretch>
        </p:blipFill>
        <p:spPr>
          <a:xfrm>
            <a:off x="275924" y="4533900"/>
            <a:ext cx="9192909" cy="4419600"/>
          </a:xfrm>
          <a:prstGeom prst="rect">
            <a:avLst/>
          </a:prstGeom>
        </p:spPr>
      </p:pic>
      <p:pic>
        <p:nvPicPr>
          <p:cNvPr id="4" name="Picture 3">
            <a:extLst>
              <a:ext uri="{FF2B5EF4-FFF2-40B4-BE49-F238E27FC236}">
                <a16:creationId xmlns:a16="http://schemas.microsoft.com/office/drawing/2014/main" id="{AEE56F6F-5EA7-AB50-4CD7-6934F62161C3}"/>
              </a:ext>
            </a:extLst>
          </p:cNvPr>
          <p:cNvPicPr>
            <a:picLocks noChangeAspect="1"/>
          </p:cNvPicPr>
          <p:nvPr/>
        </p:nvPicPr>
        <p:blipFill>
          <a:blip r:embed="rId5"/>
          <a:stretch>
            <a:fillRect/>
          </a:stretch>
        </p:blipFill>
        <p:spPr>
          <a:xfrm>
            <a:off x="9585937" y="4505425"/>
            <a:ext cx="8523996" cy="4339193"/>
          </a:xfrm>
          <a:prstGeom prst="rect">
            <a:avLst/>
          </a:prstGeom>
        </p:spPr>
      </p:pic>
    </p:spTree>
    <p:extLst>
      <p:ext uri="{BB962C8B-B14F-4D97-AF65-F5344CB8AC3E}">
        <p14:creationId xmlns:p14="http://schemas.microsoft.com/office/powerpoint/2010/main" val="1620488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46461B2-F86F-BCD7-1B6D-BCF4B31DBD80}"/>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04781E6B-F6A2-FC8E-98D3-DB475752D687}"/>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7D38CF30-F9C3-AB25-163A-66A3CE4F1170}"/>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DA09A59D-BA84-512D-CDA4-A14BDB6ADB88}"/>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85AC9D85-DAD4-487F-A7BE-F3FDA2A8E917}"/>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B55EB8D6-154A-4526-302C-E0DB669CA662}"/>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3AC11810-B420-E112-B4EE-06E77E90FC63}"/>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Operators Cheat sheet</a:t>
            </a:r>
          </a:p>
        </p:txBody>
      </p:sp>
      <p:pic>
        <p:nvPicPr>
          <p:cNvPr id="8" name="Picture 7">
            <a:extLst>
              <a:ext uri="{FF2B5EF4-FFF2-40B4-BE49-F238E27FC236}">
                <a16:creationId xmlns:a16="http://schemas.microsoft.com/office/drawing/2014/main" id="{9CE0FEE6-CC1C-D150-7392-987177357CE1}"/>
              </a:ext>
            </a:extLst>
          </p:cNvPr>
          <p:cNvPicPr>
            <a:picLocks noChangeAspect="1"/>
          </p:cNvPicPr>
          <p:nvPr/>
        </p:nvPicPr>
        <p:blipFill>
          <a:blip r:embed="rId3"/>
          <a:stretch>
            <a:fillRect/>
          </a:stretch>
        </p:blipFill>
        <p:spPr>
          <a:xfrm>
            <a:off x="128955" y="800100"/>
            <a:ext cx="8846776" cy="8763000"/>
          </a:xfrm>
          <a:prstGeom prst="rect">
            <a:avLst/>
          </a:prstGeom>
        </p:spPr>
      </p:pic>
      <p:pic>
        <p:nvPicPr>
          <p:cNvPr id="12" name="Picture 11">
            <a:extLst>
              <a:ext uri="{FF2B5EF4-FFF2-40B4-BE49-F238E27FC236}">
                <a16:creationId xmlns:a16="http://schemas.microsoft.com/office/drawing/2014/main" id="{B0ED3512-C594-F79B-905D-CCA873972163}"/>
              </a:ext>
            </a:extLst>
          </p:cNvPr>
          <p:cNvPicPr>
            <a:picLocks noChangeAspect="1"/>
          </p:cNvPicPr>
          <p:nvPr/>
        </p:nvPicPr>
        <p:blipFill>
          <a:blip r:embed="rId4"/>
          <a:stretch>
            <a:fillRect/>
          </a:stretch>
        </p:blipFill>
        <p:spPr>
          <a:xfrm>
            <a:off x="9144000" y="800100"/>
            <a:ext cx="8745260" cy="8763000"/>
          </a:xfrm>
          <a:prstGeom prst="rect">
            <a:avLst/>
          </a:prstGeom>
        </p:spPr>
      </p:pic>
    </p:spTree>
    <p:extLst>
      <p:ext uri="{BB962C8B-B14F-4D97-AF65-F5344CB8AC3E}">
        <p14:creationId xmlns:p14="http://schemas.microsoft.com/office/powerpoint/2010/main" val="891351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9B97A17-7E4D-7BCF-5E84-518DD8325F83}"/>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C389D25B-739B-58A9-1131-9723F53E8842}"/>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0EA5CD4E-9446-CA3E-3D35-4A09662B55EF}"/>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B80BC927-3D39-57F2-40E9-BACFD39FA3B9}"/>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7A1772FE-3211-6C00-8DAB-20FB0ABB0DF6}"/>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12083728-5A7D-6271-35EA-C1C63E28C648}"/>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DEA274D5-3175-706E-ACEF-F18E6BA8D995}"/>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Operators Cheat sheet</a:t>
            </a:r>
          </a:p>
        </p:txBody>
      </p:sp>
      <p:pic>
        <p:nvPicPr>
          <p:cNvPr id="3" name="Picture 2">
            <a:extLst>
              <a:ext uri="{FF2B5EF4-FFF2-40B4-BE49-F238E27FC236}">
                <a16:creationId xmlns:a16="http://schemas.microsoft.com/office/drawing/2014/main" id="{CE9D15AB-6AAE-47E8-9019-9E15822192DF}"/>
              </a:ext>
            </a:extLst>
          </p:cNvPr>
          <p:cNvPicPr>
            <a:picLocks noChangeAspect="1"/>
          </p:cNvPicPr>
          <p:nvPr/>
        </p:nvPicPr>
        <p:blipFill>
          <a:blip r:embed="rId3"/>
          <a:stretch>
            <a:fillRect/>
          </a:stretch>
        </p:blipFill>
        <p:spPr>
          <a:xfrm>
            <a:off x="-10551" y="876301"/>
            <a:ext cx="8310194" cy="5410200"/>
          </a:xfrm>
          <a:prstGeom prst="rect">
            <a:avLst/>
          </a:prstGeom>
        </p:spPr>
      </p:pic>
      <p:pic>
        <p:nvPicPr>
          <p:cNvPr id="5" name="Picture 4">
            <a:extLst>
              <a:ext uri="{FF2B5EF4-FFF2-40B4-BE49-F238E27FC236}">
                <a16:creationId xmlns:a16="http://schemas.microsoft.com/office/drawing/2014/main" id="{C045E25D-8E92-DEBA-6D08-1CC8BFC5AF80}"/>
              </a:ext>
            </a:extLst>
          </p:cNvPr>
          <p:cNvPicPr>
            <a:picLocks noChangeAspect="1"/>
          </p:cNvPicPr>
          <p:nvPr/>
        </p:nvPicPr>
        <p:blipFill>
          <a:blip r:embed="rId4"/>
          <a:stretch>
            <a:fillRect/>
          </a:stretch>
        </p:blipFill>
        <p:spPr>
          <a:xfrm>
            <a:off x="8451166" y="880178"/>
            <a:ext cx="9532034" cy="8338235"/>
          </a:xfrm>
          <a:prstGeom prst="rect">
            <a:avLst/>
          </a:prstGeom>
        </p:spPr>
      </p:pic>
    </p:spTree>
    <p:extLst>
      <p:ext uri="{BB962C8B-B14F-4D97-AF65-F5344CB8AC3E}">
        <p14:creationId xmlns:p14="http://schemas.microsoft.com/office/powerpoint/2010/main" val="2123501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4FBF971-3BA3-D33C-3AB1-DBABD3B1B735}"/>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FDACFDD3-734F-9F53-52D7-0F99F79D52D6}"/>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D0426323-A030-B36E-605A-A470DB83AEED}"/>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2F7F4F51-DB5A-1668-80CB-6A44AF6B2110}"/>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4128F0B6-A4D9-DDA7-E12F-399EF113EDF8}"/>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70BFF544-3044-3E42-3DD9-F682041309FC}"/>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6C9FED3A-BB43-00B6-7EFD-EC06531CAC26}"/>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Types of operators</a:t>
            </a:r>
          </a:p>
        </p:txBody>
      </p:sp>
      <p:pic>
        <p:nvPicPr>
          <p:cNvPr id="3" name="Picture 2">
            <a:extLst>
              <a:ext uri="{FF2B5EF4-FFF2-40B4-BE49-F238E27FC236}">
                <a16:creationId xmlns:a16="http://schemas.microsoft.com/office/drawing/2014/main" id="{6E45A8AC-9005-7066-2D40-2B9A260FDEAC}"/>
              </a:ext>
            </a:extLst>
          </p:cNvPr>
          <p:cNvPicPr>
            <a:picLocks noChangeAspect="1"/>
          </p:cNvPicPr>
          <p:nvPr/>
        </p:nvPicPr>
        <p:blipFill>
          <a:blip r:embed="rId3">
            <a:extLst>
              <a:ext uri="{28A0092B-C50C-407E-A947-70E740481C1C}">
                <a14:useLocalDpi xmlns:a14="http://schemas.microsoft.com/office/drawing/2010/main" val="0"/>
              </a:ext>
            </a:extLst>
          </a:blip>
          <a:srcRect t="25555"/>
          <a:stretch>
            <a:fillRect/>
          </a:stretch>
        </p:blipFill>
        <p:spPr>
          <a:xfrm>
            <a:off x="3390900" y="820927"/>
            <a:ext cx="11506200" cy="9065393"/>
          </a:xfrm>
          <a:prstGeom prst="rect">
            <a:avLst/>
          </a:prstGeom>
        </p:spPr>
      </p:pic>
    </p:spTree>
    <p:extLst>
      <p:ext uri="{BB962C8B-B14F-4D97-AF65-F5344CB8AC3E}">
        <p14:creationId xmlns:p14="http://schemas.microsoft.com/office/powerpoint/2010/main" val="275636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C08E8D6-5543-BBD6-8DA6-4655AB0E7E54}"/>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A737D152-9004-8CAA-AAC4-AC4655F0D482}"/>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FD844A3E-AC1E-BE0C-BAC3-8719955AE96C}"/>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EC5FAA6E-B0BA-4932-68D5-2290EF5DD362}"/>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F5ADFF21-B6FC-763A-7CB6-F41896E5C98A}"/>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58C84AB3-9C40-C390-4125-199DEF0F0353}"/>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9455AAED-EC6D-488C-1A45-98F857A1CC96}"/>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Operators Cheat sheet</a:t>
            </a:r>
          </a:p>
        </p:txBody>
      </p:sp>
      <p:pic>
        <p:nvPicPr>
          <p:cNvPr id="4" name="Picture 3">
            <a:extLst>
              <a:ext uri="{FF2B5EF4-FFF2-40B4-BE49-F238E27FC236}">
                <a16:creationId xmlns:a16="http://schemas.microsoft.com/office/drawing/2014/main" id="{AE4891D4-760A-61DC-46B6-B60FD12A50C7}"/>
              </a:ext>
            </a:extLst>
          </p:cNvPr>
          <p:cNvPicPr>
            <a:picLocks noChangeAspect="1"/>
          </p:cNvPicPr>
          <p:nvPr/>
        </p:nvPicPr>
        <p:blipFill>
          <a:blip r:embed="rId3"/>
          <a:stretch>
            <a:fillRect/>
          </a:stretch>
        </p:blipFill>
        <p:spPr>
          <a:xfrm>
            <a:off x="0" y="1409700"/>
            <a:ext cx="8713764" cy="5558498"/>
          </a:xfrm>
          <a:prstGeom prst="rect">
            <a:avLst/>
          </a:prstGeom>
        </p:spPr>
      </p:pic>
      <p:pic>
        <p:nvPicPr>
          <p:cNvPr id="7" name="Picture 6">
            <a:extLst>
              <a:ext uri="{FF2B5EF4-FFF2-40B4-BE49-F238E27FC236}">
                <a16:creationId xmlns:a16="http://schemas.microsoft.com/office/drawing/2014/main" id="{71F41B21-779D-8AA3-A55A-E7243C7791A7}"/>
              </a:ext>
            </a:extLst>
          </p:cNvPr>
          <p:cNvPicPr>
            <a:picLocks noChangeAspect="1"/>
          </p:cNvPicPr>
          <p:nvPr/>
        </p:nvPicPr>
        <p:blipFill>
          <a:blip r:embed="rId4"/>
          <a:stretch>
            <a:fillRect/>
          </a:stretch>
        </p:blipFill>
        <p:spPr>
          <a:xfrm>
            <a:off x="8745701" y="1409700"/>
            <a:ext cx="9389899" cy="6324601"/>
          </a:xfrm>
          <a:prstGeom prst="rect">
            <a:avLst/>
          </a:prstGeom>
        </p:spPr>
      </p:pic>
    </p:spTree>
    <p:extLst>
      <p:ext uri="{BB962C8B-B14F-4D97-AF65-F5344CB8AC3E}">
        <p14:creationId xmlns:p14="http://schemas.microsoft.com/office/powerpoint/2010/main" val="499296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EA9B7E4-6D42-CDE5-C86B-2ACA1183641F}"/>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84DB46DB-B879-65B0-D52C-2EE54A860C6E}"/>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34636D48-0276-D871-918F-0B749C347593}"/>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F4F242F4-AF1D-528B-3BD6-9838A44074B8}"/>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67C685D0-67CE-8E9E-9976-D5351698FF7D}"/>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EF78C107-D5C3-4A7B-6230-3E1C1FDB0725}"/>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833A10B9-CE85-107C-6E7E-781E41E90461}"/>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Operators Cheat sheet</a:t>
            </a:r>
          </a:p>
        </p:txBody>
      </p:sp>
      <p:pic>
        <p:nvPicPr>
          <p:cNvPr id="4" name="Picture 3">
            <a:extLst>
              <a:ext uri="{FF2B5EF4-FFF2-40B4-BE49-F238E27FC236}">
                <a16:creationId xmlns:a16="http://schemas.microsoft.com/office/drawing/2014/main" id="{D27F18B6-3F96-AB4C-92A2-475F82BBD14C}"/>
              </a:ext>
            </a:extLst>
          </p:cNvPr>
          <p:cNvPicPr>
            <a:picLocks noChangeAspect="1"/>
          </p:cNvPicPr>
          <p:nvPr/>
        </p:nvPicPr>
        <p:blipFill>
          <a:blip r:embed="rId3">
            <a:extLst>
              <a:ext uri="{28A0092B-C50C-407E-A947-70E740481C1C}">
                <a14:useLocalDpi xmlns:a14="http://schemas.microsoft.com/office/drawing/2010/main" val="0"/>
              </a:ext>
            </a:extLst>
          </a:blip>
          <a:srcRect l="3918" t="7746" r="3615" b="7621"/>
          <a:stretch>
            <a:fillRect/>
          </a:stretch>
        </p:blipFill>
        <p:spPr>
          <a:xfrm>
            <a:off x="4495800" y="643442"/>
            <a:ext cx="8382000" cy="9589899"/>
          </a:xfrm>
          <a:prstGeom prst="rect">
            <a:avLst/>
          </a:prstGeom>
        </p:spPr>
      </p:pic>
    </p:spTree>
    <p:extLst>
      <p:ext uri="{BB962C8B-B14F-4D97-AF65-F5344CB8AC3E}">
        <p14:creationId xmlns:p14="http://schemas.microsoft.com/office/powerpoint/2010/main" val="11484798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AA4441B-D7B3-9C28-F4C7-3F0249F9A74D}"/>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8E3326BA-24AF-F6A7-3346-305AC0DD9C51}"/>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1BD5562A-AFE9-2A15-DDA5-280B7DCDDE84}"/>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2887598D-E816-4D73-D678-3BA608A21C53}"/>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17B61190-8E5F-A8F5-C87F-68FBD718CE57}"/>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11BDFA67-A982-B52F-E15B-621C7DC6C2B2}"/>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4A951C99-13BA-2D9F-5447-89105D7738DD}"/>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Operators Cheat sheet</a:t>
            </a:r>
          </a:p>
        </p:txBody>
      </p:sp>
      <p:pic>
        <p:nvPicPr>
          <p:cNvPr id="3" name="Picture 2">
            <a:extLst>
              <a:ext uri="{FF2B5EF4-FFF2-40B4-BE49-F238E27FC236}">
                <a16:creationId xmlns:a16="http://schemas.microsoft.com/office/drawing/2014/main" id="{E3286A5E-A799-85D2-F00D-E46572D76FBA}"/>
              </a:ext>
            </a:extLst>
          </p:cNvPr>
          <p:cNvPicPr>
            <a:picLocks noChangeAspect="1"/>
          </p:cNvPicPr>
          <p:nvPr/>
        </p:nvPicPr>
        <p:blipFill>
          <a:blip r:embed="rId3"/>
          <a:srcRect/>
          <a:stretch/>
        </p:blipFill>
        <p:spPr>
          <a:xfrm>
            <a:off x="2316396" y="951589"/>
            <a:ext cx="7162799" cy="8934245"/>
          </a:xfrm>
          <a:prstGeom prst="rect">
            <a:avLst/>
          </a:prstGeom>
        </p:spPr>
      </p:pic>
      <p:pic>
        <p:nvPicPr>
          <p:cNvPr id="2" name="Picture 1" descr="Khaby Lame France&quot; Sticker for Sale by MiloaOsteli | Redbubble">
            <a:extLst>
              <a:ext uri="{FF2B5EF4-FFF2-40B4-BE49-F238E27FC236}">
                <a16:creationId xmlns:a16="http://schemas.microsoft.com/office/drawing/2014/main" id="{F7989399-2B31-9F7C-EC3C-7F4B16F5BE24}"/>
              </a:ext>
            </a:extLst>
          </p:cNvPr>
          <p:cNvPicPr>
            <a:picLocks noChangeAspect="1"/>
          </p:cNvPicPr>
          <p:nvPr/>
        </p:nvPicPr>
        <p:blipFill>
          <a:blip r:embed="rId4"/>
          <a:stretch>
            <a:fillRect/>
          </a:stretch>
        </p:blipFill>
        <p:spPr>
          <a:xfrm>
            <a:off x="9601200" y="951589"/>
            <a:ext cx="6705600" cy="8940800"/>
          </a:xfrm>
          <a:prstGeom prst="rect">
            <a:avLst/>
          </a:prstGeom>
        </p:spPr>
      </p:pic>
    </p:spTree>
    <p:extLst>
      <p:ext uri="{BB962C8B-B14F-4D97-AF65-F5344CB8AC3E}">
        <p14:creationId xmlns:p14="http://schemas.microsoft.com/office/powerpoint/2010/main" val="2905875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6AF830B-732F-2830-59A7-6361744012ED}"/>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4A593E0A-F56A-C0E7-A0B2-5011454E0A92}"/>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06782AFA-9EF6-43C5-EA6E-B2A2FED2B6DA}"/>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C4794845-0317-6BC7-6BFF-1A7C83DACE8D}"/>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B50E7283-8BF9-421F-AB1C-D56D6158AF79}"/>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C538C363-948F-6F2A-11AF-CAEBF2A8A693}"/>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62F8C697-84EB-30B2-5387-8E7AE3614345}"/>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Operators Cheat sheet</a:t>
            </a:r>
          </a:p>
        </p:txBody>
      </p:sp>
      <p:pic>
        <p:nvPicPr>
          <p:cNvPr id="6" name="Picture 5">
            <a:extLst>
              <a:ext uri="{FF2B5EF4-FFF2-40B4-BE49-F238E27FC236}">
                <a16:creationId xmlns:a16="http://schemas.microsoft.com/office/drawing/2014/main" id="{982E0954-4649-FAF0-014B-7C8429BDF6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85109" y="1209259"/>
            <a:ext cx="5968731" cy="7041687"/>
          </a:xfrm>
          <a:prstGeom prst="rect">
            <a:avLst/>
          </a:prstGeom>
        </p:spPr>
      </p:pic>
      <p:pic>
        <p:nvPicPr>
          <p:cNvPr id="9" name="Picture 8">
            <a:extLst>
              <a:ext uri="{FF2B5EF4-FFF2-40B4-BE49-F238E27FC236}">
                <a16:creationId xmlns:a16="http://schemas.microsoft.com/office/drawing/2014/main" id="{63CB97E4-6F1E-E0B0-1A7B-41FD9FCA2F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2077" y="1215980"/>
            <a:ext cx="6073154" cy="7034966"/>
          </a:xfrm>
          <a:prstGeom prst="rect">
            <a:avLst/>
          </a:prstGeom>
        </p:spPr>
      </p:pic>
      <p:pic>
        <p:nvPicPr>
          <p:cNvPr id="11" name="Picture 10">
            <a:extLst>
              <a:ext uri="{FF2B5EF4-FFF2-40B4-BE49-F238E27FC236}">
                <a16:creationId xmlns:a16="http://schemas.microsoft.com/office/drawing/2014/main" id="{DAE120E5-E8B0-0022-EFE9-23064780CD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160" y="1214229"/>
            <a:ext cx="6138039" cy="7038468"/>
          </a:xfrm>
          <a:prstGeom prst="rect">
            <a:avLst/>
          </a:prstGeom>
        </p:spPr>
      </p:pic>
    </p:spTree>
    <p:extLst>
      <p:ext uri="{BB962C8B-B14F-4D97-AF65-F5344CB8AC3E}">
        <p14:creationId xmlns:p14="http://schemas.microsoft.com/office/powerpoint/2010/main" val="28859313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1453187-50AD-D8BA-775B-35528305A655}"/>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B8E3FE7B-FD78-4E88-421E-4165DA4DF737}"/>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64ACE262-AC78-7474-F91F-40D6631807CD}"/>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E5978F7D-95E5-EF33-9970-0F30C8E6BFA9}"/>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8CAA64A5-E0AE-08DA-9108-02BB62E18EC5}"/>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B7C04C7F-265F-AB18-22D1-2A6C620F2F16}"/>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E8395045-8F75-4757-6BB4-0E9B79E6CBD7}"/>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Data types</a:t>
            </a:r>
          </a:p>
        </p:txBody>
      </p:sp>
      <p:pic>
        <p:nvPicPr>
          <p:cNvPr id="2" name="Picture 1" descr="A computer screen shot of a computer code&#10;&#10;AI-generated content may be incorrect.">
            <a:extLst>
              <a:ext uri="{FF2B5EF4-FFF2-40B4-BE49-F238E27FC236}">
                <a16:creationId xmlns:a16="http://schemas.microsoft.com/office/drawing/2014/main" id="{2890F37C-15FE-71BA-2362-31B95F7D95FF}"/>
              </a:ext>
            </a:extLst>
          </p:cNvPr>
          <p:cNvPicPr>
            <a:picLocks noChangeAspect="1"/>
          </p:cNvPicPr>
          <p:nvPr/>
        </p:nvPicPr>
        <p:blipFill>
          <a:blip r:embed="rId3"/>
          <a:srcRect t="26515"/>
          <a:stretch/>
        </p:blipFill>
        <p:spPr>
          <a:xfrm>
            <a:off x="2895600" y="601030"/>
            <a:ext cx="12573000" cy="9624220"/>
          </a:xfrm>
          <a:prstGeom prst="rect">
            <a:avLst/>
          </a:prstGeom>
        </p:spPr>
      </p:pic>
    </p:spTree>
    <p:extLst>
      <p:ext uri="{BB962C8B-B14F-4D97-AF65-F5344CB8AC3E}">
        <p14:creationId xmlns:p14="http://schemas.microsoft.com/office/powerpoint/2010/main" val="1278572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076D349-A772-05F6-228B-474F18A8EDD7}"/>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D2B1FE65-0B0D-4A20-027A-AA19492DC3F5}"/>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DF7953AE-50A5-D1B9-E928-8011F45867DB}"/>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96BD774F-CE02-B8FF-2E4E-9912244F9FAF}"/>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02431237-2874-DB22-9DC4-704CC2112E9B}"/>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C7500BFC-F364-C928-68DC-0BA44A363C21}"/>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9481833F-5B4C-352B-5D6F-DBF048B3745C}"/>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Data types</a:t>
            </a:r>
          </a:p>
        </p:txBody>
      </p:sp>
      <p:sp>
        <p:nvSpPr>
          <p:cNvPr id="3" name="TextBox 2">
            <a:extLst>
              <a:ext uri="{FF2B5EF4-FFF2-40B4-BE49-F238E27FC236}">
                <a16:creationId xmlns:a16="http://schemas.microsoft.com/office/drawing/2014/main" id="{8F8C6EAB-C9F3-861A-8339-EE77C4F44462}"/>
              </a:ext>
            </a:extLst>
          </p:cNvPr>
          <p:cNvSpPr txBox="1"/>
          <p:nvPr/>
        </p:nvSpPr>
        <p:spPr>
          <a:xfrm>
            <a:off x="371892" y="1348033"/>
            <a:ext cx="15401508" cy="4401205"/>
          </a:xfrm>
          <a:prstGeom prst="rect">
            <a:avLst/>
          </a:prstGeom>
          <a:noFill/>
        </p:spPr>
        <p:txBody>
          <a:bodyPr wrap="square">
            <a:spAutoFit/>
          </a:bodyPr>
          <a:lstStyle/>
          <a:p>
            <a:r>
              <a:rPr lang="en-US" sz="2800" b="0" i="0" dirty="0">
                <a:solidFill>
                  <a:schemeClr val="bg1">
                    <a:lumMod val="85000"/>
                  </a:schemeClr>
                </a:solidFill>
                <a:effectLst/>
                <a:latin typeface="__Inter_1fc7a2"/>
              </a:rPr>
              <a:t>There are different types of data in Python. Some built-in Python data types are:</a:t>
            </a:r>
          </a:p>
          <a:p>
            <a:pPr algn="l"/>
            <a:r>
              <a:rPr lang="fr-FR" sz="3600" b="1" i="0" u="none" strike="noStrike" dirty="0" err="1">
                <a:solidFill>
                  <a:srgbClr val="439EB7"/>
                </a:solidFill>
                <a:effectLst/>
                <a:latin typeface="__Inter_1fc7a2"/>
                <a:hlinkClick r:id="rId3">
                  <a:extLst>
                    <a:ext uri="{A12FA001-AC4F-418D-AE19-62706E023703}">
                      <ahyp:hlinkClr xmlns:ahyp="http://schemas.microsoft.com/office/drawing/2018/hyperlinkcolor" val="tx"/>
                    </a:ext>
                  </a:extLst>
                </a:hlinkClick>
              </a:rPr>
              <a:t>Numeric</a:t>
            </a:r>
            <a:r>
              <a:rPr lang="fr-FR" sz="3600" b="1" i="0" u="none" strike="noStrike" dirty="0">
                <a:solidFill>
                  <a:schemeClr val="bg1">
                    <a:lumMod val="85000"/>
                  </a:schemeClr>
                </a:solidFill>
                <a:effectLst/>
                <a:latin typeface="__Inter_1fc7a2"/>
                <a:hlinkClick r:id="rId3">
                  <a:extLst>
                    <a:ext uri="{A12FA001-AC4F-418D-AE19-62706E023703}">
                      <ahyp:hlinkClr xmlns:ahyp="http://schemas.microsoft.com/office/drawing/2018/hyperlinkcolor" val="tx"/>
                    </a:ext>
                  </a:extLst>
                </a:hlinkClick>
              </a:rPr>
              <a:t> data types</a:t>
            </a:r>
            <a:r>
              <a:rPr lang="fr-FR" sz="3600" b="0" i="0" dirty="0">
                <a:solidFill>
                  <a:schemeClr val="bg1">
                    <a:lumMod val="85000"/>
                  </a:schemeClr>
                </a:solidFill>
                <a:effectLst/>
                <a:latin typeface="__Inter_1fc7a2"/>
              </a:rPr>
              <a:t>: </a:t>
            </a:r>
            <a:r>
              <a:rPr lang="fr-FR" sz="3600" b="0" i="1" dirty="0" err="1">
                <a:solidFill>
                  <a:schemeClr val="bg1">
                    <a:lumMod val="85000"/>
                  </a:schemeClr>
                </a:solidFill>
                <a:effectLst/>
                <a:latin typeface="__Inter_1fc7a2"/>
              </a:rPr>
              <a:t>int</a:t>
            </a:r>
            <a:r>
              <a:rPr lang="fr-FR" sz="3600" b="0" i="1" dirty="0">
                <a:solidFill>
                  <a:schemeClr val="bg1">
                    <a:lumMod val="85000"/>
                  </a:schemeClr>
                </a:solidFill>
                <a:effectLst/>
                <a:latin typeface="__Inter_1fc7a2"/>
              </a:rPr>
              <a:t>, </a:t>
            </a:r>
            <a:r>
              <a:rPr lang="fr-FR" sz="3600" b="0" i="1" dirty="0" err="1">
                <a:solidFill>
                  <a:schemeClr val="bg1">
                    <a:lumMod val="85000"/>
                  </a:schemeClr>
                </a:solidFill>
                <a:effectLst/>
                <a:latin typeface="__Inter_1fc7a2"/>
              </a:rPr>
              <a:t>float</a:t>
            </a:r>
            <a:r>
              <a:rPr lang="fr-FR" sz="3600" b="0" i="1" dirty="0">
                <a:solidFill>
                  <a:schemeClr val="bg1">
                    <a:lumMod val="85000"/>
                  </a:schemeClr>
                </a:solidFill>
                <a:effectLst/>
                <a:latin typeface="__Inter_1fc7a2"/>
              </a:rPr>
              <a:t>, </a:t>
            </a:r>
            <a:r>
              <a:rPr lang="fr-FR" sz="3600" b="0" i="1" dirty="0" err="1">
                <a:solidFill>
                  <a:schemeClr val="bg1">
                    <a:lumMod val="85000"/>
                  </a:schemeClr>
                </a:solidFill>
                <a:effectLst/>
                <a:latin typeface="__Inter_1fc7a2"/>
              </a:rPr>
              <a:t>complex</a:t>
            </a:r>
            <a:endParaRPr lang="fr-FR" sz="3600" b="0" i="0" dirty="0">
              <a:solidFill>
                <a:schemeClr val="bg1">
                  <a:lumMod val="85000"/>
                </a:schemeClr>
              </a:solidFill>
              <a:effectLst/>
              <a:latin typeface="__Inter_1fc7a2"/>
            </a:endParaRPr>
          </a:p>
          <a:p>
            <a:pPr algn="l"/>
            <a:r>
              <a:rPr lang="fr-FR" sz="3600" b="1" i="0" u="none" strike="noStrike" dirty="0">
                <a:solidFill>
                  <a:schemeClr val="bg1">
                    <a:lumMod val="85000"/>
                  </a:schemeClr>
                </a:solidFill>
                <a:effectLst/>
                <a:latin typeface="__Inter_1fc7a2"/>
                <a:hlinkClick r:id="rId4">
                  <a:extLst>
                    <a:ext uri="{A12FA001-AC4F-418D-AE19-62706E023703}">
                      <ahyp:hlinkClr xmlns:ahyp="http://schemas.microsoft.com/office/drawing/2018/hyperlinkcolor" val="tx"/>
                    </a:ext>
                  </a:extLst>
                </a:hlinkClick>
              </a:rPr>
              <a:t>String data types</a:t>
            </a:r>
            <a:r>
              <a:rPr lang="fr-FR" sz="3600" b="0" i="0" dirty="0">
                <a:solidFill>
                  <a:schemeClr val="bg1">
                    <a:lumMod val="85000"/>
                  </a:schemeClr>
                </a:solidFill>
                <a:effectLst/>
                <a:latin typeface="__Inter_1fc7a2"/>
              </a:rPr>
              <a:t>: </a:t>
            </a:r>
            <a:r>
              <a:rPr lang="fr-FR" sz="3600" b="0" i="1" dirty="0" err="1">
                <a:solidFill>
                  <a:schemeClr val="bg1">
                    <a:lumMod val="85000"/>
                  </a:schemeClr>
                </a:solidFill>
                <a:effectLst/>
                <a:latin typeface="__Inter_1fc7a2"/>
              </a:rPr>
              <a:t>str</a:t>
            </a:r>
            <a:endParaRPr lang="fr-FR" sz="3600" b="0" i="0" dirty="0">
              <a:solidFill>
                <a:schemeClr val="bg1">
                  <a:lumMod val="85000"/>
                </a:schemeClr>
              </a:solidFill>
              <a:effectLst/>
              <a:latin typeface="__Inter_1fc7a2"/>
            </a:endParaRPr>
          </a:p>
          <a:p>
            <a:pPr algn="l"/>
            <a:r>
              <a:rPr lang="fr-FR" sz="3600" b="1" i="0" u="none" strike="noStrike" dirty="0" err="1">
                <a:solidFill>
                  <a:srgbClr val="439EB7"/>
                </a:solidFill>
                <a:effectLst/>
                <a:latin typeface="__Inter_1fc7a2"/>
                <a:hlinkClick r:id="rId5">
                  <a:extLst>
                    <a:ext uri="{A12FA001-AC4F-418D-AE19-62706E023703}">
                      <ahyp:hlinkClr xmlns:ahyp="http://schemas.microsoft.com/office/drawing/2018/hyperlinkcolor" val="tx"/>
                    </a:ext>
                  </a:extLst>
                </a:hlinkClick>
              </a:rPr>
              <a:t>Sequence</a:t>
            </a:r>
            <a:r>
              <a:rPr lang="fr-FR" sz="3600" b="1" i="0" u="none" strike="noStrike" dirty="0">
                <a:solidFill>
                  <a:schemeClr val="bg1">
                    <a:lumMod val="85000"/>
                  </a:schemeClr>
                </a:solidFill>
                <a:effectLst/>
                <a:latin typeface="__Inter_1fc7a2"/>
                <a:hlinkClick r:id="rId5">
                  <a:extLst>
                    <a:ext uri="{A12FA001-AC4F-418D-AE19-62706E023703}">
                      <ahyp:hlinkClr xmlns:ahyp="http://schemas.microsoft.com/office/drawing/2018/hyperlinkcolor" val="tx"/>
                    </a:ext>
                  </a:extLst>
                </a:hlinkClick>
              </a:rPr>
              <a:t> types</a:t>
            </a:r>
            <a:r>
              <a:rPr lang="fr-FR" sz="3600" b="0" i="0" dirty="0">
                <a:solidFill>
                  <a:schemeClr val="bg1">
                    <a:lumMod val="85000"/>
                  </a:schemeClr>
                </a:solidFill>
                <a:effectLst/>
                <a:latin typeface="__Inter_1fc7a2"/>
              </a:rPr>
              <a:t>: </a:t>
            </a:r>
            <a:r>
              <a:rPr lang="fr-FR" sz="3600" b="0" i="1" dirty="0" err="1">
                <a:solidFill>
                  <a:schemeClr val="bg1">
                    <a:lumMod val="85000"/>
                  </a:schemeClr>
                </a:solidFill>
                <a:effectLst/>
                <a:latin typeface="__Inter_1fc7a2"/>
              </a:rPr>
              <a:t>list</a:t>
            </a:r>
            <a:r>
              <a:rPr lang="fr-FR" sz="3600" b="0" i="1" dirty="0">
                <a:solidFill>
                  <a:schemeClr val="bg1">
                    <a:lumMod val="85000"/>
                  </a:schemeClr>
                </a:solidFill>
                <a:effectLst/>
                <a:latin typeface="__Inter_1fc7a2"/>
              </a:rPr>
              <a:t>, tuple, range, </a:t>
            </a:r>
            <a:r>
              <a:rPr lang="fr-FR" sz="3600" b="0" i="1" dirty="0" err="1">
                <a:solidFill>
                  <a:schemeClr val="bg1">
                    <a:lumMod val="85000"/>
                  </a:schemeClr>
                </a:solidFill>
                <a:effectLst/>
                <a:latin typeface="__Inter_1fc7a2"/>
              </a:rPr>
              <a:t>generator</a:t>
            </a:r>
            <a:endParaRPr lang="fr-FR" sz="3600" b="0" i="0" dirty="0">
              <a:solidFill>
                <a:schemeClr val="bg1">
                  <a:lumMod val="85000"/>
                </a:schemeClr>
              </a:solidFill>
              <a:effectLst/>
              <a:latin typeface="__Inter_1fc7a2"/>
            </a:endParaRPr>
          </a:p>
          <a:p>
            <a:pPr algn="l"/>
            <a:r>
              <a:rPr lang="fr-FR" sz="3600" b="1" i="0" dirty="0" err="1">
                <a:solidFill>
                  <a:schemeClr val="bg1">
                    <a:lumMod val="85000"/>
                  </a:schemeClr>
                </a:solidFill>
                <a:effectLst/>
                <a:latin typeface="__Inter_1fc7a2"/>
              </a:rPr>
              <a:t>Binary</a:t>
            </a:r>
            <a:r>
              <a:rPr lang="fr-FR" sz="3600" b="1" i="0" dirty="0">
                <a:solidFill>
                  <a:schemeClr val="bg1">
                    <a:lumMod val="85000"/>
                  </a:schemeClr>
                </a:solidFill>
                <a:effectLst/>
                <a:latin typeface="__Inter_1fc7a2"/>
              </a:rPr>
              <a:t> types</a:t>
            </a:r>
            <a:r>
              <a:rPr lang="fr-FR" sz="3600" b="0" i="0" dirty="0">
                <a:solidFill>
                  <a:schemeClr val="bg1">
                    <a:lumMod val="85000"/>
                  </a:schemeClr>
                </a:solidFill>
                <a:effectLst/>
                <a:latin typeface="__Inter_1fc7a2"/>
              </a:rPr>
              <a:t>: </a:t>
            </a:r>
            <a:r>
              <a:rPr lang="fr-FR" sz="3600" b="0" i="1" dirty="0">
                <a:solidFill>
                  <a:schemeClr val="bg1">
                    <a:lumMod val="85000"/>
                  </a:schemeClr>
                </a:solidFill>
                <a:effectLst/>
                <a:latin typeface="__Inter_1fc7a2"/>
              </a:rPr>
              <a:t>bytes, </a:t>
            </a:r>
            <a:r>
              <a:rPr lang="fr-FR" sz="3600" b="0" i="1" dirty="0" err="1">
                <a:solidFill>
                  <a:schemeClr val="bg1">
                    <a:lumMod val="85000"/>
                  </a:schemeClr>
                </a:solidFill>
                <a:effectLst/>
                <a:latin typeface="__Inter_1fc7a2"/>
              </a:rPr>
              <a:t>bytearray</a:t>
            </a:r>
            <a:r>
              <a:rPr lang="fr-FR" sz="3600" b="0" i="1" dirty="0">
                <a:solidFill>
                  <a:schemeClr val="bg1">
                    <a:lumMod val="85000"/>
                  </a:schemeClr>
                </a:solidFill>
                <a:effectLst/>
                <a:latin typeface="__Inter_1fc7a2"/>
              </a:rPr>
              <a:t>, </a:t>
            </a:r>
            <a:r>
              <a:rPr lang="fr-FR" sz="3600" b="0" i="1" dirty="0" err="1">
                <a:solidFill>
                  <a:schemeClr val="bg1">
                    <a:lumMod val="85000"/>
                  </a:schemeClr>
                </a:solidFill>
                <a:effectLst/>
                <a:latin typeface="__Inter_1fc7a2"/>
              </a:rPr>
              <a:t>memoryview</a:t>
            </a:r>
            <a:endParaRPr lang="fr-FR" sz="3600" b="0" i="0" dirty="0">
              <a:solidFill>
                <a:schemeClr val="bg1">
                  <a:lumMod val="85000"/>
                </a:schemeClr>
              </a:solidFill>
              <a:effectLst/>
              <a:latin typeface="__Inter_1fc7a2"/>
            </a:endParaRPr>
          </a:p>
          <a:p>
            <a:pPr algn="l"/>
            <a:r>
              <a:rPr lang="fr-FR" sz="3600" b="1" i="0" dirty="0">
                <a:solidFill>
                  <a:schemeClr val="bg1">
                    <a:lumMod val="85000"/>
                  </a:schemeClr>
                </a:solidFill>
                <a:effectLst/>
                <a:latin typeface="__Inter_1fc7a2"/>
              </a:rPr>
              <a:t>Mapping data type</a:t>
            </a:r>
            <a:r>
              <a:rPr lang="fr-FR" sz="3600" b="0" i="0" dirty="0">
                <a:solidFill>
                  <a:schemeClr val="bg1">
                    <a:lumMod val="85000"/>
                  </a:schemeClr>
                </a:solidFill>
                <a:effectLst/>
                <a:latin typeface="__Inter_1fc7a2"/>
              </a:rPr>
              <a:t>: </a:t>
            </a:r>
            <a:r>
              <a:rPr lang="fr-FR" sz="3600" b="0" i="1" dirty="0">
                <a:solidFill>
                  <a:schemeClr val="bg1">
                    <a:lumMod val="85000"/>
                  </a:schemeClr>
                </a:solidFill>
                <a:effectLst/>
                <a:latin typeface="__Inter_1fc7a2"/>
              </a:rPr>
              <a:t>dict</a:t>
            </a:r>
            <a:endParaRPr lang="fr-FR" sz="3600" b="0" i="0" dirty="0">
              <a:solidFill>
                <a:schemeClr val="bg1">
                  <a:lumMod val="85000"/>
                </a:schemeClr>
              </a:solidFill>
              <a:effectLst/>
              <a:latin typeface="__Inter_1fc7a2"/>
            </a:endParaRPr>
          </a:p>
          <a:p>
            <a:pPr algn="l"/>
            <a:r>
              <a:rPr lang="fr-FR" sz="3600" b="1" i="0" dirty="0">
                <a:solidFill>
                  <a:schemeClr val="bg1">
                    <a:lumMod val="85000"/>
                  </a:schemeClr>
                </a:solidFill>
                <a:effectLst/>
                <a:latin typeface="__Inter_1fc7a2"/>
              </a:rPr>
              <a:t>Boolean type</a:t>
            </a:r>
            <a:r>
              <a:rPr lang="fr-FR" sz="3600" b="0" i="0" dirty="0">
                <a:solidFill>
                  <a:schemeClr val="bg1">
                    <a:lumMod val="85000"/>
                  </a:schemeClr>
                </a:solidFill>
                <a:effectLst/>
                <a:latin typeface="__Inter_1fc7a2"/>
              </a:rPr>
              <a:t>: </a:t>
            </a:r>
            <a:r>
              <a:rPr lang="fr-FR" sz="3600" b="0" i="1" dirty="0" err="1">
                <a:solidFill>
                  <a:schemeClr val="bg1">
                    <a:lumMod val="85000"/>
                  </a:schemeClr>
                </a:solidFill>
                <a:effectLst/>
                <a:latin typeface="__Inter_1fc7a2"/>
              </a:rPr>
              <a:t>bool</a:t>
            </a:r>
            <a:endParaRPr lang="fr-FR" sz="3600" b="0" i="0" dirty="0">
              <a:solidFill>
                <a:schemeClr val="bg1">
                  <a:lumMod val="85000"/>
                </a:schemeClr>
              </a:solidFill>
              <a:effectLst/>
              <a:latin typeface="__Inter_1fc7a2"/>
            </a:endParaRPr>
          </a:p>
          <a:p>
            <a:pPr algn="l"/>
            <a:r>
              <a:rPr lang="fr-FR" sz="3600" b="1" i="0" dirty="0">
                <a:solidFill>
                  <a:schemeClr val="bg1">
                    <a:lumMod val="85000"/>
                  </a:schemeClr>
                </a:solidFill>
                <a:effectLst/>
                <a:latin typeface="__Inter_1fc7a2"/>
              </a:rPr>
              <a:t>Set data types</a:t>
            </a:r>
            <a:r>
              <a:rPr lang="fr-FR" sz="3600" b="0" i="0" dirty="0">
                <a:solidFill>
                  <a:schemeClr val="bg1">
                    <a:lumMod val="85000"/>
                  </a:schemeClr>
                </a:solidFill>
                <a:effectLst/>
                <a:latin typeface="__Inter_1fc7a2"/>
              </a:rPr>
              <a:t>: </a:t>
            </a:r>
            <a:r>
              <a:rPr lang="fr-FR" sz="3600" b="0" i="1" dirty="0">
                <a:solidFill>
                  <a:schemeClr val="bg1">
                    <a:lumMod val="85000"/>
                  </a:schemeClr>
                </a:solidFill>
                <a:effectLst/>
                <a:latin typeface="__Inter_1fc7a2"/>
              </a:rPr>
              <a:t>set, </a:t>
            </a:r>
            <a:r>
              <a:rPr lang="fr-FR" sz="3600" b="0" i="1" dirty="0" err="1">
                <a:solidFill>
                  <a:schemeClr val="bg1">
                    <a:lumMod val="85000"/>
                  </a:schemeClr>
                </a:solidFill>
                <a:effectLst/>
                <a:latin typeface="__Inter_1fc7a2"/>
              </a:rPr>
              <a:t>frozenset</a:t>
            </a:r>
            <a:endParaRPr lang="fr-FR" sz="3600" b="0" i="0" dirty="0">
              <a:solidFill>
                <a:schemeClr val="bg1">
                  <a:lumMod val="85000"/>
                </a:schemeClr>
              </a:solidFill>
              <a:effectLst/>
              <a:latin typeface="__Inter_1fc7a2"/>
            </a:endParaRPr>
          </a:p>
        </p:txBody>
      </p:sp>
    </p:spTree>
    <p:extLst>
      <p:ext uri="{BB962C8B-B14F-4D97-AF65-F5344CB8AC3E}">
        <p14:creationId xmlns:p14="http://schemas.microsoft.com/office/powerpoint/2010/main" val="1125732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1AF5AAE-7145-17EE-631B-696F8C160BF0}"/>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D8F8A5A6-3593-6356-E6BE-519C7DB8E447}"/>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FB894D7C-0728-9470-F0B3-6804B3B3A1E6}"/>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BC87CB5C-52C2-0DDA-B8E8-1E295BB1E2BD}"/>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7A202D7F-C850-9868-DA4B-CEEF8BAFDFD6}"/>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2103D544-2AD5-FD0F-3C8E-B2F63EDB337C}"/>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7EEE2130-E837-49F0-5964-B21E08D8EE29}"/>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Data types</a:t>
            </a:r>
          </a:p>
        </p:txBody>
      </p:sp>
      <p:pic>
        <p:nvPicPr>
          <p:cNvPr id="6" name="Picture 5">
            <a:extLst>
              <a:ext uri="{FF2B5EF4-FFF2-40B4-BE49-F238E27FC236}">
                <a16:creationId xmlns:a16="http://schemas.microsoft.com/office/drawing/2014/main" id="{F23669F4-C236-F153-54F6-653E82AF95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3700" y="775979"/>
            <a:ext cx="7810500" cy="8864769"/>
          </a:xfrm>
          <a:prstGeom prst="rect">
            <a:avLst/>
          </a:prstGeom>
        </p:spPr>
      </p:pic>
      <p:pic>
        <p:nvPicPr>
          <p:cNvPr id="8" name="Picture 7">
            <a:extLst>
              <a:ext uri="{FF2B5EF4-FFF2-40B4-BE49-F238E27FC236}">
                <a16:creationId xmlns:a16="http://schemas.microsoft.com/office/drawing/2014/main" id="{DEBD64E5-AE39-2101-16A2-6243AAC055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768626"/>
            <a:ext cx="5943600" cy="8915400"/>
          </a:xfrm>
          <a:prstGeom prst="rect">
            <a:avLst/>
          </a:prstGeom>
        </p:spPr>
      </p:pic>
    </p:spTree>
    <p:extLst>
      <p:ext uri="{BB962C8B-B14F-4D97-AF65-F5344CB8AC3E}">
        <p14:creationId xmlns:p14="http://schemas.microsoft.com/office/powerpoint/2010/main" val="1997583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737FF9D-9F5C-5D69-9E34-5A0DCB4A5B49}"/>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3FAC2F74-3A57-F050-D519-95B2AC018864}"/>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62CDB1BB-371F-FADA-83F6-FB1A8A9E82F5}"/>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93374D29-17A0-F70F-0EA8-E607B9DECB8F}"/>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2AB3310E-251E-E055-D783-3D2B01EA0831}"/>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59089E18-39AA-B2FC-84ED-5FE42B6A5239}"/>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5EC3FD27-B3B0-9187-DA3F-8370A26BFE47}"/>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Data types</a:t>
            </a:r>
          </a:p>
        </p:txBody>
      </p:sp>
      <p:pic>
        <p:nvPicPr>
          <p:cNvPr id="3" name="Picture 2">
            <a:extLst>
              <a:ext uri="{FF2B5EF4-FFF2-40B4-BE49-F238E27FC236}">
                <a16:creationId xmlns:a16="http://schemas.microsoft.com/office/drawing/2014/main" id="{3877A4AE-E426-3C4F-814C-612B1C7DB5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923" y="785811"/>
            <a:ext cx="8200077" cy="8701193"/>
          </a:xfrm>
          <a:prstGeom prst="rect">
            <a:avLst/>
          </a:prstGeom>
        </p:spPr>
      </p:pic>
      <p:pic>
        <p:nvPicPr>
          <p:cNvPr id="5" name="Picture 4">
            <a:extLst>
              <a:ext uri="{FF2B5EF4-FFF2-40B4-BE49-F238E27FC236}">
                <a16:creationId xmlns:a16="http://schemas.microsoft.com/office/drawing/2014/main" id="{1EA5CC84-26D6-C188-F21E-92B06F053C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20200" y="785811"/>
            <a:ext cx="6972300" cy="8715375"/>
          </a:xfrm>
          <a:prstGeom prst="rect">
            <a:avLst/>
          </a:prstGeom>
        </p:spPr>
      </p:pic>
    </p:spTree>
    <p:extLst>
      <p:ext uri="{BB962C8B-B14F-4D97-AF65-F5344CB8AC3E}">
        <p14:creationId xmlns:p14="http://schemas.microsoft.com/office/powerpoint/2010/main" val="26129917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8698D8E-7B8C-5B24-7E02-8C839A36ED9F}"/>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DCE8599C-4275-3B54-B4AF-20DE97CE209B}"/>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B09F86DC-ABE1-30A0-12C4-A50C06EC800B}"/>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903EBB93-8D1B-0F71-30AC-02902F0D165F}"/>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F47460CA-A225-5051-3EAE-9512A4007153}"/>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CA49DED4-40D1-7021-54A8-01A7FCF8D004}"/>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96C2A721-A7F6-E624-DD27-5A8FC05DAC23}"/>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Loops</a:t>
            </a:r>
          </a:p>
        </p:txBody>
      </p:sp>
      <p:pic>
        <p:nvPicPr>
          <p:cNvPr id="4" name="Picture 3">
            <a:extLst>
              <a:ext uri="{FF2B5EF4-FFF2-40B4-BE49-F238E27FC236}">
                <a16:creationId xmlns:a16="http://schemas.microsoft.com/office/drawing/2014/main" id="{8DC418B9-2DBD-6DEF-B133-34BDD33416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65297" y="1145896"/>
            <a:ext cx="6022702" cy="7005610"/>
          </a:xfrm>
          <a:prstGeom prst="rect">
            <a:avLst/>
          </a:prstGeom>
        </p:spPr>
      </p:pic>
      <p:pic>
        <p:nvPicPr>
          <p:cNvPr id="6" name="Picture 5">
            <a:extLst>
              <a:ext uri="{FF2B5EF4-FFF2-40B4-BE49-F238E27FC236}">
                <a16:creationId xmlns:a16="http://schemas.microsoft.com/office/drawing/2014/main" id="{717EDA3C-0520-F38A-8FA2-D422FA70A7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78" y="1155307"/>
            <a:ext cx="5999922" cy="7005610"/>
          </a:xfrm>
          <a:prstGeom prst="rect">
            <a:avLst/>
          </a:prstGeom>
        </p:spPr>
      </p:pic>
      <p:pic>
        <p:nvPicPr>
          <p:cNvPr id="7" name="Picture 6">
            <a:extLst>
              <a:ext uri="{FF2B5EF4-FFF2-40B4-BE49-F238E27FC236}">
                <a16:creationId xmlns:a16="http://schemas.microsoft.com/office/drawing/2014/main" id="{AB30507D-B199-42E7-7471-C8CF17D27D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4065" y="1155307"/>
            <a:ext cx="6096967" cy="6996199"/>
          </a:xfrm>
          <a:prstGeom prst="rect">
            <a:avLst/>
          </a:prstGeom>
        </p:spPr>
      </p:pic>
    </p:spTree>
    <p:extLst>
      <p:ext uri="{BB962C8B-B14F-4D97-AF65-F5344CB8AC3E}">
        <p14:creationId xmlns:p14="http://schemas.microsoft.com/office/powerpoint/2010/main" val="2323154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1457D82-1CAC-E6D5-2BAE-BD12490788D1}"/>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4874D5B5-2FF8-427D-1738-E9EEDC0E4CD9}"/>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F8794921-39DF-C216-6330-D3D6FCC696E9}"/>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3CB75D18-92CA-8430-9C11-61C642F2B49A}"/>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9ABB3767-6F20-CFEC-AAD0-C1BB65974F38}"/>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44A7A34A-B9FB-4FAD-F540-22C8B86D80A4}"/>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A795C744-4545-C715-D509-CE7D536B0E7F}"/>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Loops</a:t>
            </a:r>
          </a:p>
        </p:txBody>
      </p:sp>
      <p:pic>
        <p:nvPicPr>
          <p:cNvPr id="3" name="Picture 2">
            <a:extLst>
              <a:ext uri="{FF2B5EF4-FFF2-40B4-BE49-F238E27FC236}">
                <a16:creationId xmlns:a16="http://schemas.microsoft.com/office/drawing/2014/main" id="{FA220B4C-C510-E196-4AB2-CE8469EE3F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0" y="1638300"/>
            <a:ext cx="11286308" cy="6857999"/>
          </a:xfrm>
          <a:prstGeom prst="rect">
            <a:avLst/>
          </a:prstGeom>
        </p:spPr>
      </p:pic>
    </p:spTree>
    <p:extLst>
      <p:ext uri="{BB962C8B-B14F-4D97-AF65-F5344CB8AC3E}">
        <p14:creationId xmlns:p14="http://schemas.microsoft.com/office/powerpoint/2010/main" val="25146311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0CBB351-735B-E95A-E1DE-CFA722114CF2}"/>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6CCC4588-DDB4-C3BD-E57B-BB53DF6D7E85}"/>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AA30EAD3-5B64-4258-26A2-EA3066FB1D51}"/>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33056EFD-156E-1984-171D-787E8680FAC8}"/>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F3CB72A5-F91B-B662-158E-9DA964ADBBA0}"/>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B5109354-F9EE-E945-DCAB-D39EBB5CFF19}"/>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9D499D67-097C-E6B5-589E-58BE1D5C8858}"/>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Loops</a:t>
            </a:r>
          </a:p>
        </p:txBody>
      </p:sp>
      <p:pic>
        <p:nvPicPr>
          <p:cNvPr id="5" name="Picture 4" descr="Flowchart of a For Loop - codingem.com">
            <a:extLst>
              <a:ext uri="{FF2B5EF4-FFF2-40B4-BE49-F238E27FC236}">
                <a16:creationId xmlns:a16="http://schemas.microsoft.com/office/drawing/2014/main" id="{A6C8D5C7-697D-3097-1100-032AB11E39FB}"/>
              </a:ext>
            </a:extLst>
          </p:cNvPr>
          <p:cNvPicPr>
            <a:picLocks noChangeAspect="1"/>
          </p:cNvPicPr>
          <p:nvPr/>
        </p:nvPicPr>
        <p:blipFill>
          <a:blip r:embed="rId3"/>
          <a:stretch>
            <a:fillRect/>
          </a:stretch>
        </p:blipFill>
        <p:spPr>
          <a:xfrm>
            <a:off x="1752600" y="907773"/>
            <a:ext cx="15036800" cy="8458200"/>
          </a:xfrm>
          <a:prstGeom prst="rect">
            <a:avLst/>
          </a:prstGeom>
        </p:spPr>
      </p:pic>
    </p:spTree>
    <p:extLst>
      <p:ext uri="{BB962C8B-B14F-4D97-AF65-F5344CB8AC3E}">
        <p14:creationId xmlns:p14="http://schemas.microsoft.com/office/powerpoint/2010/main" val="6058581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3E66D25-EE35-4CD8-786A-5557C1389B47}"/>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7323D7A8-5F9C-0A38-AF5A-223E7CEA35FC}"/>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8D6119E9-A6D7-AD1C-349E-9B13BA7CB101}"/>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A39F8E26-B4BC-3E7D-263A-CFC655A9B71F}"/>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21C30B0F-FC2C-C0F7-EFDC-0A6B33CA5DE0}"/>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CBA4B216-7D1D-F496-0F9A-92A1D0A5D59F}"/>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55060337-0B68-8919-FDAA-F410D8AAD69B}"/>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Loops</a:t>
            </a:r>
          </a:p>
        </p:txBody>
      </p:sp>
      <p:pic>
        <p:nvPicPr>
          <p:cNvPr id="3" name="Picture 2">
            <a:extLst>
              <a:ext uri="{FF2B5EF4-FFF2-40B4-BE49-F238E27FC236}">
                <a16:creationId xmlns:a16="http://schemas.microsoft.com/office/drawing/2014/main" id="{08638AE5-6C60-EAAD-6B63-C4DB1E6256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81099"/>
            <a:ext cx="6116540" cy="7109350"/>
          </a:xfrm>
          <a:prstGeom prst="rect">
            <a:avLst/>
          </a:prstGeom>
        </p:spPr>
      </p:pic>
      <p:pic>
        <p:nvPicPr>
          <p:cNvPr id="7" name="Picture 6">
            <a:extLst>
              <a:ext uri="{FF2B5EF4-FFF2-40B4-BE49-F238E27FC236}">
                <a16:creationId xmlns:a16="http://schemas.microsoft.com/office/drawing/2014/main" id="{F38A29E3-AE6E-8875-6C95-C70A7CF8EF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1379" y="1199296"/>
            <a:ext cx="6106821" cy="7057997"/>
          </a:xfrm>
          <a:prstGeom prst="rect">
            <a:avLst/>
          </a:prstGeom>
        </p:spPr>
      </p:pic>
      <p:pic>
        <p:nvPicPr>
          <p:cNvPr id="4" name="Picture 3">
            <a:extLst>
              <a:ext uri="{FF2B5EF4-FFF2-40B4-BE49-F238E27FC236}">
                <a16:creationId xmlns:a16="http://schemas.microsoft.com/office/drawing/2014/main" id="{0A7DC938-44BE-B108-3075-5ACA36E529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17235" y="1220830"/>
            <a:ext cx="5964139" cy="7057997"/>
          </a:xfrm>
          <a:prstGeom prst="rect">
            <a:avLst/>
          </a:prstGeom>
        </p:spPr>
      </p:pic>
    </p:spTree>
    <p:extLst>
      <p:ext uri="{BB962C8B-B14F-4D97-AF65-F5344CB8AC3E}">
        <p14:creationId xmlns:p14="http://schemas.microsoft.com/office/powerpoint/2010/main" val="41046780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8B487BE-3DF2-16E4-2D37-9B10BC81ED4A}"/>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66121F61-CBA7-1F3F-EADD-5DB21EC22E95}"/>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B9F742D6-69EF-B559-A9BF-96299C45E53F}"/>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3AA3436D-965E-9CB6-6A56-5F60BEB1B918}"/>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91814E55-8327-7B3B-979E-1CB0D0A0080B}"/>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680219D0-C552-7760-A0AF-01C9E9035FE4}"/>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DE729298-40C2-0DD7-FF76-F9CC45C19E59}"/>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Loops</a:t>
            </a:r>
          </a:p>
        </p:txBody>
      </p:sp>
      <p:pic>
        <p:nvPicPr>
          <p:cNvPr id="5" name="Picture 4">
            <a:extLst>
              <a:ext uri="{FF2B5EF4-FFF2-40B4-BE49-F238E27FC236}">
                <a16:creationId xmlns:a16="http://schemas.microsoft.com/office/drawing/2014/main" id="{C4BCDC86-AAEA-B93D-875B-1F526311E3B0}"/>
              </a:ext>
            </a:extLst>
          </p:cNvPr>
          <p:cNvPicPr>
            <a:picLocks noChangeAspect="1"/>
          </p:cNvPicPr>
          <p:nvPr/>
        </p:nvPicPr>
        <p:blipFill>
          <a:blip r:embed="rId3">
            <a:extLst>
              <a:ext uri="{28A0092B-C50C-407E-A947-70E740481C1C}">
                <a14:useLocalDpi xmlns:a14="http://schemas.microsoft.com/office/drawing/2010/main" val="0"/>
              </a:ext>
            </a:extLst>
          </a:blip>
          <a:srcRect b="22445"/>
          <a:stretch>
            <a:fillRect/>
          </a:stretch>
        </p:blipFill>
        <p:spPr>
          <a:xfrm>
            <a:off x="4724400" y="1819275"/>
            <a:ext cx="8220075" cy="6648450"/>
          </a:xfrm>
          <a:prstGeom prst="rect">
            <a:avLst/>
          </a:prstGeom>
        </p:spPr>
      </p:pic>
    </p:spTree>
    <p:extLst>
      <p:ext uri="{BB962C8B-B14F-4D97-AF65-F5344CB8AC3E}">
        <p14:creationId xmlns:p14="http://schemas.microsoft.com/office/powerpoint/2010/main" val="3273678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8031859-B2BF-089E-6F72-5AF47EFBAFE4}"/>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32DDFCCB-B8AB-71FE-A6DE-1D2ED1F8001C}"/>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EFABDB71-FA6F-4169-5A20-2EDDBA1C5B38}"/>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22C9FC5C-CAF7-DB70-5318-7C4058DA514A}"/>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B53C449A-92DE-D45F-3FD9-8607F0012C96}"/>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5A0F457A-4D5C-2BBB-9C43-8BE5A287558F}"/>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07FC8894-925F-B650-65CB-574140E3B310}"/>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Functions</a:t>
            </a:r>
          </a:p>
        </p:txBody>
      </p:sp>
      <p:sp>
        <p:nvSpPr>
          <p:cNvPr id="5" name="TextBox 4">
            <a:extLst>
              <a:ext uri="{FF2B5EF4-FFF2-40B4-BE49-F238E27FC236}">
                <a16:creationId xmlns:a16="http://schemas.microsoft.com/office/drawing/2014/main" id="{1B37B9F4-540C-2A21-8C1A-6EF824E5B456}"/>
              </a:ext>
            </a:extLst>
          </p:cNvPr>
          <p:cNvSpPr txBox="1"/>
          <p:nvPr/>
        </p:nvSpPr>
        <p:spPr>
          <a:xfrm>
            <a:off x="4214192" y="4091610"/>
            <a:ext cx="9382538" cy="2103781"/>
          </a:xfrm>
          <a:prstGeom prst="rect">
            <a:avLst/>
          </a:prstGeom>
          <a:noFill/>
        </p:spPr>
        <p:txBody>
          <a:bodyPr wrap="square">
            <a:spAutoFit/>
          </a:bodyPr>
          <a:lstStyle/>
          <a:p>
            <a:r>
              <a:rPr lang="fr-FR" sz="5400" dirty="0" err="1">
                <a:solidFill>
                  <a:schemeClr val="bg1">
                    <a:lumMod val="95000"/>
                  </a:schemeClr>
                </a:solidFill>
              </a:rPr>
              <a:t>Functions</a:t>
            </a:r>
            <a:r>
              <a:rPr lang="fr-FR" sz="5400" dirty="0">
                <a:solidFill>
                  <a:schemeClr val="bg1">
                    <a:lumMod val="95000"/>
                  </a:schemeClr>
                </a:solidFill>
              </a:rPr>
              <a:t> in Python</a:t>
            </a:r>
          </a:p>
          <a:p>
            <a:endParaRPr lang="fr-FR" sz="5400" dirty="0">
              <a:solidFill>
                <a:schemeClr val="bg1">
                  <a:lumMod val="95000"/>
                </a:schemeClr>
              </a:solidFill>
            </a:endParaRPr>
          </a:p>
          <a:p>
            <a:pPr>
              <a:lnSpc>
                <a:spcPts val="3000"/>
              </a:lnSpc>
            </a:pPr>
            <a:r>
              <a:rPr lang="en-US" sz="1800" b="1" dirty="0">
                <a:solidFill>
                  <a:schemeClr val="bg1">
                    <a:lumMod val="85000"/>
                  </a:schemeClr>
                </a:solidFill>
                <a:effectLst/>
              </a:rPr>
              <a:t>How to define functions in Python 3</a:t>
            </a:r>
          </a:p>
        </p:txBody>
      </p:sp>
    </p:spTree>
    <p:extLst>
      <p:ext uri="{BB962C8B-B14F-4D97-AF65-F5344CB8AC3E}">
        <p14:creationId xmlns:p14="http://schemas.microsoft.com/office/powerpoint/2010/main" val="1133436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E4FFD5D-41AA-C796-F7CB-30EFAD8E5581}"/>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11271EDC-28DA-A41E-468B-769110B5E72E}"/>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F87EE5B2-9C6D-B49B-D0E6-2314915F323C}"/>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1A489E0E-C115-11BE-1E7D-39141BCA3725}"/>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76984507-D43D-14A5-66DD-09C47CE36692}"/>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1B35FCB6-F086-A225-4807-3DF06702AE33}"/>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AF75C7F8-D26E-3CA4-C9D9-1CD474785821}"/>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Functions</a:t>
            </a:r>
          </a:p>
        </p:txBody>
      </p:sp>
      <p:sp>
        <p:nvSpPr>
          <p:cNvPr id="2" name="TextBox 1">
            <a:extLst>
              <a:ext uri="{FF2B5EF4-FFF2-40B4-BE49-F238E27FC236}">
                <a16:creationId xmlns:a16="http://schemas.microsoft.com/office/drawing/2014/main" id="{C2A4C879-18AB-9730-314E-255EA27A2C6B}"/>
              </a:ext>
            </a:extLst>
          </p:cNvPr>
          <p:cNvSpPr txBox="1"/>
          <p:nvPr/>
        </p:nvSpPr>
        <p:spPr>
          <a:xfrm>
            <a:off x="1895893" y="1285022"/>
            <a:ext cx="12081467" cy="707886"/>
          </a:xfrm>
          <a:prstGeom prst="rect">
            <a:avLst/>
          </a:prstGeom>
          <a:noFill/>
        </p:spPr>
        <p:txBody>
          <a:bodyPr wrap="square">
            <a:spAutoFit/>
          </a:bodyPr>
          <a:lstStyle/>
          <a:p>
            <a:pPr algn="l"/>
            <a:r>
              <a:rPr lang="fr-FR" sz="4000" b="1" i="0" u="none" strike="noStrike" dirty="0">
                <a:solidFill>
                  <a:schemeClr val="bg1">
                    <a:lumMod val="85000"/>
                  </a:schemeClr>
                </a:solidFill>
                <a:effectLst/>
                <a:latin typeface="__Epilogue_61966b"/>
              </a:rPr>
              <a:t>Introduction</a:t>
            </a:r>
            <a:endParaRPr lang="fr-FR" sz="4000" b="1" i="0" dirty="0">
              <a:solidFill>
                <a:schemeClr val="bg1">
                  <a:lumMod val="85000"/>
                </a:schemeClr>
              </a:solidFill>
              <a:effectLst/>
              <a:latin typeface="__Epilogue_61966b"/>
            </a:endParaRPr>
          </a:p>
        </p:txBody>
      </p:sp>
      <p:sp>
        <p:nvSpPr>
          <p:cNvPr id="3" name="TextBox 2">
            <a:extLst>
              <a:ext uri="{FF2B5EF4-FFF2-40B4-BE49-F238E27FC236}">
                <a16:creationId xmlns:a16="http://schemas.microsoft.com/office/drawing/2014/main" id="{AF8C7140-D94D-02DB-C514-358E230FD3B5}"/>
              </a:ext>
            </a:extLst>
          </p:cNvPr>
          <p:cNvSpPr txBox="1"/>
          <p:nvPr/>
        </p:nvSpPr>
        <p:spPr>
          <a:xfrm>
            <a:off x="1895893" y="1895359"/>
            <a:ext cx="11820107" cy="7848302"/>
          </a:xfrm>
          <a:prstGeom prst="rect">
            <a:avLst/>
          </a:prstGeom>
          <a:noFill/>
        </p:spPr>
        <p:txBody>
          <a:bodyPr wrap="square">
            <a:spAutoFit/>
          </a:bodyPr>
          <a:lstStyle/>
          <a:p>
            <a:pPr algn="l"/>
            <a:r>
              <a:rPr lang="en-US" sz="2800" b="0" i="0" dirty="0">
                <a:solidFill>
                  <a:schemeClr val="bg1">
                    <a:lumMod val="85000"/>
                  </a:schemeClr>
                </a:solidFill>
                <a:effectLst/>
                <a:latin typeface="__Inter_1fc7a2"/>
              </a:rPr>
              <a:t>A function is a block of instructions that performs an action and, once defined, can be reused. Functions make code more modular, allowing you to use the same code over and over again.</a:t>
            </a:r>
          </a:p>
          <a:p>
            <a:pPr algn="l"/>
            <a:endParaRPr lang="en-US" sz="2800" dirty="0">
              <a:solidFill>
                <a:schemeClr val="bg1">
                  <a:lumMod val="85000"/>
                </a:schemeClr>
              </a:solidFill>
              <a:latin typeface="__Inter_1fc7a2"/>
            </a:endParaRPr>
          </a:p>
          <a:p>
            <a:pPr algn="l"/>
            <a:r>
              <a:rPr lang="en-US" sz="2800" b="0" i="0" dirty="0">
                <a:solidFill>
                  <a:schemeClr val="bg1">
                    <a:lumMod val="85000"/>
                  </a:schemeClr>
                </a:solidFill>
                <a:effectLst/>
                <a:latin typeface="__Inter_1fc7a2"/>
              </a:rPr>
              <a:t>Python has a number of built-in functions that you may be familiar with, including:</a:t>
            </a:r>
          </a:p>
          <a:p>
            <a:pPr marL="457200" indent="-457200">
              <a:buFont typeface="Arial" panose="020B0604020202020204" pitchFamily="34" charset="0"/>
              <a:buChar char="•"/>
            </a:pPr>
            <a:r>
              <a:rPr lang="en-US" sz="2800" b="0" i="0" dirty="0">
                <a:solidFill>
                  <a:schemeClr val="bg1">
                    <a:lumMod val="85000"/>
                  </a:schemeClr>
                </a:solidFill>
                <a:effectLst/>
                <a:latin typeface="__Inter_1fc7a2"/>
              </a:rPr>
              <a:t>print() which will print an object to the terminal</a:t>
            </a:r>
          </a:p>
          <a:p>
            <a:pPr marL="457200" indent="-457200">
              <a:buFont typeface="Arial" panose="020B0604020202020204" pitchFamily="34" charset="0"/>
              <a:buChar char="•"/>
            </a:pPr>
            <a:r>
              <a:rPr lang="en-US" sz="2800" b="0" i="0" dirty="0">
                <a:solidFill>
                  <a:schemeClr val="bg1">
                    <a:lumMod val="85000"/>
                  </a:schemeClr>
                </a:solidFill>
                <a:effectLst/>
                <a:latin typeface="__Inter_1fc7a2"/>
              </a:rPr>
              <a:t>int() which will convert a string or number data type to an integer data type</a:t>
            </a:r>
          </a:p>
          <a:p>
            <a:pPr marL="457200" indent="-457200">
              <a:buFont typeface="Arial" panose="020B0604020202020204" pitchFamily="34" charset="0"/>
              <a:buChar char="•"/>
            </a:pPr>
            <a:r>
              <a:rPr lang="en-US" sz="2800" b="0" i="0" dirty="0" err="1">
                <a:solidFill>
                  <a:schemeClr val="bg1">
                    <a:lumMod val="85000"/>
                  </a:schemeClr>
                </a:solidFill>
                <a:effectLst/>
                <a:latin typeface="__Inter_1fc7a2"/>
              </a:rPr>
              <a:t>len</a:t>
            </a:r>
            <a:r>
              <a:rPr lang="en-US" sz="2800" b="0" i="0" dirty="0">
                <a:solidFill>
                  <a:schemeClr val="bg1">
                    <a:lumMod val="85000"/>
                  </a:schemeClr>
                </a:solidFill>
                <a:effectLst/>
                <a:latin typeface="__Inter_1fc7a2"/>
              </a:rPr>
              <a:t>() which returns the length of an object</a:t>
            </a:r>
          </a:p>
          <a:p>
            <a:pPr algn="l"/>
            <a:endParaRPr lang="en-US" sz="2800" b="0" i="0" dirty="0">
              <a:solidFill>
                <a:schemeClr val="bg1">
                  <a:lumMod val="85000"/>
                </a:schemeClr>
              </a:solidFill>
              <a:effectLst/>
              <a:latin typeface="__Inter_1fc7a2"/>
            </a:endParaRPr>
          </a:p>
          <a:p>
            <a:pPr algn="l"/>
            <a:r>
              <a:rPr lang="en-US" sz="2800" b="0" i="0" dirty="0">
                <a:solidFill>
                  <a:schemeClr val="bg1">
                    <a:lumMod val="85000"/>
                  </a:schemeClr>
                </a:solidFill>
                <a:effectLst/>
                <a:latin typeface="__Inter_1fc7a2"/>
              </a:rPr>
              <a:t>Function names include parentheses and may include parameters (arguments).</a:t>
            </a:r>
          </a:p>
          <a:p>
            <a:pPr algn="l"/>
            <a:r>
              <a:rPr lang="en-US" sz="2800" b="0" i="0" dirty="0">
                <a:solidFill>
                  <a:schemeClr val="bg1">
                    <a:lumMod val="85000"/>
                  </a:schemeClr>
                </a:solidFill>
                <a:effectLst/>
                <a:latin typeface="__Inter_1fc7a2"/>
              </a:rPr>
              <a:t>we’ll go over how to define your own functions to use in your coding projects</a:t>
            </a:r>
          </a:p>
          <a:p>
            <a:pPr algn="l"/>
            <a:endParaRPr lang="en-US" sz="2800" dirty="0">
              <a:solidFill>
                <a:schemeClr val="bg1">
                  <a:lumMod val="85000"/>
                </a:schemeClr>
              </a:solidFill>
              <a:latin typeface="__Inter_1fc7a2"/>
            </a:endParaRPr>
          </a:p>
          <a:p>
            <a:pPr algn="l"/>
            <a:endParaRPr lang="en-US" sz="2800" b="0" i="0" dirty="0">
              <a:solidFill>
                <a:schemeClr val="bg1">
                  <a:lumMod val="85000"/>
                </a:schemeClr>
              </a:solidFill>
              <a:effectLst/>
              <a:latin typeface="__Inter_1fc7a2"/>
            </a:endParaRPr>
          </a:p>
          <a:p>
            <a:pPr algn="l"/>
            <a:endParaRPr lang="en-US" sz="2800" dirty="0">
              <a:solidFill>
                <a:schemeClr val="bg1">
                  <a:lumMod val="85000"/>
                </a:schemeClr>
              </a:solidFill>
              <a:latin typeface="__Inter_1fc7a2"/>
            </a:endParaRPr>
          </a:p>
          <a:p>
            <a:pPr algn="l"/>
            <a:endParaRPr lang="en-US" sz="2800" b="0" i="0" dirty="0">
              <a:solidFill>
                <a:schemeClr val="bg1">
                  <a:lumMod val="85000"/>
                </a:schemeClr>
              </a:solidFill>
              <a:effectLst/>
              <a:latin typeface="__Inter_1fc7a2"/>
            </a:endParaRPr>
          </a:p>
          <a:p>
            <a:pPr algn="l"/>
            <a:endParaRPr lang="en-US" sz="2800" dirty="0">
              <a:solidFill>
                <a:schemeClr val="bg1">
                  <a:lumMod val="85000"/>
                </a:schemeClr>
              </a:solidFill>
              <a:latin typeface="__Inter_1fc7a2"/>
            </a:endParaRPr>
          </a:p>
          <a:p>
            <a:pPr algn="l"/>
            <a:endParaRPr lang="en-US" sz="2800" b="0" i="0" dirty="0">
              <a:solidFill>
                <a:schemeClr val="bg1">
                  <a:lumMod val="85000"/>
                </a:schemeClr>
              </a:solidFill>
              <a:effectLst/>
              <a:latin typeface="__Inter_1fc7a2"/>
            </a:endParaRPr>
          </a:p>
        </p:txBody>
      </p:sp>
    </p:spTree>
    <p:extLst>
      <p:ext uri="{BB962C8B-B14F-4D97-AF65-F5344CB8AC3E}">
        <p14:creationId xmlns:p14="http://schemas.microsoft.com/office/powerpoint/2010/main" val="15212019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289ED3F-C586-D012-D555-137280881648}"/>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FE5A1AEA-077C-E0C1-C665-214114A1D8E5}"/>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BF066679-286E-8C2E-D750-D3DB7B0510CE}"/>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F2BA79C5-363B-3262-ABEB-E809F153985E}"/>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69D0559F-1123-5203-DE27-713E371047DD}"/>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07F8A9EB-91C6-DC82-7C83-526E91FFA797}"/>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0CF9DC25-096B-543A-1141-AE15555E7B78}"/>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Functions</a:t>
            </a:r>
          </a:p>
        </p:txBody>
      </p:sp>
      <p:sp>
        <p:nvSpPr>
          <p:cNvPr id="4" name="TextBox 3">
            <a:extLst>
              <a:ext uri="{FF2B5EF4-FFF2-40B4-BE49-F238E27FC236}">
                <a16:creationId xmlns:a16="http://schemas.microsoft.com/office/drawing/2014/main" id="{A9EA345E-A083-F6CE-32C0-54AFDAA0631E}"/>
              </a:ext>
            </a:extLst>
          </p:cNvPr>
          <p:cNvSpPr txBox="1"/>
          <p:nvPr/>
        </p:nvSpPr>
        <p:spPr>
          <a:xfrm>
            <a:off x="2121045" y="1487508"/>
            <a:ext cx="12081467" cy="707886"/>
          </a:xfrm>
          <a:prstGeom prst="rect">
            <a:avLst/>
          </a:prstGeom>
          <a:noFill/>
        </p:spPr>
        <p:txBody>
          <a:bodyPr wrap="square">
            <a:spAutoFit/>
          </a:bodyPr>
          <a:lstStyle/>
          <a:p>
            <a:pPr algn="l"/>
            <a:r>
              <a:rPr lang="fr-FR" sz="4000" b="1" i="0" u="none" strike="noStrike" dirty="0" err="1">
                <a:solidFill>
                  <a:schemeClr val="bg1">
                    <a:lumMod val="85000"/>
                  </a:schemeClr>
                </a:solidFill>
                <a:effectLst/>
                <a:latin typeface="__Epilogue_61966b"/>
              </a:rPr>
              <a:t>Defining</a:t>
            </a:r>
            <a:r>
              <a:rPr lang="fr-FR" sz="4000" b="1" i="0" u="none" strike="noStrike" dirty="0">
                <a:solidFill>
                  <a:schemeClr val="bg1">
                    <a:lumMod val="85000"/>
                  </a:schemeClr>
                </a:solidFill>
                <a:effectLst/>
                <a:latin typeface="__Epilogue_61966b"/>
              </a:rPr>
              <a:t> a </a:t>
            </a:r>
            <a:r>
              <a:rPr lang="fr-FR" sz="4000" b="1" i="0" u="none" strike="noStrike" dirty="0" err="1">
                <a:solidFill>
                  <a:schemeClr val="bg1">
                    <a:lumMod val="85000"/>
                  </a:schemeClr>
                </a:solidFill>
                <a:effectLst/>
                <a:latin typeface="__Epilogue_61966b"/>
              </a:rPr>
              <a:t>Function</a:t>
            </a:r>
            <a:endParaRPr lang="fr-FR" sz="4000" b="1" i="0" dirty="0">
              <a:solidFill>
                <a:schemeClr val="bg1">
                  <a:lumMod val="85000"/>
                </a:schemeClr>
              </a:solidFill>
              <a:effectLst/>
              <a:latin typeface="__Epilogue_61966b"/>
            </a:endParaRPr>
          </a:p>
        </p:txBody>
      </p:sp>
      <p:sp>
        <p:nvSpPr>
          <p:cNvPr id="5" name="TextBox 4">
            <a:extLst>
              <a:ext uri="{FF2B5EF4-FFF2-40B4-BE49-F238E27FC236}">
                <a16:creationId xmlns:a16="http://schemas.microsoft.com/office/drawing/2014/main" id="{36050D44-3967-C4BA-E96E-37D534E2DD37}"/>
              </a:ext>
            </a:extLst>
          </p:cNvPr>
          <p:cNvSpPr txBox="1"/>
          <p:nvPr/>
        </p:nvSpPr>
        <p:spPr>
          <a:xfrm>
            <a:off x="2121045" y="2220396"/>
            <a:ext cx="12081467" cy="1384995"/>
          </a:xfrm>
          <a:prstGeom prst="rect">
            <a:avLst/>
          </a:prstGeom>
          <a:noFill/>
        </p:spPr>
        <p:txBody>
          <a:bodyPr wrap="square">
            <a:spAutoFit/>
          </a:bodyPr>
          <a:lstStyle/>
          <a:p>
            <a:pPr algn="l"/>
            <a:r>
              <a:rPr lang="en-US" sz="2800" b="0" i="0" dirty="0">
                <a:solidFill>
                  <a:schemeClr val="bg1">
                    <a:lumMod val="85000"/>
                  </a:schemeClr>
                </a:solidFill>
                <a:effectLst/>
                <a:latin typeface="__Inter_1fc7a2"/>
              </a:rPr>
              <a:t>A function is defined by using the def keyword, followed by a name of your choosing, followed by a set of parentheses which hold any parameters the function will take (they can be empty), and ending with a colon.</a:t>
            </a:r>
          </a:p>
        </p:txBody>
      </p:sp>
      <p:pic>
        <p:nvPicPr>
          <p:cNvPr id="6" name="Picture 5">
            <a:extLst>
              <a:ext uri="{FF2B5EF4-FFF2-40B4-BE49-F238E27FC236}">
                <a16:creationId xmlns:a16="http://schemas.microsoft.com/office/drawing/2014/main" id="{0567EA69-D491-1B5B-1AC1-325374AF0BE7}"/>
              </a:ext>
            </a:extLst>
          </p:cNvPr>
          <p:cNvPicPr>
            <a:picLocks noChangeAspect="1"/>
          </p:cNvPicPr>
          <p:nvPr/>
        </p:nvPicPr>
        <p:blipFill>
          <a:blip r:embed="rId3"/>
          <a:stretch>
            <a:fillRect/>
          </a:stretch>
        </p:blipFill>
        <p:spPr>
          <a:xfrm>
            <a:off x="2668854" y="3687712"/>
            <a:ext cx="5106113" cy="924054"/>
          </a:xfrm>
          <a:prstGeom prst="rect">
            <a:avLst/>
          </a:prstGeom>
        </p:spPr>
      </p:pic>
      <p:sp>
        <p:nvSpPr>
          <p:cNvPr id="7" name="TextBox 6">
            <a:extLst>
              <a:ext uri="{FF2B5EF4-FFF2-40B4-BE49-F238E27FC236}">
                <a16:creationId xmlns:a16="http://schemas.microsoft.com/office/drawing/2014/main" id="{3777F046-6BB2-0B87-D7C1-B668117885D2}"/>
              </a:ext>
            </a:extLst>
          </p:cNvPr>
          <p:cNvSpPr txBox="1"/>
          <p:nvPr/>
        </p:nvSpPr>
        <p:spPr>
          <a:xfrm>
            <a:off x="2121044" y="5061736"/>
            <a:ext cx="11710681" cy="954107"/>
          </a:xfrm>
          <a:prstGeom prst="rect">
            <a:avLst/>
          </a:prstGeom>
          <a:noFill/>
        </p:spPr>
        <p:txBody>
          <a:bodyPr wrap="square">
            <a:spAutoFit/>
          </a:bodyPr>
          <a:lstStyle/>
          <a:p>
            <a:pPr algn="l"/>
            <a:r>
              <a:rPr lang="en-US" sz="2800" b="0" i="0" dirty="0">
                <a:solidFill>
                  <a:schemeClr val="bg1">
                    <a:lumMod val="85000"/>
                  </a:schemeClr>
                </a:solidFill>
                <a:effectLst/>
                <a:latin typeface="__Inter_1fc7a2"/>
              </a:rPr>
              <a:t>Our function is now fully defined, but if we run the program at this point, nothing will happen since we didn’t call the function.</a:t>
            </a:r>
          </a:p>
        </p:txBody>
      </p:sp>
      <p:pic>
        <p:nvPicPr>
          <p:cNvPr id="8" name="Picture 7">
            <a:extLst>
              <a:ext uri="{FF2B5EF4-FFF2-40B4-BE49-F238E27FC236}">
                <a16:creationId xmlns:a16="http://schemas.microsoft.com/office/drawing/2014/main" id="{371AA1B8-7163-3883-494A-7B9E687A3B58}"/>
              </a:ext>
            </a:extLst>
          </p:cNvPr>
          <p:cNvPicPr>
            <a:picLocks noChangeAspect="1"/>
          </p:cNvPicPr>
          <p:nvPr/>
        </p:nvPicPr>
        <p:blipFill>
          <a:blip r:embed="rId4"/>
          <a:stretch>
            <a:fillRect/>
          </a:stretch>
        </p:blipFill>
        <p:spPr>
          <a:xfrm>
            <a:off x="2819400" y="6134100"/>
            <a:ext cx="5287113" cy="1543265"/>
          </a:xfrm>
          <a:prstGeom prst="rect">
            <a:avLst/>
          </a:prstGeom>
        </p:spPr>
      </p:pic>
    </p:spTree>
    <p:extLst>
      <p:ext uri="{BB962C8B-B14F-4D97-AF65-F5344CB8AC3E}">
        <p14:creationId xmlns:p14="http://schemas.microsoft.com/office/powerpoint/2010/main" val="9231982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BE95FBC-A2D9-3A98-0F9C-E223F25E1E76}"/>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2C9A4726-E540-6AAF-41FB-B2734BDC6D52}"/>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92BE6F67-13ED-6518-3E64-DB605E3139D7}"/>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28D686C9-6DAA-5210-E59C-ECE4A72DC6E6}"/>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5F1FC9BF-87E5-86DF-66FC-5E2A2CFAB48E}"/>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2681A6E7-721F-BCA4-3B0A-B65E601218DF}"/>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2584DB88-FA0B-A2C6-ADA2-835FE74A88E7}"/>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Functions</a:t>
            </a:r>
          </a:p>
        </p:txBody>
      </p:sp>
      <p:sp>
        <p:nvSpPr>
          <p:cNvPr id="2" name="TextBox 1">
            <a:extLst>
              <a:ext uri="{FF2B5EF4-FFF2-40B4-BE49-F238E27FC236}">
                <a16:creationId xmlns:a16="http://schemas.microsoft.com/office/drawing/2014/main" id="{0A18A0B0-8CED-293B-A0BA-956072E06E9E}"/>
              </a:ext>
            </a:extLst>
          </p:cNvPr>
          <p:cNvSpPr txBox="1"/>
          <p:nvPr/>
        </p:nvSpPr>
        <p:spPr>
          <a:xfrm>
            <a:off x="2502045" y="1790700"/>
            <a:ext cx="12081467" cy="707886"/>
          </a:xfrm>
          <a:prstGeom prst="rect">
            <a:avLst/>
          </a:prstGeom>
          <a:noFill/>
        </p:spPr>
        <p:txBody>
          <a:bodyPr wrap="square">
            <a:spAutoFit/>
          </a:bodyPr>
          <a:lstStyle/>
          <a:p>
            <a:pPr algn="l"/>
            <a:r>
              <a:rPr lang="fr-FR" sz="4000" b="1" i="0" u="none" strike="noStrike" dirty="0" err="1">
                <a:solidFill>
                  <a:schemeClr val="bg1">
                    <a:lumMod val="85000"/>
                  </a:schemeClr>
                </a:solidFill>
                <a:effectLst/>
                <a:latin typeface="__Epilogue_61966b"/>
              </a:rPr>
              <a:t>Working</a:t>
            </a:r>
            <a:r>
              <a:rPr lang="fr-FR" sz="4000" b="1" i="0" u="none" strike="noStrike" dirty="0">
                <a:solidFill>
                  <a:schemeClr val="bg1">
                    <a:lumMod val="85000"/>
                  </a:schemeClr>
                </a:solidFill>
                <a:effectLst/>
                <a:latin typeface="__Epilogue_61966b"/>
              </a:rPr>
              <a:t> </a:t>
            </a:r>
            <a:r>
              <a:rPr lang="fr-FR" sz="4000" b="1" i="0" u="none" strike="noStrike" dirty="0" err="1">
                <a:solidFill>
                  <a:schemeClr val="bg1">
                    <a:lumMod val="85000"/>
                  </a:schemeClr>
                </a:solidFill>
                <a:effectLst/>
                <a:latin typeface="__Epilogue_61966b"/>
              </a:rPr>
              <a:t>with</a:t>
            </a:r>
            <a:r>
              <a:rPr lang="fr-FR" sz="4000" b="1" i="0" u="none" strike="noStrike" dirty="0">
                <a:solidFill>
                  <a:schemeClr val="bg1">
                    <a:lumMod val="85000"/>
                  </a:schemeClr>
                </a:solidFill>
                <a:effectLst/>
                <a:latin typeface="__Epilogue_61966b"/>
              </a:rPr>
              <a:t> </a:t>
            </a:r>
            <a:r>
              <a:rPr lang="fr-FR" sz="4000" b="1" i="0" u="none" strike="noStrike" dirty="0" err="1">
                <a:solidFill>
                  <a:schemeClr val="bg1">
                    <a:lumMod val="85000"/>
                  </a:schemeClr>
                </a:solidFill>
                <a:effectLst/>
                <a:latin typeface="__Epilogue_61966b"/>
              </a:rPr>
              <a:t>Parameters</a:t>
            </a:r>
            <a:endParaRPr lang="fr-FR" sz="4000" b="1" i="0" dirty="0">
              <a:solidFill>
                <a:schemeClr val="bg1">
                  <a:lumMod val="85000"/>
                </a:schemeClr>
              </a:solidFill>
              <a:effectLst/>
              <a:latin typeface="__Epilogue_61966b"/>
            </a:endParaRPr>
          </a:p>
        </p:txBody>
      </p:sp>
      <p:pic>
        <p:nvPicPr>
          <p:cNvPr id="3" name="Picture 2">
            <a:extLst>
              <a:ext uri="{FF2B5EF4-FFF2-40B4-BE49-F238E27FC236}">
                <a16:creationId xmlns:a16="http://schemas.microsoft.com/office/drawing/2014/main" id="{7EA907AE-4CC7-C7FB-0312-9A63F96E445A}"/>
              </a:ext>
            </a:extLst>
          </p:cNvPr>
          <p:cNvPicPr>
            <a:picLocks noChangeAspect="1"/>
          </p:cNvPicPr>
          <p:nvPr/>
        </p:nvPicPr>
        <p:blipFill>
          <a:blip r:embed="rId3"/>
          <a:stretch>
            <a:fillRect/>
          </a:stretch>
        </p:blipFill>
        <p:spPr>
          <a:xfrm>
            <a:off x="3200400" y="2616843"/>
            <a:ext cx="4658375" cy="2314898"/>
          </a:xfrm>
          <a:prstGeom prst="rect">
            <a:avLst/>
          </a:prstGeom>
        </p:spPr>
      </p:pic>
      <p:pic>
        <p:nvPicPr>
          <p:cNvPr id="9" name="Picture 8">
            <a:extLst>
              <a:ext uri="{FF2B5EF4-FFF2-40B4-BE49-F238E27FC236}">
                <a16:creationId xmlns:a16="http://schemas.microsoft.com/office/drawing/2014/main" id="{D829525F-6294-CA62-F94B-2DCF9D3D7732}"/>
              </a:ext>
            </a:extLst>
          </p:cNvPr>
          <p:cNvPicPr>
            <a:picLocks noChangeAspect="1"/>
          </p:cNvPicPr>
          <p:nvPr/>
        </p:nvPicPr>
        <p:blipFill>
          <a:blip r:embed="rId4"/>
          <a:stretch>
            <a:fillRect/>
          </a:stretch>
        </p:blipFill>
        <p:spPr>
          <a:xfrm>
            <a:off x="3200400" y="5219700"/>
            <a:ext cx="10707356" cy="2405130"/>
          </a:xfrm>
          <a:prstGeom prst="rect">
            <a:avLst/>
          </a:prstGeom>
        </p:spPr>
      </p:pic>
    </p:spTree>
    <p:extLst>
      <p:ext uri="{BB962C8B-B14F-4D97-AF65-F5344CB8AC3E}">
        <p14:creationId xmlns:p14="http://schemas.microsoft.com/office/powerpoint/2010/main" val="22089029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160B189-4F06-D893-E261-70938A48AE84}"/>
            </a:ext>
          </a:extLst>
        </p:cNvPr>
        <p:cNvGrpSpPr/>
        <p:nvPr/>
      </p:nvGrpSpPr>
      <p:grpSpPr>
        <a:xfrm>
          <a:off x="0" y="0"/>
          <a:ext cx="0" cy="0"/>
          <a:chOff x="0" y="0"/>
          <a:chExt cx="0" cy="0"/>
        </a:xfrm>
      </p:grpSpPr>
      <p:sp>
        <p:nvSpPr>
          <p:cNvPr id="21" name="TextBox 15">
            <a:extLst>
              <a:ext uri="{FF2B5EF4-FFF2-40B4-BE49-F238E27FC236}">
                <a16:creationId xmlns:a16="http://schemas.microsoft.com/office/drawing/2014/main" id="{56650B66-0E18-268F-A623-4FADE10FE571}"/>
              </a:ext>
            </a:extLst>
          </p:cNvPr>
          <p:cNvSpPr txBox="1"/>
          <p:nvPr/>
        </p:nvSpPr>
        <p:spPr>
          <a:xfrm>
            <a:off x="152400" y="190500"/>
            <a:ext cx="6629400" cy="309059"/>
          </a:xfrm>
          <a:prstGeom prst="rect">
            <a:avLst/>
          </a:prstGeom>
        </p:spPr>
        <p:txBody>
          <a:bodyPr wrap="square" lIns="0" tIns="0" rIns="0" bIns="0" rtlCol="0" anchor="t">
            <a:spAutoFit/>
          </a:bodyPr>
          <a:lstStyle/>
          <a:p>
            <a:pPr marL="0" lvl="0" indent="0" algn="l">
              <a:lnSpc>
                <a:spcPts val="2640"/>
              </a:lnSpc>
            </a:pPr>
            <a:r>
              <a:rPr lang="en-US" b="1" spc="4" dirty="0">
                <a:solidFill>
                  <a:srgbClr val="FFFFFF"/>
                </a:solidFill>
                <a:latin typeface="+mj-lt"/>
                <a:ea typeface="Open Sauce Bold"/>
                <a:cs typeface="Open Sauce Bold"/>
                <a:sym typeface="Open Sauce Bold"/>
              </a:rPr>
              <a:t>Python for Beginners with applications – Lesson 01</a:t>
            </a:r>
          </a:p>
        </p:txBody>
      </p:sp>
      <p:sp>
        <p:nvSpPr>
          <p:cNvPr id="22" name="AutoShape 16">
            <a:extLst>
              <a:ext uri="{FF2B5EF4-FFF2-40B4-BE49-F238E27FC236}">
                <a16:creationId xmlns:a16="http://schemas.microsoft.com/office/drawing/2014/main" id="{ADD541D4-B1CE-A45D-2D09-7CAD2E80BCC5}"/>
              </a:ext>
            </a:extLst>
          </p:cNvPr>
          <p:cNvSpPr/>
          <p:nvPr/>
        </p:nvSpPr>
        <p:spPr>
          <a:xfrm>
            <a:off x="-472440" y="571500"/>
            <a:ext cx="6492240" cy="0"/>
          </a:xfrm>
          <a:prstGeom prst="line">
            <a:avLst/>
          </a:prstGeom>
          <a:ln w="19050" cap="flat">
            <a:solidFill>
              <a:srgbClr val="FFFFFF"/>
            </a:solidFill>
            <a:prstDash val="solid"/>
            <a:headEnd type="none" w="sm" len="sm"/>
            <a:tailEnd type="none" w="sm" len="sm"/>
          </a:ln>
        </p:spPr>
        <p:txBody>
          <a:bodyPr/>
          <a:lstStyle/>
          <a:p>
            <a:endParaRPr lang="en-US"/>
          </a:p>
        </p:txBody>
      </p:sp>
      <p:sp>
        <p:nvSpPr>
          <p:cNvPr id="25" name="TextBox 11">
            <a:extLst>
              <a:ext uri="{FF2B5EF4-FFF2-40B4-BE49-F238E27FC236}">
                <a16:creationId xmlns:a16="http://schemas.microsoft.com/office/drawing/2014/main" id="{8F07BFF2-3B71-2942-0C29-CDB5747E25BC}"/>
              </a:ext>
            </a:extLst>
          </p:cNvPr>
          <p:cNvSpPr txBox="1"/>
          <p:nvPr/>
        </p:nvSpPr>
        <p:spPr>
          <a:xfrm>
            <a:off x="9479195" y="266700"/>
            <a:ext cx="911138" cy="283924"/>
          </a:xfrm>
          <a:prstGeom prst="rect">
            <a:avLst/>
          </a:prstGeom>
        </p:spPr>
        <p:txBody>
          <a:bodyPr wrap="square" lIns="0" tIns="0" rIns="0" bIns="0" rtlCol="0" anchor="t">
            <a:spAutoFit/>
          </a:bodyPr>
          <a:lstStyle/>
          <a:p>
            <a:pPr marL="0" lvl="0" indent="0" algn="r">
              <a:lnSpc>
                <a:spcPts val="2380"/>
              </a:lnSpc>
              <a:spcBef>
                <a:spcPct val="0"/>
              </a:spcBef>
            </a:pPr>
            <a:r>
              <a:rPr lang="en-US" b="1" spc="3" dirty="0">
                <a:solidFill>
                  <a:srgbClr val="FFFFFF"/>
                </a:solidFill>
                <a:latin typeface="Open Sauce"/>
                <a:ea typeface="Open Sauce"/>
                <a:cs typeface="Open Sauce"/>
                <a:sym typeface="Open Sauce"/>
              </a:rPr>
              <a:t>1. </a:t>
            </a:r>
          </a:p>
        </p:txBody>
      </p:sp>
      <p:sp>
        <p:nvSpPr>
          <p:cNvPr id="26" name="TextBox 12">
            <a:extLst>
              <a:ext uri="{FF2B5EF4-FFF2-40B4-BE49-F238E27FC236}">
                <a16:creationId xmlns:a16="http://schemas.microsoft.com/office/drawing/2014/main" id="{34FD2406-5D89-FDF8-7415-DAF4842B6929}"/>
              </a:ext>
            </a:extLst>
          </p:cNvPr>
          <p:cNvSpPr txBox="1"/>
          <p:nvPr/>
        </p:nvSpPr>
        <p:spPr>
          <a:xfrm>
            <a:off x="10591800" y="266700"/>
            <a:ext cx="3886200" cy="291747"/>
          </a:xfrm>
          <a:prstGeom prst="rect">
            <a:avLst/>
          </a:prstGeom>
        </p:spPr>
        <p:txBody>
          <a:bodyPr wrap="square" lIns="0" tIns="0" rIns="0" bIns="0" rtlCol="0" anchor="t">
            <a:spAutoFit/>
          </a:bodyPr>
          <a:lstStyle/>
          <a:p>
            <a:pPr>
              <a:lnSpc>
                <a:spcPts val="2380"/>
              </a:lnSpc>
              <a:spcBef>
                <a:spcPct val="0"/>
              </a:spcBef>
            </a:pPr>
            <a:r>
              <a:rPr lang="en-US" spc="85" dirty="0">
                <a:solidFill>
                  <a:srgbClr val="FFFFFF"/>
                </a:solidFill>
                <a:latin typeface="+mj-lt"/>
                <a:ea typeface="Open Sauce Light"/>
                <a:cs typeface="Open Sauce Light"/>
                <a:sym typeface="Open Sauce Light"/>
              </a:rPr>
              <a:t>Introduction &amp; Background</a:t>
            </a:r>
          </a:p>
        </p:txBody>
      </p:sp>
      <p:sp>
        <p:nvSpPr>
          <p:cNvPr id="27" name="TextBox 14">
            <a:extLst>
              <a:ext uri="{FF2B5EF4-FFF2-40B4-BE49-F238E27FC236}">
                <a16:creationId xmlns:a16="http://schemas.microsoft.com/office/drawing/2014/main" id="{0CC1487A-CFC8-0874-28E5-E4450E37A4B0}"/>
              </a:ext>
            </a:extLst>
          </p:cNvPr>
          <p:cNvSpPr txBox="1"/>
          <p:nvPr/>
        </p:nvSpPr>
        <p:spPr>
          <a:xfrm>
            <a:off x="13716000" y="266700"/>
            <a:ext cx="304800" cy="283924"/>
          </a:xfrm>
          <a:prstGeom prst="rect">
            <a:avLst/>
          </a:prstGeom>
        </p:spPr>
        <p:txBody>
          <a:bodyPr wrap="square" lIns="0" tIns="0" rIns="0" bIns="0" rtlCol="0" anchor="t">
            <a:spAutoFit/>
          </a:bodyPr>
          <a:lstStyle/>
          <a:p>
            <a:pPr marL="0" lvl="0" indent="0" algn="ctr">
              <a:lnSpc>
                <a:spcPts val="2380"/>
              </a:lnSpc>
              <a:spcBef>
                <a:spcPct val="0"/>
              </a:spcBef>
            </a:pPr>
            <a:r>
              <a:rPr lang="en-US" spc="3" dirty="0">
                <a:solidFill>
                  <a:srgbClr val="FFFFFF"/>
                </a:solidFill>
                <a:latin typeface="Open Sauce"/>
                <a:ea typeface="Open Sauce"/>
                <a:cs typeface="Open Sauce"/>
                <a:sym typeface="Open Sauce"/>
              </a:rPr>
              <a:t>-</a:t>
            </a:r>
          </a:p>
        </p:txBody>
      </p:sp>
      <p:sp>
        <p:nvSpPr>
          <p:cNvPr id="28" name="TextBox 14">
            <a:extLst>
              <a:ext uri="{FF2B5EF4-FFF2-40B4-BE49-F238E27FC236}">
                <a16:creationId xmlns:a16="http://schemas.microsoft.com/office/drawing/2014/main" id="{729BE6CF-9BAD-5D46-E2EB-B004BED9A423}"/>
              </a:ext>
            </a:extLst>
          </p:cNvPr>
          <p:cNvSpPr txBox="1"/>
          <p:nvPr/>
        </p:nvSpPr>
        <p:spPr>
          <a:xfrm>
            <a:off x="14015884" y="266700"/>
            <a:ext cx="4119716" cy="291747"/>
          </a:xfrm>
          <a:prstGeom prst="rect">
            <a:avLst/>
          </a:prstGeom>
        </p:spPr>
        <p:txBody>
          <a:bodyPr wrap="square" lIns="0" tIns="0" rIns="0" bIns="0" rtlCol="0" anchor="t">
            <a:spAutoFit/>
          </a:bodyPr>
          <a:lstStyle/>
          <a:p>
            <a:pPr lvl="0">
              <a:lnSpc>
                <a:spcPts val="2380"/>
              </a:lnSpc>
              <a:spcBef>
                <a:spcPct val="0"/>
              </a:spcBef>
            </a:pPr>
            <a:r>
              <a:rPr lang="en-US" spc="3" dirty="0">
                <a:solidFill>
                  <a:srgbClr val="FFFFFF"/>
                </a:solidFill>
                <a:latin typeface="+mj-lt"/>
                <a:ea typeface="Open Sauce"/>
                <a:cs typeface="Open Sauce"/>
                <a:sym typeface="Open Sauce"/>
              </a:rPr>
              <a:t>Functions</a:t>
            </a:r>
          </a:p>
        </p:txBody>
      </p:sp>
      <p:sp>
        <p:nvSpPr>
          <p:cNvPr id="4" name="TextBox 3">
            <a:extLst>
              <a:ext uri="{FF2B5EF4-FFF2-40B4-BE49-F238E27FC236}">
                <a16:creationId xmlns:a16="http://schemas.microsoft.com/office/drawing/2014/main" id="{3C3E298D-8236-4DDF-C6A8-295191D86EBB}"/>
              </a:ext>
            </a:extLst>
          </p:cNvPr>
          <p:cNvSpPr txBox="1"/>
          <p:nvPr/>
        </p:nvSpPr>
        <p:spPr>
          <a:xfrm>
            <a:off x="2778226" y="1923256"/>
            <a:ext cx="12081467" cy="707886"/>
          </a:xfrm>
          <a:prstGeom prst="rect">
            <a:avLst/>
          </a:prstGeom>
          <a:noFill/>
        </p:spPr>
        <p:txBody>
          <a:bodyPr wrap="square">
            <a:spAutoFit/>
          </a:bodyPr>
          <a:lstStyle/>
          <a:p>
            <a:r>
              <a:rPr lang="fr-FR" sz="4000" b="1" i="0" u="none" strike="noStrike" dirty="0" err="1">
                <a:solidFill>
                  <a:schemeClr val="bg1">
                    <a:lumMod val="85000"/>
                  </a:schemeClr>
                </a:solidFill>
                <a:effectLst/>
                <a:latin typeface="__Epilogue_61966b"/>
              </a:rPr>
              <a:t>Returning</a:t>
            </a:r>
            <a:r>
              <a:rPr lang="fr-FR" sz="4000" b="1" i="0" u="none" strike="noStrike" dirty="0">
                <a:solidFill>
                  <a:schemeClr val="bg1">
                    <a:lumMod val="85000"/>
                  </a:schemeClr>
                </a:solidFill>
                <a:effectLst/>
                <a:latin typeface="__Epilogue_61966b"/>
              </a:rPr>
              <a:t> a value</a:t>
            </a:r>
            <a:endParaRPr lang="fr-FR" sz="4000" b="1" i="0" dirty="0">
              <a:solidFill>
                <a:schemeClr val="bg1">
                  <a:lumMod val="85000"/>
                </a:schemeClr>
              </a:solidFill>
              <a:effectLst/>
              <a:latin typeface="__Epilogue_61966b"/>
            </a:endParaRPr>
          </a:p>
        </p:txBody>
      </p:sp>
      <p:sp>
        <p:nvSpPr>
          <p:cNvPr id="5" name="TextBox 4">
            <a:extLst>
              <a:ext uri="{FF2B5EF4-FFF2-40B4-BE49-F238E27FC236}">
                <a16:creationId xmlns:a16="http://schemas.microsoft.com/office/drawing/2014/main" id="{D4A6D9A4-DEDD-1AD8-A21A-C32039B762A2}"/>
              </a:ext>
            </a:extLst>
          </p:cNvPr>
          <p:cNvSpPr txBox="1"/>
          <p:nvPr/>
        </p:nvSpPr>
        <p:spPr>
          <a:xfrm>
            <a:off x="2778226" y="2656144"/>
            <a:ext cx="12081467" cy="2677656"/>
          </a:xfrm>
          <a:prstGeom prst="rect">
            <a:avLst/>
          </a:prstGeom>
          <a:noFill/>
        </p:spPr>
        <p:txBody>
          <a:bodyPr wrap="square">
            <a:spAutoFit/>
          </a:bodyPr>
          <a:lstStyle/>
          <a:p>
            <a:pPr algn="l"/>
            <a:r>
              <a:rPr lang="en-US" sz="2800" b="0" i="0" dirty="0">
                <a:solidFill>
                  <a:schemeClr val="bg1">
                    <a:lumMod val="85000"/>
                  </a:schemeClr>
                </a:solidFill>
                <a:effectLst/>
                <a:latin typeface="__Inter_1fc7a2"/>
              </a:rPr>
              <a:t>You can pass a parameter value into a function, and a function can also produce a value.</a:t>
            </a:r>
          </a:p>
          <a:p>
            <a:pPr algn="l"/>
            <a:endParaRPr lang="en-US" sz="2800" b="0" i="0" dirty="0">
              <a:solidFill>
                <a:schemeClr val="bg1">
                  <a:lumMod val="85000"/>
                </a:schemeClr>
              </a:solidFill>
              <a:effectLst/>
              <a:latin typeface="__Inter_1fc7a2"/>
            </a:endParaRPr>
          </a:p>
          <a:p>
            <a:pPr algn="l"/>
            <a:r>
              <a:rPr lang="en-US" sz="2800" b="0" i="0" dirty="0">
                <a:solidFill>
                  <a:schemeClr val="bg1">
                    <a:lumMod val="85000"/>
                  </a:schemeClr>
                </a:solidFill>
                <a:effectLst/>
                <a:latin typeface="__Inter_1fc7a2"/>
              </a:rPr>
              <a:t>A function can produce a value with the return statement, which will exit a function and optionally pass an expression back to the caller. If you use a return statement with no arguments, the function will return None.</a:t>
            </a:r>
          </a:p>
        </p:txBody>
      </p:sp>
      <p:pic>
        <p:nvPicPr>
          <p:cNvPr id="6" name="Picture 5">
            <a:extLst>
              <a:ext uri="{FF2B5EF4-FFF2-40B4-BE49-F238E27FC236}">
                <a16:creationId xmlns:a16="http://schemas.microsoft.com/office/drawing/2014/main" id="{3A9B53B5-B52F-5E3D-1F80-51EA2DE6A948}"/>
              </a:ext>
            </a:extLst>
          </p:cNvPr>
          <p:cNvPicPr>
            <a:picLocks noChangeAspect="1"/>
          </p:cNvPicPr>
          <p:nvPr/>
        </p:nvPicPr>
        <p:blipFill>
          <a:blip r:embed="rId3"/>
          <a:stretch>
            <a:fillRect/>
          </a:stretch>
        </p:blipFill>
        <p:spPr>
          <a:xfrm>
            <a:off x="3810000" y="5524500"/>
            <a:ext cx="3210373" cy="2076740"/>
          </a:xfrm>
          <a:prstGeom prst="rect">
            <a:avLst/>
          </a:prstGeom>
        </p:spPr>
      </p:pic>
    </p:spTree>
    <p:extLst>
      <p:ext uri="{BB962C8B-B14F-4D97-AF65-F5344CB8AC3E}">
        <p14:creationId xmlns:p14="http://schemas.microsoft.com/office/powerpoint/2010/main" val="19897482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2664</TotalTime>
  <Words>2119</Words>
  <Application>Microsoft Office PowerPoint</Application>
  <PresentationFormat>Custom</PresentationFormat>
  <Paragraphs>483</Paragraphs>
  <Slides>42</Slides>
  <Notes>30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Montserrat Bold</vt:lpstr>
      <vt:lpstr>Corbel</vt:lpstr>
      <vt:lpstr>Open Sauce Light</vt:lpstr>
      <vt:lpstr>Open Sauce</vt:lpstr>
      <vt:lpstr>Arial</vt:lpstr>
      <vt:lpstr>Calibri</vt:lpstr>
      <vt:lpstr>__Inter_1fc7a2</vt:lpstr>
      <vt:lpstr>__Epilogue_61966b</vt:lpstr>
      <vt:lpstr>Times New Roman</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Purple Modern Programming Presentation</dc:title>
  <cp:lastModifiedBy>Abdesselam FILALI</cp:lastModifiedBy>
  <cp:revision>11</cp:revision>
  <dcterms:created xsi:type="dcterms:W3CDTF">2006-08-16T00:00:00Z</dcterms:created>
  <dcterms:modified xsi:type="dcterms:W3CDTF">2025-11-29T12:51:07Z</dcterms:modified>
  <dc:identifier>DAG4Tm8YvCM</dc:identifier>
</cp:coreProperties>
</file>